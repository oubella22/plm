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lt1"/>
          </a:solidFill>
          <a:latin typeface="+mj-lt"/>
        </a:defRPr>
      </a:lvl1pPr>
    </p:titleStyle>
    <p:bodyStyle>
      <a:lvl1pPr algn="l">
        <a:defRPr sz="1600">
          <a:solidFill>
            <a:schemeClr val="lt1"/>
          </a:solidFill>
          <a:latin typeface="+mn-lt"/>
        </a:defRPr>
      </a:lvl1pPr>
    </p:bodyStyle>
    <p:otherStyle>
      <a:lvl1pPr algn="l">
        <a:defRPr sz="1400">
          <a:solidFill>
            <a:schemeClr val="lt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lmpassport.inetpsa.com/index.php/home" TargetMode="Externa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hyperlink" Target="http://plm.inetpsa.com/enovia/common/emxNavigator.jsp" TargetMode="Externa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FF8A3D">
                  <a:alpha val="17000"/>
                </a:srgbClr>
              </a:gs>
              <a:gs pos="100000">
                <a:srgbClr val="FF8A3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FF8A3D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ring1"/>
          <p:cNvSpPr/>
          <p:nvPr/>
        </p:nvSpPr>
        <p:spPr>
          <a:xfrm>
            <a:off x="8115300" y="514350"/>
            <a:ext cx="4476750" cy="4476750"/>
          </a:xfrm>
          <a:prstGeom prst="ellipse">
            <a:avLst/>
          </a:prstGeom>
          <a:noFill/>
          <a:ln w="12700" cap="rnd">
            <a:solidFill>
              <a:srgbClr val="FFFFFF">
                <a:alpha val="8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7" name="ring2"/>
          <p:cNvSpPr/>
          <p:nvPr/>
        </p:nvSpPr>
        <p:spPr>
          <a:xfrm>
            <a:off x="8915400" y="1314450"/>
            <a:ext cx="2876550" cy="2876550"/>
          </a:xfrm>
          <a:prstGeom prst="ellipse">
            <a:avLst/>
          </a:prstGeom>
          <a:noFill/>
          <a:ln w="12700" cap="rnd">
            <a:solidFill>
              <a:srgbClr val="FF8A3D">
                <a:alpha val="12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8" name="ghostnum"/>
          <p:cNvSpPr txBox="1"/>
          <p:nvPr/>
        </p:nvSpPr>
        <p:spPr>
          <a:xfrm>
            <a:off x="8382000" y="2381250"/>
            <a:ext cx="3238500" cy="323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9000" b="1" dirty="0">
                <a:solidFill>
                  <a:srgbClr val="FFFFFF">
                    <a:alpha val="7000"/>
                  </a:srgbClr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9" name="logocard"/>
          <p:cNvSpPr/>
          <p:nvPr/>
        </p:nvSpPr>
        <p:spPr>
          <a:xfrm>
            <a:off x="685800" y="971550"/>
            <a:ext cx="1181100" cy="1181100"/>
          </a:xfrm>
          <a:prstGeom prst="roundRect">
            <a:avLst>
              <a:gd name="adj" fmla="val 17741"/>
            </a:avLst>
          </a:prstGeom>
          <a:solidFill>
            <a:srgbClr val="FFFFFF">
              <a:alpha val="96000"/>
            </a:srgbClr>
          </a:solidFill>
          <a:ln w="12700" cap="rnd">
            <a:solidFill>
              <a:srgbClr val="FFFFFF">
                <a:alpha val="40000"/>
              </a:srgbClr>
            </a:solidFill>
            <a:round/>
          </a:ln>
          <a:effectLst>
            <a:outerShdw blurRad="285750" dist="95250" dir="5400000" rotWithShape="0">
              <a:srgbClr val="000814">
                <a:alpha val="45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pic>
        <p:nvPicPr>
          <p:cNvPr id="10" name="PLM logo"/>
          <p:cNvPicPr>
            <a:picLocks noChangeAspect="1"/>
          </p:cNvPicPr>
          <p:nvPr/>
        </p:nvPicPr>
        <p:blipFill>
          <a:blip r:embed="rId2"/>
          <a:srcRect l="1600" t="2500" r="70600" b="66500"/>
          <a:stretch>
            <a:fillRect/>
          </a:stretch>
        </p:blipFill>
        <p:spPr>
          <a:xfrm>
            <a:off x="800100" y="1162050"/>
            <a:ext cx="952500" cy="800100"/>
          </a:xfrm>
          <a:prstGeom prst="rect">
            <a:avLst/>
          </a:prstGeom>
          <a:ln>
            <a:noFill/>
          </a:ln>
        </p:spPr>
      </p:pic>
      <p:sp>
        <p:nvSpPr>
          <p:cNvPr id="11" name="eyebrow"/>
          <p:cNvSpPr txBox="1"/>
          <p:nvPr/>
        </p:nvSpPr>
        <p:spPr>
          <a:xfrm>
            <a:off x="2057400" y="1104900"/>
            <a:ext cx="5905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150" b="1" spc="240" cap="all" dirty="0">
                <a:solidFill>
                  <a:srgbClr val="3ED0EE"/>
                </a:solidFill>
                <a:latin typeface="Segoe UI"/>
                <a:cs typeface="Segoe UI"/>
              </a:rPr>
              <a:t>Stellantis  ·  PLM onboarding  ·  Module 01</a:t>
            </a:r>
          </a:p>
        </p:txBody>
      </p:sp>
      <p:sp>
        <p:nvSpPr>
          <p:cNvPr id="12" name="meta"/>
          <p:cNvSpPr txBox="1"/>
          <p:nvPr/>
        </p:nvSpPr>
        <p:spPr>
          <a:xfrm>
            <a:off x="2057400" y="1390650"/>
            <a:ext cx="5905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100" spc="80" dirty="0">
                <a:solidFill>
                  <a:srgbClr val="61789A"/>
                </a:solidFill>
                <a:latin typeface="Segoe UI"/>
                <a:cs typeface="Segoe UI"/>
              </a:rPr>
              <a:t>ENOVIA V6R2013x   ·   PLM platform V3.1.11</a:t>
            </a:r>
          </a:p>
        </p:txBody>
      </p:sp>
      <p:sp>
        <p:nvSpPr>
          <p:cNvPr id="13" name="hero"/>
          <p:cNvSpPr txBox="1"/>
          <p:nvPr/>
        </p:nvSpPr>
        <p:spPr>
          <a:xfrm>
            <a:off x="685800" y="2286000"/>
            <a:ext cx="8572500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7200" b="1" spc="-140" dirty="0">
                <a:solidFill>
                  <a:srgbClr val="FFFFFF"/>
                </a:solidFill>
                <a:latin typeface="Segoe UI"/>
                <a:cs typeface="Segoe UI"/>
              </a:rPr>
              <a:t>Log in to </a:t>
            </a:r>
            <a:r>
              <a:rPr lang="en-US" sz="7200" b="1" spc="-140" dirty="0">
                <a:solidFill>
                  <a:srgbClr val="FF8A3D"/>
                </a:solidFill>
                <a:latin typeface="Segoe UI"/>
                <a:cs typeface="Segoe UI"/>
              </a:rPr>
              <a:t>PLM</a:t>
            </a:r>
          </a:p>
        </p:txBody>
      </p:sp>
      <p:sp>
        <p:nvSpPr>
          <p:cNvPr id="14" name="rule"/>
          <p:cNvSpPr/>
          <p:nvPr/>
        </p:nvSpPr>
        <p:spPr>
          <a:xfrm>
            <a:off x="685800" y="3562350"/>
            <a:ext cx="990600" cy="571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5" name="sub"/>
          <p:cNvSpPr txBox="1"/>
          <p:nvPr/>
        </p:nvSpPr>
        <p:spPr>
          <a:xfrm>
            <a:off x="685800" y="3810000"/>
            <a:ext cx="5715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650" dirty="0">
                <a:solidFill>
                  <a:srgbClr val="CBDAEC"/>
                </a:solidFill>
                <a:latin typeface="Segoe UI"/>
                <a:cs typeface="Segoe UI"/>
              </a:rPr>
              <a:t>Everything you need for your first connection: access rights, Security Context, and a guided tour of the ENOVIA interface.</a:t>
            </a:r>
          </a:p>
        </p:txBody>
      </p:sp>
      <p:sp>
        <p:nvSpPr>
          <p:cNvPr id="16" name="dur"/>
          <p:cNvSpPr txBox="1"/>
          <p:nvPr/>
        </p:nvSpPr>
        <p:spPr>
          <a:xfrm>
            <a:off x="8458200" y="617220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1000" spc="60" dirty="0">
                <a:solidFill>
                  <a:srgbClr val="61789A"/>
                </a:solidFill>
                <a:latin typeface="Segoe UI"/>
                <a:cs typeface="Segoe UI"/>
              </a:rPr>
              <a:t>13 slides  ·  about 10 minutes</a:t>
            </a:r>
          </a:p>
        </p:txBody>
      </p:sp>
      <p:sp>
        <p:nvSpPr>
          <p:cNvPr id="17" name="src"/>
          <p:cNvSpPr txBox="1"/>
          <p:nvPr/>
        </p:nvSpPr>
        <p:spPr>
          <a:xfrm>
            <a:off x="685800" y="617220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00" spc="60" dirty="0">
                <a:solidFill>
                  <a:srgbClr val="61789A"/>
                </a:solidFill>
                <a:latin typeface="Segoe UI"/>
                <a:cs typeface="Segoe UI"/>
              </a:rPr>
              <a:t>Redesigned edition  ·  content sourced from "1 PLM INTERFACE.pptx"</a:t>
            </a:r>
          </a:p>
        </p:txBody>
      </p:sp>
      <p:sp>
        <p:nvSpPr>
          <p:cNvPr id="18" name="pill"/>
          <p:cNvSpPr/>
          <p:nvPr/>
        </p:nvSpPr>
        <p:spPr>
          <a:xfrm>
            <a:off x="685800" y="5067300"/>
            <a:ext cx="1943100" cy="4191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6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9" name="pilldot"/>
          <p:cNvSpPr/>
          <p:nvPr/>
        </p:nvSpPr>
        <p:spPr>
          <a:xfrm>
            <a:off x="857250" y="5238750"/>
            <a:ext cx="76200" cy="76200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" name="pilltxt"/>
          <p:cNvSpPr txBox="1"/>
          <p:nvPr/>
        </p:nvSpPr>
        <p:spPr>
          <a:xfrm>
            <a:off x="1009650" y="5067300"/>
            <a:ext cx="15049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CBDAEC"/>
                </a:solidFill>
                <a:latin typeface="Segoe UI"/>
                <a:cs typeface="Segoe UI"/>
              </a:rPr>
              <a:t>1 · Security Context</a:t>
            </a:r>
          </a:p>
        </p:txBody>
      </p:sp>
      <p:sp>
        <p:nvSpPr>
          <p:cNvPr id="21" name="pill"/>
          <p:cNvSpPr/>
          <p:nvPr/>
        </p:nvSpPr>
        <p:spPr>
          <a:xfrm>
            <a:off x="2781300" y="5067300"/>
            <a:ext cx="2228850" cy="4191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6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2" name="pilldot"/>
          <p:cNvSpPr/>
          <p:nvPr/>
        </p:nvSpPr>
        <p:spPr>
          <a:xfrm>
            <a:off x="2952750" y="5238750"/>
            <a:ext cx="76200" cy="76200"/>
          </a:xfrm>
          <a:prstGeom prst="ellipse">
            <a:avLst/>
          </a:prstGeom>
          <a:solidFill>
            <a:srgbClr val="3ED0EE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3" name="pilltxt"/>
          <p:cNvSpPr txBox="1"/>
          <p:nvPr/>
        </p:nvSpPr>
        <p:spPr>
          <a:xfrm>
            <a:off x="3105150" y="5067300"/>
            <a:ext cx="17907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CBDAEC"/>
                </a:solidFill>
                <a:latin typeface="Segoe UI"/>
                <a:cs typeface="Segoe UI"/>
              </a:rPr>
              <a:t>2 · Two ways to connect</a:t>
            </a:r>
          </a:p>
        </p:txBody>
      </p:sp>
      <p:sp>
        <p:nvSpPr>
          <p:cNvPr id="24" name="pill"/>
          <p:cNvSpPr/>
          <p:nvPr/>
        </p:nvSpPr>
        <p:spPr>
          <a:xfrm>
            <a:off x="5162550" y="5067300"/>
            <a:ext cx="1771650" cy="419100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6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5" name="pilldot"/>
          <p:cNvSpPr/>
          <p:nvPr/>
        </p:nvSpPr>
        <p:spPr>
          <a:xfrm>
            <a:off x="5334000" y="5238750"/>
            <a:ext cx="76200" cy="76200"/>
          </a:xfrm>
          <a:prstGeom prst="ellipse">
            <a:avLst/>
          </a:prstGeom>
          <a:solidFill>
            <a:srgbClr val="4ADE9B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6" name="pilltxt"/>
          <p:cNvSpPr txBox="1"/>
          <p:nvPr/>
        </p:nvSpPr>
        <p:spPr>
          <a:xfrm>
            <a:off x="5486400" y="5067300"/>
            <a:ext cx="1333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CBDAEC"/>
                </a:solidFill>
                <a:latin typeface="Segoe UI"/>
                <a:cs typeface="Segoe UI"/>
              </a:rPr>
              <a:t>3 · Interface tour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7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3ED0EE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3ED0EE"/>
                </a:solidFill>
                <a:latin typeface="Segoe UI"/>
                <a:cs typeface="Segoe UI"/>
              </a:rPr>
              <a:t>Agenda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962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3200" b="1" spc="-40" dirty="0">
                <a:solidFill>
                  <a:srgbClr val="FFFFFF"/>
                </a:solidFill>
                <a:latin typeface="Segoe UI"/>
                <a:cs typeface="Segoe UI"/>
              </a:rPr>
              <a:t>What this module covers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ED0EE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Four steps, from access rights to your first click.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02 / 13</a:t>
            </a:r>
          </a:p>
        </p:txBody>
      </p:sp>
      <p:sp>
        <p:nvSpPr>
          <p:cNvPr id="13" name="card"/>
          <p:cNvSpPr/>
          <p:nvPr/>
        </p:nvSpPr>
        <p:spPr>
          <a:xfrm>
            <a:off x="685800" y="1866900"/>
            <a:ext cx="2533650" cy="354330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4" name="tab"/>
          <p:cNvSpPr/>
          <p:nvPr/>
        </p:nvSpPr>
        <p:spPr>
          <a:xfrm>
            <a:off x="933450" y="213360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5" name="num"/>
          <p:cNvSpPr txBox="1"/>
          <p:nvPr/>
        </p:nvSpPr>
        <p:spPr>
          <a:xfrm>
            <a:off x="933450" y="2286000"/>
            <a:ext cx="2038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4000" b="1" dirty="0">
                <a:solidFill>
                  <a:srgbClr val="FF8A3D">
                    <a:alpha val="90000"/>
                  </a:srgbClr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16" name="cardttl"/>
          <p:cNvSpPr txBox="1"/>
          <p:nvPr/>
        </p:nvSpPr>
        <p:spPr>
          <a:xfrm>
            <a:off x="933450" y="3009900"/>
            <a:ext cx="20383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egoe UI"/>
                <a:cs typeface="Segoe UI"/>
              </a:rPr>
              <a:t>Before you log in</a:t>
            </a:r>
          </a:p>
        </p:txBody>
      </p:sp>
      <p:sp>
        <p:nvSpPr>
          <p:cNvPr id="17" name="cardbody"/>
          <p:cNvSpPr txBox="1"/>
          <p:nvPr/>
        </p:nvSpPr>
        <p:spPr>
          <a:xfrm>
            <a:off x="933450" y="3848100"/>
            <a:ext cx="20383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PLM access and a Security Context. Both are requested in PLMPassport.</a:t>
            </a:r>
          </a:p>
        </p:txBody>
      </p:sp>
      <p:sp>
        <p:nvSpPr>
          <p:cNvPr id="18" name="cardtag"/>
          <p:cNvSpPr txBox="1"/>
          <p:nvPr/>
        </p:nvSpPr>
        <p:spPr>
          <a:xfrm>
            <a:off x="933450" y="5143500"/>
            <a:ext cx="20383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b="1" spc="160" cap="all" dirty="0">
                <a:solidFill>
                  <a:srgbClr val="FF8A3D"/>
                </a:solidFill>
                <a:latin typeface="Segoe UI"/>
                <a:cs typeface="Segoe UI"/>
              </a:rPr>
              <a:t>Prerequisites</a:t>
            </a:r>
          </a:p>
        </p:txBody>
      </p:sp>
      <p:sp>
        <p:nvSpPr>
          <p:cNvPr id="19" name="card"/>
          <p:cNvSpPr/>
          <p:nvPr/>
        </p:nvSpPr>
        <p:spPr>
          <a:xfrm>
            <a:off x="3409950" y="1866900"/>
            <a:ext cx="2533650" cy="354330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" name="tab"/>
          <p:cNvSpPr/>
          <p:nvPr/>
        </p:nvSpPr>
        <p:spPr>
          <a:xfrm>
            <a:off x="3657600" y="213360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3ED0EE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1" name="num"/>
          <p:cNvSpPr txBox="1"/>
          <p:nvPr/>
        </p:nvSpPr>
        <p:spPr>
          <a:xfrm>
            <a:off x="3657600" y="2286000"/>
            <a:ext cx="2038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4000" b="1" dirty="0">
                <a:solidFill>
                  <a:srgbClr val="3ED0EE">
                    <a:alpha val="90000"/>
                  </a:srgbClr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22" name="cardttl"/>
          <p:cNvSpPr txBox="1"/>
          <p:nvPr/>
        </p:nvSpPr>
        <p:spPr>
          <a:xfrm>
            <a:off x="3657600" y="3009900"/>
            <a:ext cx="20383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egoe UI"/>
                <a:cs typeface="Segoe UI"/>
              </a:rPr>
              <a:t>The Security Context</a:t>
            </a:r>
          </a:p>
        </p:txBody>
      </p:sp>
      <p:sp>
        <p:nvSpPr>
          <p:cNvPr id="23" name="cardbody"/>
          <p:cNvSpPr txBox="1"/>
          <p:nvPr/>
        </p:nvSpPr>
        <p:spPr>
          <a:xfrm>
            <a:off x="3657600" y="3848100"/>
            <a:ext cx="20383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Role + Organization + Project — the key that grants your creation rights.</a:t>
            </a:r>
          </a:p>
        </p:txBody>
      </p:sp>
      <p:sp>
        <p:nvSpPr>
          <p:cNvPr id="24" name="cardtag"/>
          <p:cNvSpPr txBox="1"/>
          <p:nvPr/>
        </p:nvSpPr>
        <p:spPr>
          <a:xfrm>
            <a:off x="3657600" y="5143500"/>
            <a:ext cx="20383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b="1" spc="160" cap="all" dirty="0">
                <a:solidFill>
                  <a:srgbClr val="3ED0EE"/>
                </a:solidFill>
                <a:latin typeface="Segoe UI"/>
                <a:cs typeface="Segoe UI"/>
              </a:rPr>
              <a:t>Core concept</a:t>
            </a:r>
          </a:p>
        </p:txBody>
      </p:sp>
      <p:sp>
        <p:nvSpPr>
          <p:cNvPr id="25" name="card"/>
          <p:cNvSpPr/>
          <p:nvPr/>
        </p:nvSpPr>
        <p:spPr>
          <a:xfrm>
            <a:off x="6134100" y="1866900"/>
            <a:ext cx="2533650" cy="354330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6" name="tab"/>
          <p:cNvSpPr/>
          <p:nvPr/>
        </p:nvSpPr>
        <p:spPr>
          <a:xfrm>
            <a:off x="6381750" y="213360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4ADE9B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7" name="num"/>
          <p:cNvSpPr txBox="1"/>
          <p:nvPr/>
        </p:nvSpPr>
        <p:spPr>
          <a:xfrm>
            <a:off x="6381750" y="2286000"/>
            <a:ext cx="2038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4000" b="1" dirty="0">
                <a:solidFill>
                  <a:srgbClr val="4ADE9B">
                    <a:alpha val="90000"/>
                  </a:srgbClr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28" name="cardttl"/>
          <p:cNvSpPr txBox="1"/>
          <p:nvPr/>
        </p:nvSpPr>
        <p:spPr>
          <a:xfrm>
            <a:off x="6381750" y="3009900"/>
            <a:ext cx="20383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egoe UI"/>
                <a:cs typeface="Segoe UI"/>
              </a:rPr>
              <a:t>Two ways to connect</a:t>
            </a:r>
          </a:p>
        </p:txBody>
      </p:sp>
      <p:sp>
        <p:nvSpPr>
          <p:cNvPr id="29" name="cardbody"/>
          <p:cNvSpPr txBox="1"/>
          <p:nvPr/>
        </p:nvSpPr>
        <p:spPr>
          <a:xfrm>
            <a:off x="6381750" y="3848100"/>
            <a:ext cx="20383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The PLM icon in the CFAO palette, or the direct intranet address.</a:t>
            </a:r>
          </a:p>
        </p:txBody>
      </p:sp>
      <p:sp>
        <p:nvSpPr>
          <p:cNvPr id="30" name="cardtag"/>
          <p:cNvSpPr txBox="1"/>
          <p:nvPr/>
        </p:nvSpPr>
        <p:spPr>
          <a:xfrm>
            <a:off x="6381750" y="5143500"/>
            <a:ext cx="20383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b="1" spc="160" cap="all" dirty="0">
                <a:solidFill>
                  <a:srgbClr val="4ADE9B"/>
                </a:solidFill>
                <a:latin typeface="Segoe UI"/>
                <a:cs typeface="Segoe UI"/>
              </a:rPr>
              <a:t>Access</a:t>
            </a:r>
          </a:p>
        </p:txBody>
      </p:sp>
      <p:sp>
        <p:nvSpPr>
          <p:cNvPr id="31" name="card"/>
          <p:cNvSpPr/>
          <p:nvPr/>
        </p:nvSpPr>
        <p:spPr>
          <a:xfrm>
            <a:off x="8858250" y="1866900"/>
            <a:ext cx="2533650" cy="3543300"/>
          </a:xfrm>
          <a:prstGeom prst="roundRect">
            <a:avLst>
              <a:gd name="adj" fmla="val 5263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2" name="tab"/>
          <p:cNvSpPr/>
          <p:nvPr/>
        </p:nvSpPr>
        <p:spPr>
          <a:xfrm>
            <a:off x="9105900" y="2133600"/>
            <a:ext cx="323850" cy="381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3" name="num"/>
          <p:cNvSpPr txBox="1"/>
          <p:nvPr/>
        </p:nvSpPr>
        <p:spPr>
          <a:xfrm>
            <a:off x="9105900" y="2286000"/>
            <a:ext cx="2038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4000" b="1" dirty="0">
                <a:solidFill>
                  <a:srgbClr val="A78BFA">
                    <a:alpha val="90000"/>
                  </a:srgbClr>
                </a:solidFill>
                <a:latin typeface="Segoe UI"/>
                <a:cs typeface="Segoe UI"/>
              </a:rPr>
              <a:t>04</a:t>
            </a:r>
          </a:p>
        </p:txBody>
      </p:sp>
      <p:sp>
        <p:nvSpPr>
          <p:cNvPr id="34" name="cardttl"/>
          <p:cNvSpPr txBox="1"/>
          <p:nvPr/>
        </p:nvSpPr>
        <p:spPr>
          <a:xfrm>
            <a:off x="9105900" y="3009900"/>
            <a:ext cx="20383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Segoe UI"/>
                <a:cs typeface="Segoe UI"/>
              </a:rPr>
              <a:t>Reading the interface</a:t>
            </a:r>
          </a:p>
        </p:txBody>
      </p:sp>
      <p:sp>
        <p:nvSpPr>
          <p:cNvPr id="35" name="cardbody"/>
          <p:cNvSpPr txBox="1"/>
          <p:nvPr/>
        </p:nvSpPr>
        <p:spPr>
          <a:xfrm>
            <a:off x="9105900" y="3848100"/>
            <a:ext cx="203835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Toolbar zones A, B and C — plus the one habit to unlearn.</a:t>
            </a:r>
          </a:p>
        </p:txBody>
      </p:sp>
      <p:sp>
        <p:nvSpPr>
          <p:cNvPr id="36" name="cardtag"/>
          <p:cNvSpPr txBox="1"/>
          <p:nvPr/>
        </p:nvSpPr>
        <p:spPr>
          <a:xfrm>
            <a:off x="9105900" y="5143500"/>
            <a:ext cx="20383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b="1" spc="160" cap="all" dirty="0">
                <a:solidFill>
                  <a:srgbClr val="A78BFA"/>
                </a:solidFill>
                <a:latin typeface="Segoe UI"/>
                <a:cs typeface="Segoe UI"/>
              </a:rPr>
              <a:t>Navigation</a:t>
            </a:r>
          </a:p>
        </p:txBody>
      </p:sp>
      <p:sp>
        <p:nvSpPr>
          <p:cNvPr id="37" name="hint"/>
          <p:cNvSpPr txBox="1"/>
          <p:nvPr/>
        </p:nvSpPr>
        <p:spPr>
          <a:xfrm>
            <a:off x="685800" y="5715000"/>
            <a:ext cx="10820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61789A"/>
                </a:solidFill>
                <a:latin typeface="Segoe UI"/>
                <a:cs typeface="Segoe UI"/>
              </a:rPr>
              <a:t>Each step builds on the previous one.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FF8A3D">
                  <a:alpha val="17000"/>
                </a:srgbClr>
              </a:gs>
              <a:gs pos="100000">
                <a:srgbClr val="FF8A3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FF8A3D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FF8A3D"/>
                </a:solidFill>
                <a:latin typeface="Segoe UI"/>
                <a:cs typeface="Segoe UI"/>
              </a:rPr>
              <a:t>Step 01 · Before you start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104775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2800" b="1" spc="-40" dirty="0">
                <a:solidFill>
                  <a:srgbClr val="FFFFFF"/>
                </a:solidFill>
                <a:latin typeface="Segoe UI"/>
                <a:cs typeface="Segoe UI"/>
              </a:rPr>
              <a:t>Two things must be true before your first login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Without both, PLM opens — but you cannot create anything.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03 / 13</a:t>
            </a:r>
          </a:p>
        </p:txBody>
      </p:sp>
      <p:sp>
        <p:nvSpPr>
          <p:cNvPr id="13" name="card"/>
          <p:cNvSpPr/>
          <p:nvPr/>
        </p:nvSpPr>
        <p:spPr>
          <a:xfrm>
            <a:off x="685800" y="1866900"/>
            <a:ext cx="5334000" cy="1581150"/>
          </a:xfrm>
          <a:prstGeom prst="roundRect">
            <a:avLst>
              <a:gd name="adj" fmla="val 8433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4" name="badge"/>
          <p:cNvSpPr/>
          <p:nvPr/>
        </p:nvSpPr>
        <p:spPr>
          <a:xfrm>
            <a:off x="952500" y="2133600"/>
            <a:ext cx="495300" cy="4953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glow rad="85725">
              <a:srgbClr val="FF8A3D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5" name="badgetxt"/>
          <p:cNvSpPr txBox="1"/>
          <p:nvPr/>
        </p:nvSpPr>
        <p:spPr>
          <a:xfrm>
            <a:off x="952500" y="2133600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061423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6" name="c1t"/>
          <p:cNvSpPr txBox="1"/>
          <p:nvPr/>
        </p:nvSpPr>
        <p:spPr>
          <a:xfrm>
            <a:off x="1638300" y="209550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Segoe UI"/>
                <a:cs typeface="Segoe UI"/>
              </a:rPr>
              <a:t>PLM access</a:t>
            </a:r>
          </a:p>
        </p:txBody>
      </p:sp>
      <p:sp>
        <p:nvSpPr>
          <p:cNvPr id="17" name="c1b"/>
          <p:cNvSpPr txBox="1"/>
          <p:nvPr/>
        </p:nvSpPr>
        <p:spPr>
          <a:xfrm>
            <a:off x="1638300" y="2457450"/>
            <a:ext cx="40005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Your account must be granted access to the PLM platform. Access requests are raised in PLMPassport.</a:t>
            </a:r>
          </a:p>
        </p:txBody>
      </p:sp>
      <p:sp>
        <p:nvSpPr>
          <p:cNvPr id="18" name="card"/>
          <p:cNvSpPr/>
          <p:nvPr/>
        </p:nvSpPr>
        <p:spPr>
          <a:xfrm>
            <a:off x="685800" y="3638550"/>
            <a:ext cx="5334000" cy="1771650"/>
          </a:xfrm>
          <a:prstGeom prst="roundRect">
            <a:avLst>
              <a:gd name="adj" fmla="val 7526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9" name="badge"/>
          <p:cNvSpPr/>
          <p:nvPr/>
        </p:nvSpPr>
        <p:spPr>
          <a:xfrm>
            <a:off x="952500" y="3905250"/>
            <a:ext cx="495300" cy="495300"/>
          </a:xfrm>
          <a:prstGeom prst="ellipse">
            <a:avLst/>
          </a:prstGeom>
          <a:solidFill>
            <a:srgbClr val="3ED0EE"/>
          </a:solidFill>
          <a:ln>
            <a:noFill/>
          </a:ln>
          <a:effectLst>
            <a:glow rad="85725">
              <a:srgbClr val="3ED0EE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" name="badgetxt"/>
          <p:cNvSpPr txBox="1"/>
          <p:nvPr/>
        </p:nvSpPr>
        <p:spPr>
          <a:xfrm>
            <a:off x="952500" y="3905250"/>
            <a:ext cx="4953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061423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21" name="c2t"/>
          <p:cNvSpPr txBox="1"/>
          <p:nvPr/>
        </p:nvSpPr>
        <p:spPr>
          <a:xfrm>
            <a:off x="1638300" y="386715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Segoe UI"/>
                <a:cs typeface="Segoe UI"/>
              </a:rPr>
              <a:t>Security Context</a:t>
            </a:r>
          </a:p>
        </p:txBody>
      </p:sp>
      <p:sp>
        <p:nvSpPr>
          <p:cNvPr id="22" name="c2b"/>
          <p:cNvSpPr txBox="1"/>
          <p:nvPr/>
        </p:nvSpPr>
        <p:spPr>
          <a:xfrm>
            <a:off x="1638300" y="4229100"/>
            <a:ext cx="40005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A Security Context grants you creation rights in PLM, based on your role and the project you are working on.</a:t>
            </a:r>
          </a:p>
        </p:txBody>
      </p:sp>
      <p:sp>
        <p:nvSpPr>
          <p:cNvPr id="23" name="chainlab"/>
          <p:cNvSpPr txBox="1"/>
          <p:nvPr/>
        </p:nvSpPr>
        <p:spPr>
          <a:xfrm>
            <a:off x="6324600" y="1866900"/>
            <a:ext cx="5181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20" cap="all" dirty="0">
                <a:solidFill>
                  <a:srgbClr val="61789A"/>
                </a:solidFill>
                <a:latin typeface="Segoe UI"/>
                <a:cs typeface="Segoe UI"/>
              </a:rPr>
              <a:t>The chain</a:t>
            </a:r>
          </a:p>
        </p:txBody>
      </p:sp>
      <p:sp>
        <p:nvSpPr>
          <p:cNvPr id="24" name="spine"/>
          <p:cNvSpPr/>
          <p:nvPr/>
        </p:nvSpPr>
        <p:spPr>
          <a:xfrm>
            <a:off x="6667500" y="2324100"/>
            <a:ext cx="19050" cy="2038350"/>
          </a:xfrm>
          <a:prstGeom prst="rect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5" name="node"/>
          <p:cNvSpPr/>
          <p:nvPr/>
        </p:nvSpPr>
        <p:spPr>
          <a:xfrm>
            <a:off x="6591300" y="2247900"/>
            <a:ext cx="171450" cy="171450"/>
          </a:xfrm>
          <a:prstGeom prst="ellipse">
            <a:avLst/>
          </a:prstGeom>
          <a:solidFill>
            <a:srgbClr val="3ED0EE"/>
          </a:solidFill>
          <a:ln>
            <a:noFill/>
          </a:ln>
          <a:effectLst>
            <a:glow rad="76200">
              <a:srgbClr val="3ED0EE">
                <a:alpha val="30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6" name="nt"/>
          <p:cNvSpPr txBox="1"/>
          <p:nvPr/>
        </p:nvSpPr>
        <p:spPr>
          <a:xfrm>
            <a:off x="7010400" y="2190750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/>
                <a:cs typeface="Segoe UI"/>
              </a:rPr>
              <a:t>Access granted</a:t>
            </a:r>
          </a:p>
        </p:txBody>
      </p:sp>
      <p:sp>
        <p:nvSpPr>
          <p:cNvPr id="27" name="ns"/>
          <p:cNvSpPr txBox="1"/>
          <p:nvPr/>
        </p:nvSpPr>
        <p:spPr>
          <a:xfrm>
            <a:off x="7010400" y="2457450"/>
            <a:ext cx="438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95AAC6"/>
                </a:solidFill>
                <a:latin typeface="Segoe UI"/>
                <a:cs typeface="Segoe UI"/>
              </a:rPr>
              <a:t>Your PLM account is active.</a:t>
            </a:r>
          </a:p>
        </p:txBody>
      </p:sp>
      <p:sp>
        <p:nvSpPr>
          <p:cNvPr id="28" name="node"/>
          <p:cNvSpPr/>
          <p:nvPr/>
        </p:nvSpPr>
        <p:spPr>
          <a:xfrm>
            <a:off x="6591300" y="3200400"/>
            <a:ext cx="171450" cy="17145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glow rad="76200">
              <a:srgbClr val="FF8A3D">
                <a:alpha val="30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9" name="nt"/>
          <p:cNvSpPr txBox="1"/>
          <p:nvPr/>
        </p:nvSpPr>
        <p:spPr>
          <a:xfrm>
            <a:off x="7010400" y="3143250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/>
                <a:cs typeface="Segoe UI"/>
              </a:rPr>
              <a:t>Context assigned</a:t>
            </a:r>
          </a:p>
        </p:txBody>
      </p:sp>
      <p:sp>
        <p:nvSpPr>
          <p:cNvPr id="30" name="ns"/>
          <p:cNvSpPr txBox="1"/>
          <p:nvPr/>
        </p:nvSpPr>
        <p:spPr>
          <a:xfrm>
            <a:off x="7010400" y="3409950"/>
            <a:ext cx="438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95AAC6"/>
                </a:solidFill>
                <a:latin typeface="Segoe UI"/>
                <a:cs typeface="Segoe UI"/>
              </a:rPr>
              <a:t>Role · Organization · Project.</a:t>
            </a:r>
          </a:p>
        </p:txBody>
      </p:sp>
      <p:sp>
        <p:nvSpPr>
          <p:cNvPr id="31" name="node"/>
          <p:cNvSpPr/>
          <p:nvPr/>
        </p:nvSpPr>
        <p:spPr>
          <a:xfrm>
            <a:off x="6591300" y="4152900"/>
            <a:ext cx="171450" cy="171450"/>
          </a:xfrm>
          <a:prstGeom prst="ellipse">
            <a:avLst/>
          </a:prstGeom>
          <a:solidFill>
            <a:srgbClr val="4ADE9B"/>
          </a:solidFill>
          <a:ln>
            <a:noFill/>
          </a:ln>
          <a:effectLst>
            <a:glow rad="76200">
              <a:srgbClr val="4ADE9B">
                <a:alpha val="30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2" name="nt"/>
          <p:cNvSpPr txBox="1"/>
          <p:nvPr/>
        </p:nvSpPr>
        <p:spPr>
          <a:xfrm>
            <a:off x="7010400" y="4095750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/>
                <a:cs typeface="Segoe UI"/>
              </a:rPr>
              <a:t>You can create</a:t>
            </a:r>
          </a:p>
        </p:txBody>
      </p:sp>
      <p:sp>
        <p:nvSpPr>
          <p:cNvPr id="33" name="ns"/>
          <p:cNvSpPr txBox="1"/>
          <p:nvPr/>
        </p:nvSpPr>
        <p:spPr>
          <a:xfrm>
            <a:off x="7010400" y="4362450"/>
            <a:ext cx="4381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95AAC6"/>
                </a:solidFill>
                <a:latin typeface="Segoe UI"/>
                <a:cs typeface="Segoe UI"/>
              </a:rPr>
              <a:t>Prototypes, documents, changes.</a:t>
            </a:r>
          </a:p>
        </p:txBody>
      </p:sp>
      <p:sp>
        <p:nvSpPr>
          <p:cNvPr id="34" name="card"/>
          <p:cNvSpPr/>
          <p:nvPr/>
        </p:nvSpPr>
        <p:spPr>
          <a:xfrm>
            <a:off x="6324600" y="4800600"/>
            <a:ext cx="5181600" cy="609600"/>
          </a:xfrm>
          <a:prstGeom prst="roundRect">
            <a:avLst>
              <a:gd name="adj" fmla="val 18750"/>
            </a:avLst>
          </a:prstGeom>
          <a:solidFill>
            <a:srgbClr val="FFFFFF">
              <a:alpha val="5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5" name="accentbar"/>
          <p:cNvSpPr/>
          <p:nvPr/>
        </p:nvSpPr>
        <p:spPr>
          <a:xfrm>
            <a:off x="6477000" y="4953000"/>
            <a:ext cx="28575" cy="304800"/>
          </a:xfrm>
          <a:prstGeom prst="roundRect">
            <a:avLst>
              <a:gd name="adj" fmla="val 33333"/>
            </a:avLst>
          </a:prstGeom>
          <a:solidFill>
            <a:srgbClr val="3ED0EE">
              <a:alpha val="80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6" name="stripnote"/>
          <p:cNvSpPr txBox="1"/>
          <p:nvPr/>
        </p:nvSpPr>
        <p:spPr>
          <a:xfrm>
            <a:off x="6572250" y="4800600"/>
            <a:ext cx="46863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CBDAEC"/>
                </a:solidFill>
                <a:latin typeface="Segoe UI"/>
                <a:cs typeface="Segoe UI"/>
              </a:rPr>
              <a:t>Missing one of them? Raise the request in PLMPassport before your first login.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7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3ED0EE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3ED0EE"/>
                </a:solidFill>
                <a:latin typeface="Segoe UI"/>
                <a:cs typeface="Segoe UI"/>
              </a:rPr>
              <a:t>Step 02 · Core concept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104775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2800" b="1" spc="-40" dirty="0">
                <a:solidFill>
                  <a:srgbClr val="FFFFFF"/>
                </a:solidFill>
                <a:latin typeface="Segoe UI"/>
                <a:cs typeface="Segoe UI"/>
              </a:rPr>
              <a:t>A Security Context = Role + Organization + Project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3ED0EE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It tells PLM what you may create, and on which project.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04 / 13</a:t>
            </a:r>
          </a:p>
        </p:txBody>
      </p:sp>
      <p:sp>
        <p:nvSpPr>
          <p:cNvPr id="13" name="card"/>
          <p:cNvSpPr/>
          <p:nvPr/>
        </p:nvSpPr>
        <p:spPr>
          <a:xfrm>
            <a:off x="685800" y="1866900"/>
            <a:ext cx="3429000" cy="2857500"/>
          </a:xfrm>
          <a:prstGeom prst="roundRect">
            <a:avLst>
              <a:gd name="adj" fmla="val 4666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4" name="badge"/>
          <p:cNvSpPr/>
          <p:nvPr/>
        </p:nvSpPr>
        <p:spPr>
          <a:xfrm>
            <a:off x="952500" y="2133600"/>
            <a:ext cx="533400" cy="5334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glow rad="85725">
              <a:srgbClr val="FF8A3D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5" name="badgetxt"/>
          <p:cNvSpPr txBox="1"/>
          <p:nvPr/>
        </p:nvSpPr>
        <p:spPr>
          <a:xfrm>
            <a:off x="952500" y="21336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061423"/>
                </a:solidFill>
                <a:latin typeface="Segoe UI"/>
                <a:cs typeface="Segoe UI"/>
              </a:rPr>
              <a:t>R</a:t>
            </a:r>
          </a:p>
        </p:txBody>
      </p:sp>
      <p:sp>
        <p:nvSpPr>
          <p:cNvPr id="16" name="plab"/>
          <p:cNvSpPr txBox="1"/>
          <p:nvPr/>
        </p:nvSpPr>
        <p:spPr>
          <a:xfrm>
            <a:off x="952500" y="28575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20" cap="all" dirty="0">
                <a:solidFill>
                  <a:srgbClr val="FF8A3D"/>
                </a:solidFill>
                <a:latin typeface="Segoe UI"/>
                <a:cs typeface="Segoe UI"/>
              </a:rPr>
              <a:t>Role</a:t>
            </a:r>
          </a:p>
        </p:txBody>
      </p:sp>
      <p:sp>
        <p:nvSpPr>
          <p:cNvPr id="17" name="pval"/>
          <p:cNvSpPr txBox="1"/>
          <p:nvPr/>
        </p:nvSpPr>
        <p:spPr>
          <a:xfrm>
            <a:off x="952500" y="306705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Segoe UI"/>
                <a:cs typeface="Segoe UI"/>
              </a:rPr>
              <a:t>PiloteProjet</a:t>
            </a:r>
          </a:p>
        </p:txBody>
      </p:sp>
      <p:sp>
        <p:nvSpPr>
          <p:cNvPr id="18" name="pbody"/>
          <p:cNvSpPr txBox="1"/>
          <p:nvPr/>
        </p:nvSpPr>
        <p:spPr>
          <a:xfrm>
            <a:off x="952500" y="3581400"/>
            <a:ext cx="28956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Defines what you may do. Creating the expected prototypes requires the PiloteProjet role.</a:t>
            </a:r>
          </a:p>
        </p:txBody>
      </p:sp>
      <p:sp>
        <p:nvSpPr>
          <p:cNvPr id="19" name="card"/>
          <p:cNvSpPr/>
          <p:nvPr/>
        </p:nvSpPr>
        <p:spPr>
          <a:xfrm>
            <a:off x="4381500" y="1866900"/>
            <a:ext cx="3429000" cy="2857500"/>
          </a:xfrm>
          <a:prstGeom prst="roundRect">
            <a:avLst>
              <a:gd name="adj" fmla="val 4666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" name="badge"/>
          <p:cNvSpPr/>
          <p:nvPr/>
        </p:nvSpPr>
        <p:spPr>
          <a:xfrm>
            <a:off x="4648200" y="2133600"/>
            <a:ext cx="533400" cy="533400"/>
          </a:xfrm>
          <a:prstGeom prst="ellipse">
            <a:avLst/>
          </a:prstGeom>
          <a:solidFill>
            <a:srgbClr val="3ED0EE"/>
          </a:solidFill>
          <a:ln>
            <a:noFill/>
          </a:ln>
          <a:effectLst>
            <a:glow rad="85725">
              <a:srgbClr val="3ED0EE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1" name="badgetxt"/>
          <p:cNvSpPr txBox="1"/>
          <p:nvPr/>
        </p:nvSpPr>
        <p:spPr>
          <a:xfrm>
            <a:off x="4648200" y="21336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061423"/>
                </a:solidFill>
                <a:latin typeface="Segoe UI"/>
                <a:cs typeface="Segoe UI"/>
              </a:rPr>
              <a:t>O</a:t>
            </a:r>
          </a:p>
        </p:txBody>
      </p:sp>
      <p:sp>
        <p:nvSpPr>
          <p:cNvPr id="22" name="plab"/>
          <p:cNvSpPr txBox="1"/>
          <p:nvPr/>
        </p:nvSpPr>
        <p:spPr>
          <a:xfrm>
            <a:off x="4648200" y="28575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20" cap="all" dirty="0">
                <a:solidFill>
                  <a:srgbClr val="3ED0EE"/>
                </a:solidFill>
                <a:latin typeface="Segoe UI"/>
                <a:cs typeface="Segoe UI"/>
              </a:rPr>
              <a:t>Organization</a:t>
            </a:r>
          </a:p>
        </p:txBody>
      </p:sp>
      <p:sp>
        <p:nvSpPr>
          <p:cNvPr id="23" name="pval"/>
          <p:cNvSpPr txBox="1"/>
          <p:nvPr/>
        </p:nvSpPr>
        <p:spPr>
          <a:xfrm>
            <a:off x="4648200" y="306705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Segoe UI"/>
                <a:cs typeface="Segoe UI"/>
              </a:rPr>
              <a:t>PSA</a:t>
            </a:r>
          </a:p>
        </p:txBody>
      </p:sp>
      <p:sp>
        <p:nvSpPr>
          <p:cNvPr id="24" name="pbody"/>
          <p:cNvSpPr txBox="1"/>
          <p:nvPr/>
        </p:nvSpPr>
        <p:spPr>
          <a:xfrm>
            <a:off x="4648200" y="3581400"/>
            <a:ext cx="28956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The organization you act for. For these prototypes, the organization is PSA.</a:t>
            </a:r>
          </a:p>
        </p:txBody>
      </p:sp>
      <p:sp>
        <p:nvSpPr>
          <p:cNvPr id="25" name="card"/>
          <p:cNvSpPr/>
          <p:nvPr/>
        </p:nvSpPr>
        <p:spPr>
          <a:xfrm>
            <a:off x="8077200" y="1866900"/>
            <a:ext cx="3429000" cy="2857500"/>
          </a:xfrm>
          <a:prstGeom prst="roundRect">
            <a:avLst>
              <a:gd name="adj" fmla="val 4666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6" name="badge"/>
          <p:cNvSpPr/>
          <p:nvPr/>
        </p:nvSpPr>
        <p:spPr>
          <a:xfrm>
            <a:off x="8343900" y="2133600"/>
            <a:ext cx="533400" cy="533400"/>
          </a:xfrm>
          <a:prstGeom prst="ellipse">
            <a:avLst/>
          </a:prstGeom>
          <a:solidFill>
            <a:srgbClr val="4ADE9B"/>
          </a:solidFill>
          <a:ln>
            <a:noFill/>
          </a:ln>
          <a:effectLst>
            <a:glow rad="85725">
              <a:srgbClr val="4ADE9B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7" name="badgetxt"/>
          <p:cNvSpPr txBox="1"/>
          <p:nvPr/>
        </p:nvSpPr>
        <p:spPr>
          <a:xfrm>
            <a:off x="8343900" y="21336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061423"/>
                </a:solidFill>
                <a:latin typeface="Segoe UI"/>
                <a:cs typeface="Segoe UI"/>
              </a:rPr>
              <a:t>P</a:t>
            </a:r>
          </a:p>
        </p:txBody>
      </p:sp>
      <p:sp>
        <p:nvSpPr>
          <p:cNvPr id="28" name="plab"/>
          <p:cNvSpPr txBox="1"/>
          <p:nvPr/>
        </p:nvSpPr>
        <p:spPr>
          <a:xfrm>
            <a:off x="8343900" y="28575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20" cap="all" dirty="0">
                <a:solidFill>
                  <a:srgbClr val="4ADE9B"/>
                </a:solidFill>
                <a:latin typeface="Segoe UI"/>
                <a:cs typeface="Segoe UI"/>
              </a:rPr>
              <a:t>Project</a:t>
            </a:r>
          </a:p>
        </p:txBody>
      </p:sp>
      <p:sp>
        <p:nvSpPr>
          <p:cNvPr id="29" name="pval"/>
          <p:cNvSpPr txBox="1"/>
          <p:nvPr/>
        </p:nvSpPr>
        <p:spPr>
          <a:xfrm>
            <a:off x="8343900" y="306705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61789A"/>
                </a:solidFill>
                <a:latin typeface="Segoe UI"/>
                <a:cs typeface="Segoe UI"/>
              </a:rPr>
              <a:t>e.g. </a:t>
            </a:r>
            <a:r>
              <a:rPr lang="en-US" sz="2400" b="1" dirty="0">
                <a:solidFill>
                  <a:srgbClr val="FFFFFF"/>
                </a:solidFill>
                <a:latin typeface="Segoe UI"/>
                <a:cs typeface="Segoe UI"/>
              </a:rPr>
              <a:t>R832E</a:t>
            </a:r>
          </a:p>
        </p:txBody>
      </p:sp>
      <p:sp>
        <p:nvSpPr>
          <p:cNvPr id="30" name="pbody"/>
          <p:cNvSpPr txBox="1"/>
          <p:nvPr/>
        </p:nvSpPr>
        <p:spPr>
          <a:xfrm>
            <a:off x="8343900" y="3581400"/>
            <a:ext cx="28956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The project you are required to work on — one context covers one project.</a:t>
            </a:r>
          </a:p>
        </p:txBody>
      </p:sp>
      <p:sp>
        <p:nvSpPr>
          <p:cNvPr id="31" name="card"/>
          <p:cNvSpPr/>
          <p:nvPr/>
        </p:nvSpPr>
        <p:spPr>
          <a:xfrm>
            <a:off x="685800" y="5029200"/>
            <a:ext cx="10820400" cy="5715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2" name="formula"/>
          <p:cNvSpPr txBox="1"/>
          <p:nvPr/>
        </p:nvSpPr>
        <p:spPr>
          <a:xfrm>
            <a:off x="685800" y="5029200"/>
            <a:ext cx="108204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dirty="0">
                <a:solidFill>
                  <a:srgbClr val="95AAC6"/>
                </a:solidFill>
                <a:latin typeface="Segoe UI"/>
                <a:cs typeface="Segoe UI"/>
              </a:rPr>
              <a:t>Required for prototype creation:      </a:t>
            </a:r>
            <a:r>
              <a:rPr lang="en-US" sz="1500" b="1" dirty="0">
                <a:solidFill>
                  <a:srgbClr val="FF8A3D"/>
                </a:solidFill>
                <a:latin typeface="Consolas"/>
                <a:cs typeface="Consolas"/>
              </a:rPr>
              <a:t>PSA_PiloteProjet</a:t>
            </a:r>
            <a:r>
              <a:rPr lang="en-US" sz="1500" b="1" dirty="0">
                <a:solidFill>
                  <a:srgbClr val="61789A"/>
                </a:solidFill>
                <a:latin typeface="Consolas"/>
                <a:cs typeface="Consolas"/>
              </a:rPr>
              <a:t>  .  </a:t>
            </a:r>
            <a:r>
              <a:rPr lang="en-US" sz="1500" b="1" dirty="0">
                <a:solidFill>
                  <a:srgbClr val="3ED0EE"/>
                </a:solidFill>
                <a:latin typeface="Consolas"/>
                <a:cs typeface="Consolas"/>
              </a:rPr>
              <a:t>PSA</a:t>
            </a:r>
            <a:r>
              <a:rPr lang="en-US" sz="1500" b="1" dirty="0">
                <a:solidFill>
                  <a:srgbClr val="61789A"/>
                </a:solidFill>
                <a:latin typeface="Consolas"/>
                <a:cs typeface="Consolas"/>
              </a:rPr>
              <a:t>  .  </a:t>
            </a:r>
            <a:r>
              <a:rPr lang="en-US" sz="1500" b="1" dirty="0">
                <a:solidFill>
                  <a:srgbClr val="4ADE9B"/>
                </a:solidFill>
                <a:latin typeface="Consolas"/>
                <a:cs typeface="Consolas"/>
              </a:rPr>
              <a:t>your project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FF8A3D">
                  <a:alpha val="17000"/>
                </a:srgbClr>
              </a:gs>
              <a:gs pos="100000">
                <a:srgbClr val="FF8A3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FF8A3D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FF8A3D"/>
                </a:solidFill>
                <a:latin typeface="Segoe UI"/>
                <a:cs typeface="Segoe UI"/>
              </a:rPr>
              <a:t>Step 02 · How to read it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962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3200" b="1" spc="-40" dirty="0">
                <a:solidFill>
                  <a:srgbClr val="FFFFFF"/>
                </a:solidFill>
                <a:latin typeface="Segoe UI"/>
                <a:cs typeface="Segoe UI"/>
              </a:rPr>
              <a:t>Anatomy of a context string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Every Security Context is written as three parts, separated by dots.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05 / 13</a:t>
            </a:r>
          </a:p>
        </p:txBody>
      </p:sp>
      <p:sp>
        <p:nvSpPr>
          <p:cNvPr id="13" name="card"/>
          <p:cNvSpPr/>
          <p:nvPr/>
        </p:nvSpPr>
        <p:spPr>
          <a:xfrm>
            <a:off x="1524000" y="1981200"/>
            <a:ext cx="9144000" cy="1905000"/>
          </a:xfrm>
          <a:prstGeom prst="roundRect">
            <a:avLst>
              <a:gd name="adj" fmla="val 9000"/>
            </a:avLst>
          </a:prstGeom>
          <a:solidFill>
            <a:srgbClr val="FFFFFF">
              <a:alpha val="4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4" name="seg"/>
          <p:cNvSpPr/>
          <p:nvPr/>
        </p:nvSpPr>
        <p:spPr>
          <a:xfrm>
            <a:off x="2333625" y="2286000"/>
            <a:ext cx="4000500" cy="723900"/>
          </a:xfrm>
          <a:prstGeom prst="roundRect">
            <a:avLst>
              <a:gd name="adj" fmla="val 15789"/>
            </a:avLst>
          </a:prstGeom>
          <a:solidFill>
            <a:srgbClr val="FF8A3D">
              <a:alpha val="12000"/>
            </a:srgbClr>
          </a:solidFill>
          <a:ln w="17780" cap="rnd">
            <a:solidFill>
              <a:srgbClr val="FF8A3D">
                <a:alpha val="55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5" name="segtxt"/>
          <p:cNvSpPr txBox="1"/>
          <p:nvPr/>
        </p:nvSpPr>
        <p:spPr>
          <a:xfrm>
            <a:off x="2333625" y="2286000"/>
            <a:ext cx="40005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2600" b="1" dirty="0">
                <a:solidFill>
                  <a:srgbClr val="FF8A3D"/>
                </a:solidFill>
                <a:latin typeface="Consolas"/>
                <a:cs typeface="Consolas"/>
              </a:rPr>
              <a:t>PSA_PiloteProjet</a:t>
            </a:r>
          </a:p>
        </p:txBody>
      </p:sp>
      <p:sp>
        <p:nvSpPr>
          <p:cNvPr id="16" name="tick"/>
          <p:cNvSpPr/>
          <p:nvPr/>
        </p:nvSpPr>
        <p:spPr>
          <a:xfrm>
            <a:off x="4333875" y="3067050"/>
            <a:ext cx="0" cy="171450"/>
          </a:xfrm>
          <a:prstGeom prst="line">
            <a:avLst/>
          </a:prstGeom>
          <a:noFill/>
          <a:ln w="12700" cap="rnd">
            <a:solidFill>
              <a:srgbClr val="FF8A3D">
                <a:alpha val="45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7" name="seglab"/>
          <p:cNvSpPr txBox="1"/>
          <p:nvPr/>
        </p:nvSpPr>
        <p:spPr>
          <a:xfrm>
            <a:off x="3571875" y="329565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en-US" sz="1050" b="1" spc="200" cap="all" dirty="0">
                <a:solidFill>
                  <a:srgbClr val="FF8A3D"/>
                </a:solidFill>
                <a:latin typeface="Segoe UI"/>
                <a:cs typeface="Segoe UI"/>
              </a:rPr>
              <a:t>Role</a:t>
            </a:r>
          </a:p>
        </p:txBody>
      </p:sp>
      <p:sp>
        <p:nvSpPr>
          <p:cNvPr id="18" name="segsub"/>
          <p:cNvSpPr txBox="1"/>
          <p:nvPr/>
        </p:nvSpPr>
        <p:spPr>
          <a:xfrm>
            <a:off x="3381375" y="35242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en-US" sz="1150" dirty="0">
                <a:solidFill>
                  <a:srgbClr val="95AAC6"/>
                </a:solidFill>
                <a:latin typeface="Segoe UI"/>
                <a:cs typeface="Segoe UI"/>
              </a:rPr>
              <a:t>what you may do</a:t>
            </a:r>
          </a:p>
        </p:txBody>
      </p:sp>
      <p:sp>
        <p:nvSpPr>
          <p:cNvPr id="19" name="dot"/>
          <p:cNvSpPr txBox="1"/>
          <p:nvPr/>
        </p:nvSpPr>
        <p:spPr>
          <a:xfrm>
            <a:off x="6334125" y="2286000"/>
            <a:ext cx="28575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2600" b="1" dirty="0">
                <a:solidFill>
                  <a:srgbClr val="61789A"/>
                </a:solidFill>
                <a:latin typeface="Consolas"/>
                <a:cs typeface="Consolas"/>
              </a:rPr>
              <a:t>.</a:t>
            </a:r>
          </a:p>
        </p:txBody>
      </p:sp>
      <p:sp>
        <p:nvSpPr>
          <p:cNvPr id="20" name="seg"/>
          <p:cNvSpPr/>
          <p:nvPr/>
        </p:nvSpPr>
        <p:spPr>
          <a:xfrm>
            <a:off x="6619875" y="2286000"/>
            <a:ext cx="1238250" cy="723900"/>
          </a:xfrm>
          <a:prstGeom prst="roundRect">
            <a:avLst>
              <a:gd name="adj" fmla="val 15789"/>
            </a:avLst>
          </a:prstGeom>
          <a:solidFill>
            <a:srgbClr val="3ED0EE">
              <a:alpha val="12000"/>
            </a:srgbClr>
          </a:solidFill>
          <a:ln w="17780" cap="rnd">
            <a:solidFill>
              <a:srgbClr val="3ED0EE">
                <a:alpha val="55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1" name="segtxt"/>
          <p:cNvSpPr txBox="1"/>
          <p:nvPr/>
        </p:nvSpPr>
        <p:spPr>
          <a:xfrm>
            <a:off x="6619875" y="2286000"/>
            <a:ext cx="123825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2600" b="1" dirty="0">
                <a:solidFill>
                  <a:srgbClr val="3ED0EE"/>
                </a:solidFill>
                <a:latin typeface="Consolas"/>
                <a:cs typeface="Consolas"/>
              </a:rPr>
              <a:t>PSA</a:t>
            </a:r>
          </a:p>
        </p:txBody>
      </p:sp>
      <p:sp>
        <p:nvSpPr>
          <p:cNvPr id="22" name="tick"/>
          <p:cNvSpPr/>
          <p:nvPr/>
        </p:nvSpPr>
        <p:spPr>
          <a:xfrm>
            <a:off x="7239000" y="3067050"/>
            <a:ext cx="0" cy="171450"/>
          </a:xfrm>
          <a:prstGeom prst="line">
            <a:avLst/>
          </a:prstGeom>
          <a:noFill/>
          <a:ln w="12700" cap="rnd">
            <a:solidFill>
              <a:srgbClr val="3ED0EE">
                <a:alpha val="45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3" name="seglab"/>
          <p:cNvSpPr txBox="1"/>
          <p:nvPr/>
        </p:nvSpPr>
        <p:spPr>
          <a:xfrm>
            <a:off x="6477000" y="329565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en-US" sz="1050" b="1" spc="200" cap="all" dirty="0">
                <a:solidFill>
                  <a:srgbClr val="3ED0EE"/>
                </a:solidFill>
                <a:latin typeface="Segoe UI"/>
                <a:cs typeface="Segoe UI"/>
              </a:rPr>
              <a:t>Organization</a:t>
            </a:r>
          </a:p>
        </p:txBody>
      </p:sp>
      <p:sp>
        <p:nvSpPr>
          <p:cNvPr id="24" name="segsub"/>
          <p:cNvSpPr txBox="1"/>
          <p:nvPr/>
        </p:nvSpPr>
        <p:spPr>
          <a:xfrm>
            <a:off x="6286500" y="35242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en-US" sz="1150" dirty="0">
                <a:solidFill>
                  <a:srgbClr val="95AAC6"/>
                </a:solidFill>
                <a:latin typeface="Segoe UI"/>
                <a:cs typeface="Segoe UI"/>
              </a:rPr>
              <a:t>who you act for</a:t>
            </a:r>
          </a:p>
        </p:txBody>
      </p:sp>
      <p:sp>
        <p:nvSpPr>
          <p:cNvPr id="25" name="dot"/>
          <p:cNvSpPr txBox="1"/>
          <p:nvPr/>
        </p:nvSpPr>
        <p:spPr>
          <a:xfrm>
            <a:off x="7858125" y="2286000"/>
            <a:ext cx="28575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2600" b="1" dirty="0">
                <a:solidFill>
                  <a:srgbClr val="61789A"/>
                </a:solidFill>
                <a:latin typeface="Consolas"/>
                <a:cs typeface="Consolas"/>
              </a:rPr>
              <a:t>.</a:t>
            </a:r>
          </a:p>
        </p:txBody>
      </p:sp>
      <p:sp>
        <p:nvSpPr>
          <p:cNvPr id="26" name="seg"/>
          <p:cNvSpPr/>
          <p:nvPr/>
        </p:nvSpPr>
        <p:spPr>
          <a:xfrm>
            <a:off x="8143875" y="2286000"/>
            <a:ext cx="1714500" cy="723900"/>
          </a:xfrm>
          <a:prstGeom prst="roundRect">
            <a:avLst>
              <a:gd name="adj" fmla="val 15789"/>
            </a:avLst>
          </a:prstGeom>
          <a:solidFill>
            <a:srgbClr val="4ADE9B">
              <a:alpha val="12000"/>
            </a:srgbClr>
          </a:solidFill>
          <a:ln w="17780" cap="rnd">
            <a:solidFill>
              <a:srgbClr val="4ADE9B">
                <a:alpha val="55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7" name="segtxt"/>
          <p:cNvSpPr txBox="1"/>
          <p:nvPr/>
        </p:nvSpPr>
        <p:spPr>
          <a:xfrm>
            <a:off x="8143875" y="2286000"/>
            <a:ext cx="17145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2600" b="1" dirty="0">
                <a:solidFill>
                  <a:srgbClr val="4ADE9B"/>
                </a:solidFill>
                <a:latin typeface="Consolas"/>
                <a:cs typeface="Consolas"/>
              </a:rPr>
              <a:t>R832E</a:t>
            </a:r>
          </a:p>
        </p:txBody>
      </p:sp>
      <p:sp>
        <p:nvSpPr>
          <p:cNvPr id="28" name="tick"/>
          <p:cNvSpPr/>
          <p:nvPr/>
        </p:nvSpPr>
        <p:spPr>
          <a:xfrm>
            <a:off x="9001125" y="3067050"/>
            <a:ext cx="0" cy="171450"/>
          </a:xfrm>
          <a:prstGeom prst="line">
            <a:avLst/>
          </a:prstGeom>
          <a:noFill/>
          <a:ln w="12700" cap="rnd">
            <a:solidFill>
              <a:srgbClr val="4ADE9B">
                <a:alpha val="45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9" name="seglab"/>
          <p:cNvSpPr txBox="1"/>
          <p:nvPr/>
        </p:nvSpPr>
        <p:spPr>
          <a:xfrm>
            <a:off x="8239125" y="329565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en-US" sz="1050" b="1" spc="200" cap="all" dirty="0">
                <a:solidFill>
                  <a:srgbClr val="4ADE9B"/>
                </a:solidFill>
                <a:latin typeface="Segoe UI"/>
                <a:cs typeface="Segoe UI"/>
              </a:rPr>
              <a:t>Project</a:t>
            </a:r>
          </a:p>
        </p:txBody>
      </p:sp>
      <p:sp>
        <p:nvSpPr>
          <p:cNvPr id="30" name="segsub"/>
          <p:cNvSpPr txBox="1"/>
          <p:nvPr/>
        </p:nvSpPr>
        <p:spPr>
          <a:xfrm>
            <a:off x="8048625" y="35242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en-US" sz="1150" dirty="0">
                <a:solidFill>
                  <a:srgbClr val="95AAC6"/>
                </a:solidFill>
                <a:latin typeface="Segoe UI"/>
                <a:cs typeface="Segoe UI"/>
              </a:rPr>
              <a:t>where you work</a:t>
            </a:r>
          </a:p>
        </p:txBody>
      </p:sp>
      <p:sp>
        <p:nvSpPr>
          <p:cNvPr id="31" name="exlab"/>
          <p:cNvSpPr txBox="1"/>
          <p:nvPr/>
        </p:nvSpPr>
        <p:spPr>
          <a:xfrm>
            <a:off x="1524000" y="4171950"/>
            <a:ext cx="32385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00" b="1" spc="200" cap="all" dirty="0">
                <a:solidFill>
                  <a:srgbClr val="61789A"/>
                </a:solidFill>
                <a:latin typeface="Segoe UI"/>
                <a:cs typeface="Segoe UI"/>
              </a:rPr>
              <a:t>As displayed in PLM</a:t>
            </a:r>
          </a:p>
        </p:txBody>
      </p:sp>
      <p:sp>
        <p:nvSpPr>
          <p:cNvPr id="32" name="card"/>
          <p:cNvSpPr/>
          <p:nvPr/>
        </p:nvSpPr>
        <p:spPr>
          <a:xfrm>
            <a:off x="1524000" y="4419600"/>
            <a:ext cx="3238500" cy="533400"/>
          </a:xfrm>
          <a:prstGeom prst="roundRect">
            <a:avLst>
              <a:gd name="adj" fmla="val 17857"/>
            </a:avLst>
          </a:prstGeom>
          <a:solidFill>
            <a:srgbClr val="FFFFFF">
              <a:alpha val="96000"/>
            </a:srgbClr>
          </a:solidFill>
          <a:ln w="12700" cap="rnd">
            <a:solidFill>
              <a:srgbClr val="FFFFFF">
                <a:alpha val="30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pic>
        <p:nvPicPr>
          <p:cNvPr id="33" name="context str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4552950"/>
            <a:ext cx="2857500" cy="304800"/>
          </a:xfrm>
          <a:prstGeom prst="rect">
            <a:avLst/>
          </a:prstGeom>
          <a:ln>
            <a:noFill/>
          </a:ln>
        </p:spPr>
      </p:pic>
      <p:sp>
        <p:nvSpPr>
          <p:cNvPr id="34" name="card"/>
          <p:cNvSpPr/>
          <p:nvPr/>
        </p:nvSpPr>
        <p:spPr>
          <a:xfrm>
            <a:off x="5143500" y="4171950"/>
            <a:ext cx="5524500" cy="1066800"/>
          </a:xfrm>
          <a:prstGeom prst="roundRect">
            <a:avLst>
              <a:gd name="adj" fmla="val 12500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5" name="nt"/>
          <p:cNvSpPr txBox="1"/>
          <p:nvPr/>
        </p:nvSpPr>
        <p:spPr>
          <a:xfrm>
            <a:off x="5391150" y="4362450"/>
            <a:ext cx="5048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/>
                <a:cs typeface="Segoe UI"/>
              </a:rPr>
              <a:t>One context at a time</a:t>
            </a:r>
          </a:p>
        </p:txBody>
      </p:sp>
      <p:sp>
        <p:nvSpPr>
          <p:cNvPr id="36" name="nb"/>
          <p:cNvSpPr txBox="1"/>
          <p:nvPr/>
        </p:nvSpPr>
        <p:spPr>
          <a:xfrm>
            <a:off x="5391150" y="46672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95AAC6"/>
                </a:solidFill>
                <a:latin typeface="Segoe UI"/>
                <a:cs typeface="Segoe UI"/>
              </a:rPr>
              <a:t>You can only use one Security Context per project. If you change project, you change Security Context.</a:t>
            </a:r>
          </a:p>
        </p:txBody>
      </p:sp>
      <p:sp>
        <p:nvSpPr>
          <p:cNvPr id="37" name="tip"/>
          <p:cNvSpPr txBox="1"/>
          <p:nvPr/>
        </p:nvSpPr>
        <p:spPr>
          <a:xfrm>
            <a:off x="1524000" y="5295900"/>
            <a:ext cx="9144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61789A"/>
                </a:solidFill>
                <a:latin typeface="Segoe UI"/>
                <a:cs typeface="Segoe UI"/>
              </a:rPr>
              <a:t>The project code is the part that changes when you switch project: R832E, EMP2, P41E, B78 …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FF8A3D">
                  <a:alpha val="17000"/>
                </a:srgbClr>
              </a:gs>
              <a:gs pos="100000">
                <a:srgbClr val="FF8A3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FF8A3D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FF8A3D"/>
                </a:solidFill>
                <a:latin typeface="Segoe UI"/>
                <a:cs typeface="Segoe UI"/>
              </a:rPr>
              <a:t>Step 02 · Rules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962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3200" b="1" spc="-40" dirty="0">
                <a:solidFill>
                  <a:srgbClr val="FFFFFF"/>
                </a:solidFill>
                <a:latin typeface="Segoe UI"/>
                <a:cs typeface="Segoe UI"/>
              </a:rPr>
              <a:t>Three rules to remember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Short list. No exceptions.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06 / 13</a:t>
            </a:r>
          </a:p>
        </p:txBody>
      </p:sp>
      <p:sp>
        <p:nvSpPr>
          <p:cNvPr id="13" name="card"/>
          <p:cNvSpPr/>
          <p:nvPr/>
        </p:nvSpPr>
        <p:spPr>
          <a:xfrm>
            <a:off x="685800" y="1866900"/>
            <a:ext cx="3429000" cy="3048000"/>
          </a:xfrm>
          <a:prstGeom prst="roundRect">
            <a:avLst>
              <a:gd name="adj" fmla="val 4375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4" name="sqbadge"/>
          <p:cNvSpPr/>
          <p:nvPr/>
        </p:nvSpPr>
        <p:spPr>
          <a:xfrm>
            <a:off x="952500" y="2133600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FF8A3D">
              <a:alpha val="15000"/>
            </a:srgbClr>
          </a:solidFill>
          <a:ln w="17780" cap="rnd">
            <a:solidFill>
              <a:srgbClr val="FF8A3D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5" name="sqbadgetxt"/>
          <p:cNvSpPr txBox="1"/>
          <p:nvPr/>
        </p:nvSpPr>
        <p:spPr>
          <a:xfrm>
            <a:off x="952500" y="21336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FF8A3D"/>
                </a:solidFill>
                <a:latin typeface="Segoe UI"/>
                <a:cs typeface="Segoe UI"/>
              </a:rPr>
              <a:t>01</a:t>
            </a:r>
          </a:p>
        </p:txBody>
      </p:sp>
      <p:sp>
        <p:nvSpPr>
          <p:cNvPr id="16" name="rt"/>
          <p:cNvSpPr txBox="1"/>
          <p:nvPr/>
        </p:nvSpPr>
        <p:spPr>
          <a:xfrm>
            <a:off x="952500" y="2743200"/>
            <a:ext cx="2895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/>
                <a:cs typeface="Segoe UI"/>
              </a:rPr>
              <a:t>One context per project</a:t>
            </a:r>
          </a:p>
        </p:txBody>
      </p:sp>
      <p:sp>
        <p:nvSpPr>
          <p:cNvPr id="17" name="rb"/>
          <p:cNvSpPr txBox="1"/>
          <p:nvPr/>
        </p:nvSpPr>
        <p:spPr>
          <a:xfrm>
            <a:off x="952500" y="3657600"/>
            <a:ext cx="2895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You can only use one Security Context per project. If you change project, you change Security Context.</a:t>
            </a:r>
          </a:p>
        </p:txBody>
      </p:sp>
      <p:sp>
        <p:nvSpPr>
          <p:cNvPr id="18" name="card"/>
          <p:cNvSpPr/>
          <p:nvPr/>
        </p:nvSpPr>
        <p:spPr>
          <a:xfrm>
            <a:off x="4381500" y="1866900"/>
            <a:ext cx="3429000" cy="3048000"/>
          </a:xfrm>
          <a:prstGeom prst="roundRect">
            <a:avLst>
              <a:gd name="adj" fmla="val 4375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9" name="sqbadge"/>
          <p:cNvSpPr/>
          <p:nvPr/>
        </p:nvSpPr>
        <p:spPr>
          <a:xfrm>
            <a:off x="4648200" y="2133600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3ED0EE">
              <a:alpha val="15000"/>
            </a:srgbClr>
          </a:solidFill>
          <a:ln w="17780" cap="rnd">
            <a:solidFill>
              <a:srgbClr val="3ED0EE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" name="sqbadgetxt"/>
          <p:cNvSpPr txBox="1"/>
          <p:nvPr/>
        </p:nvSpPr>
        <p:spPr>
          <a:xfrm>
            <a:off x="4648200" y="21336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3ED0EE"/>
                </a:solidFill>
                <a:latin typeface="Segoe UI"/>
                <a:cs typeface="Segoe UI"/>
              </a:rPr>
              <a:t>02</a:t>
            </a:r>
          </a:p>
        </p:txBody>
      </p:sp>
      <p:sp>
        <p:nvSpPr>
          <p:cNvPr id="21" name="rt"/>
          <p:cNvSpPr txBox="1"/>
          <p:nvPr/>
        </p:nvSpPr>
        <p:spPr>
          <a:xfrm>
            <a:off x="4648200" y="2743200"/>
            <a:ext cx="2895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/>
                <a:cs typeface="Segoe UI"/>
              </a:rPr>
              <a:t>Contractors</a:t>
            </a:r>
          </a:p>
        </p:txBody>
      </p:sp>
      <p:sp>
        <p:nvSpPr>
          <p:cNvPr id="22" name="rb"/>
          <p:cNvSpPr txBox="1"/>
          <p:nvPr/>
        </p:nvSpPr>
        <p:spPr>
          <a:xfrm>
            <a:off x="4648200" y="3657600"/>
            <a:ext cx="2895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If you are a contractor, the request is made by your STELLANTIS client — not by you.</a:t>
            </a:r>
          </a:p>
        </p:txBody>
      </p:sp>
      <p:sp>
        <p:nvSpPr>
          <p:cNvPr id="23" name="card"/>
          <p:cNvSpPr/>
          <p:nvPr/>
        </p:nvSpPr>
        <p:spPr>
          <a:xfrm>
            <a:off x="8077200" y="1866900"/>
            <a:ext cx="3429000" cy="3048000"/>
          </a:xfrm>
          <a:prstGeom prst="roundRect">
            <a:avLst>
              <a:gd name="adj" fmla="val 4375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4" name="sqbadge"/>
          <p:cNvSpPr/>
          <p:nvPr/>
        </p:nvSpPr>
        <p:spPr>
          <a:xfrm>
            <a:off x="8343900" y="2133600"/>
            <a:ext cx="419100" cy="419100"/>
          </a:xfrm>
          <a:prstGeom prst="roundRect">
            <a:avLst>
              <a:gd name="adj" fmla="val 27272"/>
            </a:avLst>
          </a:prstGeom>
          <a:solidFill>
            <a:srgbClr val="4ADE9B">
              <a:alpha val="15000"/>
            </a:srgbClr>
          </a:solidFill>
          <a:ln w="17780" cap="rnd">
            <a:solidFill>
              <a:srgbClr val="4ADE9B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5" name="sqbadgetxt"/>
          <p:cNvSpPr txBox="1"/>
          <p:nvPr/>
        </p:nvSpPr>
        <p:spPr>
          <a:xfrm>
            <a:off x="8343900" y="2133600"/>
            <a:ext cx="4191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600" b="1" dirty="0">
                <a:solidFill>
                  <a:srgbClr val="4ADE9B"/>
                </a:solidFill>
                <a:latin typeface="Segoe UI"/>
                <a:cs typeface="Segoe UI"/>
              </a:rPr>
              <a:t>03</a:t>
            </a:r>
          </a:p>
        </p:txBody>
      </p:sp>
      <p:sp>
        <p:nvSpPr>
          <p:cNvPr id="26" name="rt"/>
          <p:cNvSpPr txBox="1"/>
          <p:nvPr/>
        </p:nvSpPr>
        <p:spPr>
          <a:xfrm>
            <a:off x="8343900" y="2743200"/>
            <a:ext cx="2895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/>
                <a:cs typeface="Segoe UI"/>
              </a:rPr>
              <a:t>One door for requests</a:t>
            </a:r>
          </a:p>
        </p:txBody>
      </p:sp>
      <p:sp>
        <p:nvSpPr>
          <p:cNvPr id="27" name="rb"/>
          <p:cNvSpPr txBox="1"/>
          <p:nvPr/>
        </p:nvSpPr>
        <p:spPr>
          <a:xfrm>
            <a:off x="8343900" y="3657600"/>
            <a:ext cx="28956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All PLM access requests go through PLMPassport — for yourself or for a colleague.</a:t>
            </a:r>
          </a:p>
        </p:txBody>
      </p:sp>
      <p:sp>
        <p:nvSpPr>
          <p:cNvPr id="28" name="card"/>
          <p:cNvSpPr/>
          <p:nvPr/>
        </p:nvSpPr>
        <p:spPr>
          <a:xfrm>
            <a:off x="3371850" y="20955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FFF">
              <a:alpha val="96000"/>
            </a:srgbClr>
          </a:solidFill>
          <a:ln w="12700" cap="rnd">
            <a:solidFill>
              <a:srgbClr val="FFFFFF">
                <a:alpha val="30000"/>
              </a:srgbClr>
            </a:solidFill>
            <a:round/>
          </a:ln>
          <a:effectLst>
            <a:outerShdw blurRad="171450" dist="57150" dir="5400000" rotWithShape="0">
              <a:srgbClr val="000814">
                <a:alpha val="35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pic>
        <p:nvPicPr>
          <p:cNvPr id="29" name="warn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5" y="2152650"/>
            <a:ext cx="361950" cy="342900"/>
          </a:xfrm>
          <a:prstGeom prst="rect">
            <a:avLst/>
          </a:prstGeom>
          <a:ln>
            <a:noFill/>
          </a:ln>
        </p:spPr>
      </p:pic>
      <p:sp>
        <p:nvSpPr>
          <p:cNvPr id="30" name="card"/>
          <p:cNvSpPr/>
          <p:nvPr/>
        </p:nvSpPr>
        <p:spPr>
          <a:xfrm>
            <a:off x="685800" y="5219700"/>
            <a:ext cx="10820400" cy="609600"/>
          </a:xfrm>
          <a:prstGeom prst="roundRect">
            <a:avLst>
              <a:gd name="adj" fmla="val 18750"/>
            </a:avLst>
          </a:prstGeom>
          <a:solidFill>
            <a:srgbClr val="FFFFFF">
              <a:alpha val="5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1" name="accentbar"/>
          <p:cNvSpPr/>
          <p:nvPr/>
        </p:nvSpPr>
        <p:spPr>
          <a:xfrm>
            <a:off x="685800" y="5372100"/>
            <a:ext cx="28575" cy="304800"/>
          </a:xfrm>
          <a:prstGeom prst="roundRect">
            <a:avLst>
              <a:gd name="adj" fmla="val 33333"/>
            </a:avLst>
          </a:prstGeom>
          <a:solidFill>
            <a:srgbClr val="FF8A3D">
              <a:alpha val="80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2" name="stripnote"/>
          <p:cNvSpPr txBox="1"/>
          <p:nvPr/>
        </p:nvSpPr>
        <p:spPr>
          <a:xfrm>
            <a:off x="933450" y="5219700"/>
            <a:ext cx="103251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CBDAEC"/>
                </a:solidFill>
                <a:latin typeface="Segoe UI"/>
                <a:cs typeface="Segoe UI"/>
              </a:rPr>
              <a:t>Rule of thumb — your Security Context always matches the project you are working on right now.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FF8A3D">
                  <a:alpha val="17000"/>
                </a:srgbClr>
              </a:gs>
              <a:gs pos="100000">
                <a:srgbClr val="FF8A3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FF8A3D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FF8A3D"/>
                </a:solidFill>
                <a:latin typeface="Segoe UI"/>
                <a:cs typeface="Segoe UI"/>
              </a:rPr>
              <a:t>Step 02 · Request access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962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3200" b="1" spc="-40" dirty="0">
                <a:solidFill>
                  <a:srgbClr val="FFFFFF"/>
                </a:solidFill>
                <a:latin typeface="Segoe UI"/>
                <a:cs typeface="Segoe UI"/>
              </a:rPr>
              <a:t>Request your access in PLMPassport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One portal for every PLM access request.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07 / 13</a:t>
            </a:r>
          </a:p>
        </p:txBody>
      </p:sp>
      <p:sp>
        <p:nvSpPr>
          <p:cNvPr id="13" name="spine"/>
          <p:cNvSpPr/>
          <p:nvPr/>
        </p:nvSpPr>
        <p:spPr>
          <a:xfrm>
            <a:off x="962025" y="2228850"/>
            <a:ext cx="19050" cy="20955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4" name="sqbadge"/>
          <p:cNvSpPr/>
          <p:nvPr/>
        </p:nvSpPr>
        <p:spPr>
          <a:xfrm>
            <a:off x="838200" y="19621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8A3D">
              <a:alpha val="15000"/>
            </a:srgbClr>
          </a:solidFill>
          <a:ln w="17780" cap="rnd">
            <a:solidFill>
              <a:srgbClr val="FF8A3D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5" name="sqbadgetxt"/>
          <p:cNvSpPr txBox="1"/>
          <p:nvPr/>
        </p:nvSpPr>
        <p:spPr>
          <a:xfrm>
            <a:off x="838200" y="19621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8A3D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6" name="st"/>
          <p:cNvSpPr txBox="1"/>
          <p:nvPr/>
        </p:nvSpPr>
        <p:spPr>
          <a:xfrm>
            <a:off x="1333500" y="19240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  <a:cs typeface="Segoe UI"/>
              </a:rPr>
              <a:t>Open PLMPassport</a:t>
            </a:r>
          </a:p>
        </p:txBody>
      </p:sp>
      <p:sp>
        <p:nvSpPr>
          <p:cNvPr id="17" name="sb"/>
          <p:cNvSpPr txBox="1"/>
          <p:nvPr/>
        </p:nvSpPr>
        <p:spPr>
          <a:xfrm>
            <a:off x="1333500" y="2228850"/>
            <a:ext cx="4000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plmpassport.inetpsa.com — the entry point for PLM rights.</a:t>
            </a:r>
          </a:p>
        </p:txBody>
      </p:sp>
      <p:sp>
        <p:nvSpPr>
          <p:cNvPr id="18" name="sqbadge"/>
          <p:cNvSpPr/>
          <p:nvPr/>
        </p:nvSpPr>
        <p:spPr>
          <a:xfrm>
            <a:off x="838200" y="31051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3ED0EE">
              <a:alpha val="15000"/>
            </a:srgbClr>
          </a:solidFill>
          <a:ln w="17780" cap="rnd">
            <a:solidFill>
              <a:srgbClr val="3ED0EE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9" name="sqbadgetxt"/>
          <p:cNvSpPr txBox="1"/>
          <p:nvPr/>
        </p:nvSpPr>
        <p:spPr>
          <a:xfrm>
            <a:off x="838200" y="31051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3ED0EE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20" name="st"/>
          <p:cNvSpPr txBox="1"/>
          <p:nvPr/>
        </p:nvSpPr>
        <p:spPr>
          <a:xfrm>
            <a:off x="1333500" y="30670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  <a:cs typeface="Segoe UI"/>
              </a:rPr>
              <a:t>Raise the request</a:t>
            </a:r>
          </a:p>
        </p:txBody>
      </p:sp>
      <p:sp>
        <p:nvSpPr>
          <p:cNvPr id="21" name="sb"/>
          <p:cNvSpPr txBox="1"/>
          <p:nvPr/>
        </p:nvSpPr>
        <p:spPr>
          <a:xfrm>
            <a:off x="1333500" y="3371850"/>
            <a:ext cx="4000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For yourself, or on behalf of a colleague who needs access.</a:t>
            </a:r>
          </a:p>
        </p:txBody>
      </p:sp>
      <p:sp>
        <p:nvSpPr>
          <p:cNvPr id="22" name="sqbadge"/>
          <p:cNvSpPr/>
          <p:nvPr/>
        </p:nvSpPr>
        <p:spPr>
          <a:xfrm>
            <a:off x="838200" y="42481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4ADE9B">
              <a:alpha val="15000"/>
            </a:srgbClr>
          </a:solidFill>
          <a:ln w="17780" cap="rnd">
            <a:solidFill>
              <a:srgbClr val="4ADE9B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3" name="sqbadgetxt"/>
          <p:cNvSpPr txBox="1"/>
          <p:nvPr/>
        </p:nvSpPr>
        <p:spPr>
          <a:xfrm>
            <a:off x="838200" y="42481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4ADE9B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4" name="st"/>
          <p:cNvSpPr txBox="1"/>
          <p:nvPr/>
        </p:nvSpPr>
        <p:spPr>
          <a:xfrm>
            <a:off x="1333500" y="42100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  <a:cs typeface="Segoe UI"/>
              </a:rPr>
              <a:t>Receive your context</a:t>
            </a:r>
          </a:p>
        </p:txBody>
      </p:sp>
      <p:sp>
        <p:nvSpPr>
          <p:cNvPr id="25" name="sb"/>
          <p:cNvSpPr txBox="1"/>
          <p:nvPr/>
        </p:nvSpPr>
        <p:spPr>
          <a:xfrm>
            <a:off x="1333500" y="4514850"/>
            <a:ext cx="4000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Role · Organization · Project, ready to use at your next login.</a:t>
            </a:r>
          </a:p>
        </p:txBody>
      </p:sp>
      <p:sp>
        <p:nvSpPr>
          <p:cNvPr id="26" name="card"/>
          <p:cNvSpPr/>
          <p:nvPr/>
        </p:nvSpPr>
        <p:spPr>
          <a:xfrm>
            <a:off x="6324600" y="1866900"/>
            <a:ext cx="5181600" cy="2286000"/>
          </a:xfrm>
          <a:prstGeom prst="roundRect">
            <a:avLst>
              <a:gd name="adj" fmla="val 6666"/>
            </a:avLst>
          </a:prstGeom>
          <a:gradFill flip="none" rotWithShape="1">
            <a:gsLst>
              <a:gs pos="0">
                <a:srgbClr val="FF8A3D">
                  <a:alpha val="18000"/>
                </a:srgbClr>
              </a:gs>
              <a:gs pos="100000">
                <a:srgbClr val="C24E10">
                  <a:alpha val="9000"/>
                </a:srgbClr>
              </a:gs>
            </a:gsLst>
            <a:lin ang="7500000" scaled="0"/>
          </a:gradFill>
          <a:ln w="19050" cap="rnd">
            <a:solidFill>
              <a:srgbClr val="FF8A3D">
                <a:alpha val="4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  <a:glow rad="152400">
              <a:srgbClr val="FF8A3D">
                <a:alpha val="22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7" name="cl"/>
          <p:cNvSpPr txBox="1"/>
          <p:nvPr/>
        </p:nvSpPr>
        <p:spPr>
          <a:xfrm>
            <a:off x="6667500" y="2190750"/>
            <a:ext cx="44767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20" cap="all" dirty="0">
                <a:solidFill>
                  <a:srgbClr val="FFC489"/>
                </a:solidFill>
                <a:latin typeface="Segoe UI"/>
                <a:cs typeface="Segoe UI"/>
              </a:rPr>
              <a:t>Request portal</a:t>
            </a:r>
          </a:p>
        </p:txBody>
      </p:sp>
      <p:sp>
        <p:nvSpPr>
          <p:cNvPr id="28" name="url"/>
          <p:cNvSpPr txBox="1"/>
          <p:nvPr/>
        </p:nvSpPr>
        <p:spPr>
          <a:xfrm>
            <a:off x="6667500" y="2457450"/>
            <a:ext cx="4476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/>
                <a:cs typeface="Segoe UI"/>
                <a:hlinkClick xmlns:r="http://schemas.openxmlformats.org/officeDocument/2006/relationships" r:id="rId2"/>
              </a:rPr>
              <a:t>plmpassport.inetpsa.com</a:t>
            </a:r>
          </a:p>
        </p:txBody>
      </p:sp>
      <p:sp>
        <p:nvSpPr>
          <p:cNvPr id="29" name="path"/>
          <p:cNvSpPr txBox="1"/>
          <p:nvPr/>
        </p:nvSpPr>
        <p:spPr>
          <a:xfrm>
            <a:off x="6667500" y="2914650"/>
            <a:ext cx="4476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CBDAEC"/>
                </a:solidFill>
                <a:latin typeface="Consolas"/>
                <a:cs typeface="Consolas"/>
              </a:rPr>
              <a:t>/index.php/home</a:t>
            </a:r>
          </a:p>
        </p:txBody>
      </p:sp>
      <p:sp>
        <p:nvSpPr>
          <p:cNvPr id="30" name="div"/>
          <p:cNvSpPr/>
          <p:nvPr/>
        </p:nvSpPr>
        <p:spPr>
          <a:xfrm>
            <a:off x="6667500" y="3276600"/>
            <a:ext cx="447675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1" name="green"/>
          <p:cNvSpPr txBox="1"/>
          <p:nvPr/>
        </p:nvSpPr>
        <p:spPr>
          <a:xfrm>
            <a:off x="6667500" y="3429000"/>
            <a:ext cx="44767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4ADE9B"/>
                </a:solidFill>
                <a:latin typeface="Segoe UI"/>
                <a:cs typeface="Segoe UI"/>
              </a:rPr>
              <a:t>PLM access requests must be made in PLMPassport.</a:t>
            </a:r>
          </a:p>
        </p:txBody>
      </p:sp>
      <p:sp>
        <p:nvSpPr>
          <p:cNvPr id="32" name="cta"/>
          <p:cNvSpPr txBox="1"/>
          <p:nvPr/>
        </p:nvSpPr>
        <p:spPr>
          <a:xfrm>
            <a:off x="6667500" y="3733800"/>
            <a:ext cx="44767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CBDAEC"/>
                </a:solidFill>
                <a:latin typeface="Segoe UI"/>
                <a:cs typeface="Segoe UI"/>
              </a:rPr>
              <a:t>Click the address to open the portal.</a:t>
            </a:r>
          </a:p>
        </p:txBody>
      </p:sp>
      <p:sp>
        <p:nvSpPr>
          <p:cNvPr id="33" name="card"/>
          <p:cNvSpPr/>
          <p:nvPr/>
        </p:nvSpPr>
        <p:spPr>
          <a:xfrm>
            <a:off x="6324600" y="4343400"/>
            <a:ext cx="5181600" cy="1066800"/>
          </a:xfrm>
          <a:prstGeom prst="roundRect">
            <a:avLst>
              <a:gd name="adj" fmla="val 12500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4" name="colab"/>
          <p:cNvSpPr txBox="1"/>
          <p:nvPr/>
        </p:nvSpPr>
        <p:spPr>
          <a:xfrm>
            <a:off x="6629400" y="4552950"/>
            <a:ext cx="457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20" cap="all" dirty="0">
                <a:solidFill>
                  <a:srgbClr val="3ED0EE"/>
                </a:solidFill>
                <a:latin typeface="Segoe UI"/>
                <a:cs typeface="Segoe UI"/>
              </a:rPr>
              <a:t>Contractors</a:t>
            </a:r>
          </a:p>
        </p:txBody>
      </p:sp>
      <p:sp>
        <p:nvSpPr>
          <p:cNvPr id="35" name="cobody"/>
          <p:cNvSpPr txBox="1"/>
          <p:nvPr/>
        </p:nvSpPr>
        <p:spPr>
          <a:xfrm>
            <a:off x="6629400" y="47815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AEC"/>
                </a:solidFill>
                <a:latin typeface="Segoe UI"/>
                <a:cs typeface="Segoe UI"/>
              </a:rPr>
              <a:t>Your STELLANTIS client is the one who makes the request on your behalf.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4ADE9B">
                  <a:alpha val="17000"/>
                </a:srgbClr>
              </a:gs>
              <a:gs pos="100000">
                <a:srgbClr val="4AD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4ADE9B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4ADE9B"/>
                </a:solidFill>
                <a:latin typeface="Segoe UI"/>
                <a:cs typeface="Segoe UI"/>
              </a:rPr>
              <a:t>Step 03 · Connect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962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3200" b="1" spc="-40" dirty="0">
                <a:solidFill>
                  <a:srgbClr val="FFFFFF"/>
                </a:solidFill>
                <a:latin typeface="Segoe UI"/>
                <a:cs typeface="Segoe UI"/>
              </a:rPr>
              <a:t>Two ways in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ADE9B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Both routes open the same PLM platform.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08 / 13</a:t>
            </a:r>
          </a:p>
        </p:txBody>
      </p:sp>
      <p:sp>
        <p:nvSpPr>
          <p:cNvPr id="13" name="card"/>
          <p:cNvSpPr/>
          <p:nvPr/>
        </p:nvSpPr>
        <p:spPr>
          <a:xfrm>
            <a:off x="685800" y="1866900"/>
            <a:ext cx="5257800" cy="3810000"/>
          </a:xfrm>
          <a:prstGeom prst="roundRect">
            <a:avLst>
              <a:gd name="adj" fmla="val 3500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4" name="ra"/>
          <p:cNvSpPr txBox="1"/>
          <p:nvPr/>
        </p:nvSpPr>
        <p:spPr>
          <a:xfrm>
            <a:off x="952500" y="20955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20" cap="all" dirty="0">
                <a:solidFill>
                  <a:srgbClr val="FF8A3D"/>
                </a:solidFill>
                <a:latin typeface="Segoe UI"/>
                <a:cs typeface="Segoe UI"/>
              </a:rPr>
              <a:t>Route A</a:t>
            </a:r>
          </a:p>
        </p:txBody>
      </p:sp>
      <p:sp>
        <p:nvSpPr>
          <p:cNvPr id="15" name="rat"/>
          <p:cNvSpPr txBox="1"/>
          <p:nvPr/>
        </p:nvSpPr>
        <p:spPr>
          <a:xfrm>
            <a:off x="952500" y="2324100"/>
            <a:ext cx="4762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2100" b="1" dirty="0">
                <a:solidFill>
                  <a:srgbClr val="FFFFFF"/>
                </a:solidFill>
                <a:latin typeface="Segoe UI"/>
                <a:cs typeface="Segoe UI"/>
              </a:rPr>
              <a:t>From the CFAO palette</a:t>
            </a:r>
          </a:p>
        </p:txBody>
      </p:sp>
      <p:sp>
        <p:nvSpPr>
          <p:cNvPr id="16" name="rab"/>
          <p:cNvSpPr txBox="1"/>
          <p:nvPr/>
        </p:nvSpPr>
        <p:spPr>
          <a:xfrm>
            <a:off x="952500" y="2705100"/>
            <a:ext cx="47625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On psa.com, open the CFAO palette and click the PLM Platform icon.</a:t>
            </a:r>
          </a:p>
        </p:txBody>
      </p:sp>
      <p:pic>
        <p:nvPicPr>
          <p:cNvPr id="17" name="CFAO palet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238500"/>
            <a:ext cx="3962400" cy="2247900"/>
          </a:xfrm>
          <a:prstGeom prst="roundRect">
            <a:avLst>
              <a:gd name="adj" fmla="val 3389"/>
            </a:avLst>
          </a:prstGeom>
          <a:ln w="12700" cap="rnd">
            <a:solidFill>
              <a:srgbClr val="FFFFFF">
                <a:alpha val="28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40000"/>
              </a:srgbClr>
            </a:outerShdw>
          </a:effectLst>
        </p:spPr>
      </p:pic>
      <p:sp>
        <p:nvSpPr>
          <p:cNvPr id="18" name="card"/>
          <p:cNvSpPr/>
          <p:nvPr/>
        </p:nvSpPr>
        <p:spPr>
          <a:xfrm>
            <a:off x="6248400" y="1866900"/>
            <a:ext cx="5257800" cy="3810000"/>
          </a:xfrm>
          <a:prstGeom prst="roundRect">
            <a:avLst>
              <a:gd name="adj" fmla="val 3500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9" name="rb"/>
          <p:cNvSpPr txBox="1"/>
          <p:nvPr/>
        </p:nvSpPr>
        <p:spPr>
          <a:xfrm>
            <a:off x="6515100" y="20955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20" cap="all" dirty="0">
                <a:solidFill>
                  <a:srgbClr val="3ED0EE"/>
                </a:solidFill>
                <a:latin typeface="Segoe UI"/>
                <a:cs typeface="Segoe UI"/>
              </a:rPr>
              <a:t>Route B</a:t>
            </a:r>
          </a:p>
        </p:txBody>
      </p:sp>
      <p:sp>
        <p:nvSpPr>
          <p:cNvPr id="20" name="rbt"/>
          <p:cNvSpPr txBox="1"/>
          <p:nvPr/>
        </p:nvSpPr>
        <p:spPr>
          <a:xfrm>
            <a:off x="6515100" y="2324100"/>
            <a:ext cx="4762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2100" b="1" dirty="0">
                <a:solidFill>
                  <a:srgbClr val="FFFFFF"/>
                </a:solidFill>
                <a:latin typeface="Segoe UI"/>
                <a:cs typeface="Segoe UI"/>
              </a:rPr>
              <a:t>Direct intranet address</a:t>
            </a:r>
          </a:p>
        </p:txBody>
      </p:sp>
      <p:sp>
        <p:nvSpPr>
          <p:cNvPr id="21" name="rbb"/>
          <p:cNvSpPr txBox="1"/>
          <p:nvPr/>
        </p:nvSpPr>
        <p:spPr>
          <a:xfrm>
            <a:off x="6515100" y="2705100"/>
            <a:ext cx="4762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Paste the address into your browser on the Stellantis intranet.</a:t>
            </a:r>
          </a:p>
        </p:txBody>
      </p:sp>
      <p:sp>
        <p:nvSpPr>
          <p:cNvPr id="22" name="card"/>
          <p:cNvSpPr/>
          <p:nvPr/>
        </p:nvSpPr>
        <p:spPr>
          <a:xfrm>
            <a:off x="6515100" y="3238500"/>
            <a:ext cx="4724400" cy="1257300"/>
          </a:xfrm>
          <a:prstGeom prst="roundRect">
            <a:avLst>
              <a:gd name="adj" fmla="val 9090"/>
            </a:avLst>
          </a:prstGeom>
          <a:solidFill>
            <a:srgbClr val="020B18">
              <a:alpha val="55000"/>
            </a:srgbClr>
          </a:solidFill>
          <a:ln w="12700" cap="rnd">
            <a:solidFill>
              <a:srgbClr val="FFFFFF">
                <a:alpha val="18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3" name="wdot"/>
          <p:cNvSpPr/>
          <p:nvPr/>
        </p:nvSpPr>
        <p:spPr>
          <a:xfrm>
            <a:off x="6705600" y="3429000"/>
            <a:ext cx="95250" cy="95250"/>
          </a:xfrm>
          <a:prstGeom prst="ellipse">
            <a:avLst/>
          </a:prstGeom>
          <a:solidFill>
            <a:srgbClr val="FF7070">
              <a:alpha val="80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4" name="wdot"/>
          <p:cNvSpPr/>
          <p:nvPr/>
        </p:nvSpPr>
        <p:spPr>
          <a:xfrm>
            <a:off x="6858000" y="3429000"/>
            <a:ext cx="95250" cy="95250"/>
          </a:xfrm>
          <a:prstGeom prst="ellipse">
            <a:avLst/>
          </a:prstGeom>
          <a:solidFill>
            <a:srgbClr val="FFC94D">
              <a:alpha val="80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5" name="wdot"/>
          <p:cNvSpPr/>
          <p:nvPr/>
        </p:nvSpPr>
        <p:spPr>
          <a:xfrm>
            <a:off x="7010400" y="3429000"/>
            <a:ext cx="95250" cy="95250"/>
          </a:xfrm>
          <a:prstGeom prst="ellipse">
            <a:avLst/>
          </a:prstGeom>
          <a:solidFill>
            <a:srgbClr val="4ADE9B">
              <a:alpha val="80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6" name="urlbar"/>
          <p:cNvSpPr/>
          <p:nvPr/>
        </p:nvSpPr>
        <p:spPr>
          <a:xfrm>
            <a:off x="6705600" y="3657600"/>
            <a:ext cx="4343400" cy="381000"/>
          </a:xfrm>
          <a:prstGeom prst="roundRect">
            <a:avLst>
              <a:gd name="adj" fmla="val 25000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3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7" name="url"/>
          <p:cNvSpPr txBox="1"/>
          <p:nvPr/>
        </p:nvSpPr>
        <p:spPr>
          <a:xfrm>
            <a:off x="6838950" y="3657600"/>
            <a:ext cx="40957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3ED0EE"/>
                </a:solidFill>
                <a:latin typeface="Consolas"/>
                <a:cs typeface="Consolas"/>
                <a:hlinkClick xmlns:r="http://schemas.openxmlformats.org/officeDocument/2006/relationships" r:id="rId3"/>
              </a:rPr>
              <a:t>http://plm.inetpsa.com/enovia/common/emxNavigator.jsp</a:t>
            </a:r>
          </a:p>
        </p:txBody>
      </p:sp>
      <p:sp>
        <p:nvSpPr>
          <p:cNvPr id="28" name="ucap"/>
          <p:cNvSpPr txBox="1"/>
          <p:nvPr/>
        </p:nvSpPr>
        <p:spPr>
          <a:xfrm>
            <a:off x="6705600" y="4133850"/>
            <a:ext cx="43434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61789A"/>
                </a:solidFill>
                <a:latin typeface="Segoe UI"/>
                <a:cs typeface="Segoe UI"/>
              </a:rPr>
              <a:t>Click to open  ·  intranet only</a:t>
            </a:r>
          </a:p>
        </p:txBody>
      </p:sp>
      <p:sp>
        <p:nvSpPr>
          <p:cNvPr id="29" name="b1"/>
          <p:cNvSpPr txBox="1"/>
          <p:nvPr/>
        </p:nvSpPr>
        <p:spPr>
          <a:xfrm>
            <a:off x="6515100" y="4762500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CBDAEC"/>
                </a:solidFill>
                <a:latin typeface="Segoe UI"/>
                <a:cs typeface="Segoe UI"/>
              </a:rPr>
              <a:t>Same platform, same login, same context.</a:t>
            </a:r>
          </a:p>
        </p:txBody>
      </p:sp>
      <p:sp>
        <p:nvSpPr>
          <p:cNvPr id="30" name="b2"/>
          <p:cNvSpPr txBox="1"/>
          <p:nvPr/>
        </p:nvSpPr>
        <p:spPr>
          <a:xfrm>
            <a:off x="6515100" y="5029200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150" dirty="0">
                <a:solidFill>
                  <a:srgbClr val="CBDAEC"/>
                </a:solidFill>
                <a:latin typeface="Segoe UI"/>
                <a:cs typeface="Segoe UI"/>
              </a:rPr>
              <a:t>Bookmark the address for daily use.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4ADE9B">
                  <a:alpha val="17000"/>
                </a:srgbClr>
              </a:gs>
              <a:gs pos="100000">
                <a:srgbClr val="4AD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4ADE9B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4ADE9B"/>
                </a:solidFill>
                <a:latin typeface="Segoe UI"/>
                <a:cs typeface="Segoe UI"/>
              </a:rPr>
              <a:t>Step 03 · First screen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962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3200" b="1" spc="-40" dirty="0">
                <a:solidFill>
                  <a:srgbClr val="FFFFFF"/>
                </a:solidFill>
                <a:latin typeface="Segoe UI"/>
                <a:cs typeface="Segoe UI"/>
              </a:rPr>
              <a:t>Pick your Security Context at launch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ADE9B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PLM opens on the splash screen and asks which context to use.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09 / 13</a:t>
            </a:r>
          </a:p>
        </p:txBody>
      </p:sp>
      <p:sp>
        <p:nvSpPr>
          <p:cNvPr id="13" name="card"/>
          <p:cNvSpPr/>
          <p:nvPr/>
        </p:nvSpPr>
        <p:spPr>
          <a:xfrm>
            <a:off x="647700" y="1828800"/>
            <a:ext cx="5219700" cy="3924300"/>
          </a:xfrm>
          <a:prstGeom prst="roundRect">
            <a:avLst>
              <a:gd name="adj" fmla="val 2912"/>
            </a:avLst>
          </a:prstGeom>
          <a:solidFill>
            <a:srgbClr val="FFFFFF">
              <a:alpha val="9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pic>
        <p:nvPicPr>
          <p:cNvPr id="14" name="context li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66900"/>
            <a:ext cx="5143500" cy="3848100"/>
          </a:xfrm>
          <a:prstGeom prst="roundRect">
            <a:avLst>
              <a:gd name="adj" fmla="val 1980"/>
            </a:avLst>
          </a:prstGeom>
          <a:ln w="12700" cap="rnd">
            <a:solidFill>
              <a:srgbClr val="FFFFFF">
                <a:alpha val="26000"/>
              </a:srgbClr>
            </a:solidFill>
            <a:round/>
          </a:ln>
          <a:effectLst>
            <a:outerShdw blurRad="247650" dist="76200" dir="5400000" rotWithShape="0">
              <a:srgbClr val="000814">
                <a:alpha val="40000"/>
              </a:srgbClr>
            </a:outerShdw>
          </a:effectLst>
        </p:spPr>
      </p:pic>
      <p:sp>
        <p:nvSpPr>
          <p:cNvPr id="15" name="cap"/>
          <p:cNvSpPr txBox="1"/>
          <p:nvPr/>
        </p:nvSpPr>
        <p:spPr>
          <a:xfrm>
            <a:off x="685800" y="5810250"/>
            <a:ext cx="5143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dirty="0">
                <a:solidFill>
                  <a:srgbClr val="61789A"/>
                </a:solidFill>
                <a:latin typeface="Segoe UI"/>
                <a:cs typeface="Segoe UI"/>
              </a:rPr>
              <a:t>The context list at launch — select one, then confirm.</a:t>
            </a:r>
          </a:p>
        </p:txBody>
      </p:sp>
      <p:sp>
        <p:nvSpPr>
          <p:cNvPr id="16" name="card"/>
          <p:cNvSpPr/>
          <p:nvPr/>
        </p:nvSpPr>
        <p:spPr>
          <a:xfrm>
            <a:off x="6248400" y="1866900"/>
            <a:ext cx="5257800" cy="1104900"/>
          </a:xfrm>
          <a:prstGeom prst="roundRect">
            <a:avLst>
              <a:gd name="adj" fmla="val 12068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7" name="sqbadge"/>
          <p:cNvSpPr/>
          <p:nvPr/>
        </p:nvSpPr>
        <p:spPr>
          <a:xfrm>
            <a:off x="6515100" y="209550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FF8A3D">
              <a:alpha val="15000"/>
            </a:srgbClr>
          </a:solidFill>
          <a:ln w="17780" cap="rnd">
            <a:solidFill>
              <a:srgbClr val="FF8A3D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8" name="sqbadgetxt"/>
          <p:cNvSpPr txBox="1"/>
          <p:nvPr/>
        </p:nvSpPr>
        <p:spPr>
          <a:xfrm>
            <a:off x="6515100" y="20955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8A3D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9" name="pt"/>
          <p:cNvSpPr txBox="1"/>
          <p:nvPr/>
        </p:nvSpPr>
        <p:spPr>
          <a:xfrm>
            <a:off x="7086600" y="20574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/>
                <a:cs typeface="Segoe UI"/>
              </a:rPr>
              <a:t>Every context you own is listed</a:t>
            </a:r>
          </a:p>
        </p:txBody>
      </p:sp>
      <p:sp>
        <p:nvSpPr>
          <p:cNvPr id="20" name="pb"/>
          <p:cNvSpPr txBox="1"/>
          <p:nvPr/>
        </p:nvSpPr>
        <p:spPr>
          <a:xfrm>
            <a:off x="7086600" y="2343150"/>
            <a:ext cx="4191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95AAC6"/>
                </a:solidFill>
                <a:latin typeface="Segoe UI"/>
                <a:cs typeface="Segoe UI"/>
              </a:rPr>
              <a:t>The list shows all Security Contexts assigned to you.</a:t>
            </a:r>
          </a:p>
        </p:txBody>
      </p:sp>
      <p:sp>
        <p:nvSpPr>
          <p:cNvPr id="21" name="card"/>
          <p:cNvSpPr/>
          <p:nvPr/>
        </p:nvSpPr>
        <p:spPr>
          <a:xfrm>
            <a:off x="6248400" y="3124200"/>
            <a:ext cx="5257800" cy="1104900"/>
          </a:xfrm>
          <a:prstGeom prst="roundRect">
            <a:avLst>
              <a:gd name="adj" fmla="val 12068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2" name="sqbadge"/>
          <p:cNvSpPr/>
          <p:nvPr/>
        </p:nvSpPr>
        <p:spPr>
          <a:xfrm>
            <a:off x="6515100" y="335280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3ED0EE">
              <a:alpha val="15000"/>
            </a:srgbClr>
          </a:solidFill>
          <a:ln w="17780" cap="rnd">
            <a:solidFill>
              <a:srgbClr val="3ED0EE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3" name="sqbadgetxt"/>
          <p:cNvSpPr txBox="1"/>
          <p:nvPr/>
        </p:nvSpPr>
        <p:spPr>
          <a:xfrm>
            <a:off x="6515100" y="3352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3ED0EE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24" name="pt"/>
          <p:cNvSpPr txBox="1"/>
          <p:nvPr/>
        </p:nvSpPr>
        <p:spPr>
          <a:xfrm>
            <a:off x="7086600" y="3314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/>
                <a:cs typeface="Segoe UI"/>
              </a:rPr>
              <a:t>Select the one for your project</a:t>
            </a:r>
          </a:p>
        </p:txBody>
      </p:sp>
      <p:sp>
        <p:nvSpPr>
          <p:cNvPr id="25" name="pb"/>
          <p:cNvSpPr txBox="1"/>
          <p:nvPr/>
        </p:nvSpPr>
        <p:spPr>
          <a:xfrm>
            <a:off x="7086600" y="3600450"/>
            <a:ext cx="4191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95AAC6"/>
                </a:solidFill>
                <a:latin typeface="Segoe UI"/>
                <a:cs typeface="Segoe UI"/>
              </a:rPr>
              <a:t>Match the last part of the string to the project you are working on.</a:t>
            </a:r>
          </a:p>
        </p:txBody>
      </p:sp>
      <p:sp>
        <p:nvSpPr>
          <p:cNvPr id="26" name="card"/>
          <p:cNvSpPr/>
          <p:nvPr/>
        </p:nvSpPr>
        <p:spPr>
          <a:xfrm>
            <a:off x="6248400" y="4381500"/>
            <a:ext cx="5257800" cy="1104900"/>
          </a:xfrm>
          <a:prstGeom prst="roundRect">
            <a:avLst>
              <a:gd name="adj" fmla="val 12068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7" name="sqbadge"/>
          <p:cNvSpPr/>
          <p:nvPr/>
        </p:nvSpPr>
        <p:spPr>
          <a:xfrm>
            <a:off x="6515100" y="461010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4ADE9B">
              <a:alpha val="15000"/>
            </a:srgbClr>
          </a:solidFill>
          <a:ln w="17780" cap="rnd">
            <a:solidFill>
              <a:srgbClr val="4ADE9B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8" name="sqbadgetxt"/>
          <p:cNvSpPr txBox="1"/>
          <p:nvPr/>
        </p:nvSpPr>
        <p:spPr>
          <a:xfrm>
            <a:off x="6515100" y="46101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4ADE9B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9" name="pt"/>
          <p:cNvSpPr txBox="1"/>
          <p:nvPr/>
        </p:nvSpPr>
        <p:spPr>
          <a:xfrm>
            <a:off x="7086600" y="45720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Segoe UI"/>
                <a:cs typeface="Segoe UI"/>
              </a:rPr>
              <a:t>Confirm with Terminé</a:t>
            </a:r>
          </a:p>
        </p:txBody>
      </p:sp>
      <p:sp>
        <p:nvSpPr>
          <p:cNvPr id="30" name="pb"/>
          <p:cNvSpPr txBox="1"/>
          <p:nvPr/>
        </p:nvSpPr>
        <p:spPr>
          <a:xfrm>
            <a:off x="7086600" y="4857750"/>
            <a:ext cx="41910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en-US" sz="1200" dirty="0">
                <a:solidFill>
                  <a:srgbClr val="95AAC6"/>
                </a:solidFill>
                <a:latin typeface="Segoe UI"/>
                <a:cs typeface="Segoe UI"/>
              </a:rPr>
              <a:t>The button closes the selection and opens the PLM home page.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A78BFA">
                  <a:alpha val="170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A78BFA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A78BFA"/>
                </a:solidFill>
                <a:latin typeface="Segoe UI"/>
                <a:cs typeface="Segoe UI"/>
              </a:rPr>
              <a:t>Step 04 · Interface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962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3200" b="1" spc="-40" dirty="0">
                <a:solidFill>
                  <a:srgbClr val="FFFFFF"/>
                </a:solidFill>
                <a:latin typeface="Segoe UI"/>
                <a:cs typeface="Segoe UI"/>
              </a:rPr>
              <a:t>The home page at a glance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After login you land on the PLM home page. Everything starts from the toolbar.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10 / 13</a:t>
            </a:r>
          </a:p>
        </p:txBody>
      </p:sp>
      <p:sp>
        <p:nvSpPr>
          <p:cNvPr id="13" name="card"/>
          <p:cNvSpPr/>
          <p:nvPr/>
        </p:nvSpPr>
        <p:spPr>
          <a:xfrm>
            <a:off x="647700" y="1828800"/>
            <a:ext cx="6781800" cy="4276725"/>
          </a:xfrm>
          <a:prstGeom prst="roundRect">
            <a:avLst>
              <a:gd name="adj" fmla="val 2672"/>
            </a:avLst>
          </a:prstGeom>
          <a:solidFill>
            <a:srgbClr val="FFFFFF">
              <a:alpha val="9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pic>
        <p:nvPicPr>
          <p:cNvPr id="14" name="PLM home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66900"/>
            <a:ext cx="6705600" cy="4200525"/>
          </a:xfrm>
          <a:prstGeom prst="roundRect">
            <a:avLst>
              <a:gd name="adj" fmla="val 1360"/>
            </a:avLst>
          </a:prstGeom>
          <a:ln w="12700" cap="rnd">
            <a:solidFill>
              <a:srgbClr val="FFFFFF">
                <a:alpha val="22000"/>
              </a:srgbClr>
            </a:solidFill>
            <a:round/>
          </a:ln>
          <a:effectLst>
            <a:outerShdw blurRad="247650" dist="76200" dir="5400000" rotWithShape="0">
              <a:srgbClr val="000814">
                <a:alpha val="40000"/>
              </a:srgbClr>
            </a:outerShdw>
          </a:effectLst>
        </p:spPr>
      </p:pic>
      <p:sp>
        <p:nvSpPr>
          <p:cNvPr id="15" name="anon"/>
          <p:cNvSpPr/>
          <p:nvPr/>
        </p:nvSpPr>
        <p:spPr>
          <a:xfrm>
            <a:off x="5153025" y="1895475"/>
            <a:ext cx="1485900" cy="285750"/>
          </a:xfrm>
          <a:prstGeom prst="roundRect">
            <a:avLst>
              <a:gd name="adj" fmla="val 20000"/>
            </a:avLst>
          </a:prstGeom>
          <a:solidFill>
            <a:srgbClr val="0A1E38">
              <a:alpha val="92000"/>
            </a:srgbClr>
          </a:solidFill>
          <a:ln w="12700" cap="rnd">
            <a:solidFill>
              <a:srgbClr val="FFFFFF">
                <a:alpha val="22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6" name="anontxt"/>
          <p:cNvSpPr txBox="1"/>
          <p:nvPr/>
        </p:nvSpPr>
        <p:spPr>
          <a:xfrm>
            <a:off x="5153025" y="1895475"/>
            <a:ext cx="1485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850" dirty="0">
                <a:solidFill>
                  <a:srgbClr val="CBDAEC"/>
                </a:solidFill>
                <a:latin typeface="Segoe UI"/>
                <a:cs typeface="Segoe UI"/>
              </a:rPr>
              <a:t>your name · your role</a:t>
            </a:r>
          </a:p>
        </p:txBody>
      </p:sp>
      <p:sp>
        <p:nvSpPr>
          <p:cNvPr id="17" name="cap"/>
          <p:cNvSpPr txBox="1"/>
          <p:nvPr/>
        </p:nvSpPr>
        <p:spPr>
          <a:xfrm>
            <a:off x="685800" y="6153150"/>
            <a:ext cx="67056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61789A"/>
                </a:solidFill>
                <a:latin typeface="Segoe UI"/>
                <a:cs typeface="Segoe UI"/>
              </a:rPr>
              <a:t>PLM home page after login — the toolbar runs across the top.</a:t>
            </a:r>
          </a:p>
        </p:txBody>
      </p:sp>
      <p:sp>
        <p:nvSpPr>
          <p:cNvPr id="18" name="zone"/>
          <p:cNvSpPr/>
          <p:nvPr/>
        </p:nvSpPr>
        <p:spPr>
          <a:xfrm>
            <a:off x="685800" y="1866900"/>
            <a:ext cx="2085975" cy="390525"/>
          </a:xfrm>
          <a:prstGeom prst="roundRect">
            <a:avLst>
              <a:gd name="adj" fmla="val 14634"/>
            </a:avLst>
          </a:prstGeom>
          <a:noFill/>
          <a:ln w="25400" cap="rnd">
            <a:solidFill>
              <a:srgbClr val="FF8A3D">
                <a:alpha val="9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9" name="badge"/>
          <p:cNvSpPr/>
          <p:nvPr/>
        </p:nvSpPr>
        <p:spPr>
          <a:xfrm>
            <a:off x="2619375" y="2200275"/>
            <a:ext cx="247650" cy="24765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glow rad="85725">
              <a:srgbClr val="FF8A3D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" name="badgetxt"/>
          <p:cNvSpPr txBox="1"/>
          <p:nvPr/>
        </p:nvSpPr>
        <p:spPr>
          <a:xfrm>
            <a:off x="2619375" y="22002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61423"/>
                </a:solidFill>
                <a:latin typeface="Segoe UI"/>
                <a:cs typeface="Segoe UI"/>
              </a:rPr>
              <a:t>A</a:t>
            </a:r>
          </a:p>
        </p:txBody>
      </p:sp>
      <p:sp>
        <p:nvSpPr>
          <p:cNvPr id="21" name="card"/>
          <p:cNvSpPr/>
          <p:nvPr/>
        </p:nvSpPr>
        <p:spPr>
          <a:xfrm>
            <a:off x="7734300" y="1905000"/>
            <a:ext cx="3771900" cy="1257300"/>
          </a:xfrm>
          <a:prstGeom prst="roundRect">
            <a:avLst>
              <a:gd name="adj" fmla="val 10606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2" name="badge"/>
          <p:cNvSpPr/>
          <p:nvPr/>
        </p:nvSpPr>
        <p:spPr>
          <a:xfrm>
            <a:off x="7962900" y="2133600"/>
            <a:ext cx="342900" cy="3429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glow rad="85725">
              <a:srgbClr val="FF8A3D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3" name="badgetxt"/>
          <p:cNvSpPr txBox="1"/>
          <p:nvPr/>
        </p:nvSpPr>
        <p:spPr>
          <a:xfrm>
            <a:off x="7962900" y="21336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061423"/>
                </a:solidFill>
                <a:latin typeface="Segoe UI"/>
                <a:cs typeface="Segoe UI"/>
              </a:rPr>
              <a:t>A</a:t>
            </a:r>
          </a:p>
        </p:txBody>
      </p:sp>
      <p:sp>
        <p:nvSpPr>
          <p:cNvPr id="24" name="lt"/>
          <p:cNvSpPr txBox="1"/>
          <p:nvPr/>
        </p:nvSpPr>
        <p:spPr>
          <a:xfrm>
            <a:off x="8420100" y="2114550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550" b="1" dirty="0">
                <a:solidFill>
                  <a:srgbClr val="FFFFFF"/>
                </a:solidFill>
                <a:latin typeface="Segoe UI"/>
                <a:cs typeface="Segoe UI"/>
              </a:rPr>
              <a:t>Actions &amp; navigation</a:t>
            </a:r>
          </a:p>
        </p:txBody>
      </p:sp>
      <p:sp>
        <p:nvSpPr>
          <p:cNvPr id="25" name="lb"/>
          <p:cNvSpPr txBox="1"/>
          <p:nvPr/>
        </p:nvSpPr>
        <p:spPr>
          <a:xfrm>
            <a:off x="8420100" y="2419350"/>
            <a:ext cx="285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95AAC6"/>
                </a:solidFill>
                <a:latin typeface="Segoe UI"/>
                <a:cs typeface="Segoe UI"/>
              </a:rPr>
              <a:t>My Enovia, Actions, Tools, PLM Indicators Portal, Previous / Next page.</a:t>
            </a:r>
          </a:p>
        </p:txBody>
      </p:sp>
      <p:sp>
        <p:nvSpPr>
          <p:cNvPr id="26" name="zone"/>
          <p:cNvSpPr/>
          <p:nvPr/>
        </p:nvSpPr>
        <p:spPr>
          <a:xfrm>
            <a:off x="3457575" y="1866900"/>
            <a:ext cx="1562100" cy="390525"/>
          </a:xfrm>
          <a:prstGeom prst="roundRect">
            <a:avLst>
              <a:gd name="adj" fmla="val 14634"/>
            </a:avLst>
          </a:prstGeom>
          <a:noFill/>
          <a:ln w="25400" cap="rnd">
            <a:solidFill>
              <a:srgbClr val="3ED0EE">
                <a:alpha val="9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7" name="badge"/>
          <p:cNvSpPr/>
          <p:nvPr/>
        </p:nvSpPr>
        <p:spPr>
          <a:xfrm>
            <a:off x="4867275" y="2200275"/>
            <a:ext cx="247650" cy="247650"/>
          </a:xfrm>
          <a:prstGeom prst="ellipse">
            <a:avLst/>
          </a:prstGeom>
          <a:solidFill>
            <a:srgbClr val="3ED0EE"/>
          </a:solidFill>
          <a:ln>
            <a:noFill/>
          </a:ln>
          <a:effectLst>
            <a:glow rad="85725">
              <a:srgbClr val="3ED0EE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8" name="badgetxt"/>
          <p:cNvSpPr txBox="1"/>
          <p:nvPr/>
        </p:nvSpPr>
        <p:spPr>
          <a:xfrm>
            <a:off x="4867275" y="22002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61423"/>
                </a:solidFill>
                <a:latin typeface="Segoe UI"/>
                <a:cs typeface="Segoe UI"/>
              </a:rPr>
              <a:t>B</a:t>
            </a:r>
          </a:p>
        </p:txBody>
      </p:sp>
      <p:sp>
        <p:nvSpPr>
          <p:cNvPr id="29" name="card"/>
          <p:cNvSpPr/>
          <p:nvPr/>
        </p:nvSpPr>
        <p:spPr>
          <a:xfrm>
            <a:off x="7734300" y="3314700"/>
            <a:ext cx="3771900" cy="1257300"/>
          </a:xfrm>
          <a:prstGeom prst="roundRect">
            <a:avLst>
              <a:gd name="adj" fmla="val 10606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0" name="badge"/>
          <p:cNvSpPr/>
          <p:nvPr/>
        </p:nvSpPr>
        <p:spPr>
          <a:xfrm>
            <a:off x="7962900" y="3543300"/>
            <a:ext cx="342900" cy="342900"/>
          </a:xfrm>
          <a:prstGeom prst="ellipse">
            <a:avLst/>
          </a:prstGeom>
          <a:solidFill>
            <a:srgbClr val="3ED0EE"/>
          </a:solidFill>
          <a:ln>
            <a:noFill/>
          </a:ln>
          <a:effectLst>
            <a:glow rad="85725">
              <a:srgbClr val="3ED0EE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1" name="badgetxt"/>
          <p:cNvSpPr txBox="1"/>
          <p:nvPr/>
        </p:nvSpPr>
        <p:spPr>
          <a:xfrm>
            <a:off x="7962900" y="35433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061423"/>
                </a:solidFill>
                <a:latin typeface="Segoe UI"/>
                <a:cs typeface="Segoe UI"/>
              </a:rPr>
              <a:t>B</a:t>
            </a:r>
          </a:p>
        </p:txBody>
      </p:sp>
      <p:sp>
        <p:nvSpPr>
          <p:cNvPr id="32" name="lt"/>
          <p:cNvSpPr txBox="1"/>
          <p:nvPr/>
        </p:nvSpPr>
        <p:spPr>
          <a:xfrm>
            <a:off x="8420100" y="3524250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550" b="1" dirty="0">
                <a:solidFill>
                  <a:srgbClr val="FFFFFF"/>
                </a:solidFill>
                <a:latin typeface="Segoe UI"/>
                <a:cs typeface="Segoe UI"/>
              </a:rPr>
              <a:t>Search tools</a:t>
            </a:r>
          </a:p>
        </p:txBody>
      </p:sp>
      <p:sp>
        <p:nvSpPr>
          <p:cNvPr id="33" name="lb"/>
          <p:cNvSpPr txBox="1"/>
          <p:nvPr/>
        </p:nvSpPr>
        <p:spPr>
          <a:xfrm>
            <a:off x="8420100" y="3829050"/>
            <a:ext cx="285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95AAC6"/>
                </a:solidFill>
                <a:latin typeface="Segoe UI"/>
                <a:cs typeface="Segoe UI"/>
              </a:rPr>
              <a:t>The quick search field and the search icons beside it.</a:t>
            </a:r>
          </a:p>
        </p:txBody>
      </p:sp>
      <p:sp>
        <p:nvSpPr>
          <p:cNvPr id="34" name="zone"/>
          <p:cNvSpPr/>
          <p:nvPr/>
        </p:nvSpPr>
        <p:spPr>
          <a:xfrm>
            <a:off x="6667500" y="1866900"/>
            <a:ext cx="723900" cy="390525"/>
          </a:xfrm>
          <a:prstGeom prst="roundRect">
            <a:avLst>
              <a:gd name="adj" fmla="val 14634"/>
            </a:avLst>
          </a:prstGeom>
          <a:noFill/>
          <a:ln w="25400" cap="rnd">
            <a:solidFill>
              <a:srgbClr val="4ADE9B">
                <a:alpha val="9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5" name="badge"/>
          <p:cNvSpPr/>
          <p:nvPr/>
        </p:nvSpPr>
        <p:spPr>
          <a:xfrm>
            <a:off x="7124700" y="2200275"/>
            <a:ext cx="247650" cy="247650"/>
          </a:xfrm>
          <a:prstGeom prst="ellipse">
            <a:avLst/>
          </a:prstGeom>
          <a:solidFill>
            <a:srgbClr val="4ADE9B"/>
          </a:solidFill>
          <a:ln>
            <a:noFill/>
          </a:ln>
          <a:effectLst>
            <a:glow rad="85725">
              <a:srgbClr val="4ADE9B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6" name="badgetxt"/>
          <p:cNvSpPr txBox="1"/>
          <p:nvPr/>
        </p:nvSpPr>
        <p:spPr>
          <a:xfrm>
            <a:off x="7124700" y="2200275"/>
            <a:ext cx="2476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061423"/>
                </a:solidFill>
                <a:latin typeface="Segoe UI"/>
                <a:cs typeface="Segoe UI"/>
              </a:rPr>
              <a:t>C</a:t>
            </a:r>
          </a:p>
        </p:txBody>
      </p:sp>
      <p:sp>
        <p:nvSpPr>
          <p:cNvPr id="37" name="card"/>
          <p:cNvSpPr/>
          <p:nvPr/>
        </p:nvSpPr>
        <p:spPr>
          <a:xfrm>
            <a:off x="7734300" y="4724400"/>
            <a:ext cx="3771900" cy="1257300"/>
          </a:xfrm>
          <a:prstGeom prst="roundRect">
            <a:avLst>
              <a:gd name="adj" fmla="val 10606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8" name="badge"/>
          <p:cNvSpPr/>
          <p:nvPr/>
        </p:nvSpPr>
        <p:spPr>
          <a:xfrm>
            <a:off x="7962900" y="4953000"/>
            <a:ext cx="342900" cy="342900"/>
          </a:xfrm>
          <a:prstGeom prst="ellipse">
            <a:avLst/>
          </a:prstGeom>
          <a:solidFill>
            <a:srgbClr val="4ADE9B"/>
          </a:solidFill>
          <a:ln>
            <a:noFill/>
          </a:ln>
          <a:effectLst>
            <a:glow rad="85725">
              <a:srgbClr val="4ADE9B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9" name="badgetxt"/>
          <p:cNvSpPr txBox="1"/>
          <p:nvPr/>
        </p:nvSpPr>
        <p:spPr>
          <a:xfrm>
            <a:off x="7962900" y="49530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061423"/>
                </a:solidFill>
                <a:latin typeface="Segoe UI"/>
                <a:cs typeface="Segoe UI"/>
              </a:rPr>
              <a:t>C</a:t>
            </a:r>
          </a:p>
        </p:txBody>
      </p:sp>
      <p:sp>
        <p:nvSpPr>
          <p:cNvPr id="40" name="lt"/>
          <p:cNvSpPr txBox="1"/>
          <p:nvPr/>
        </p:nvSpPr>
        <p:spPr>
          <a:xfrm>
            <a:off x="8420100" y="4933950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550" b="1" dirty="0">
                <a:solidFill>
                  <a:srgbClr val="FFFFFF"/>
                </a:solidFill>
                <a:latin typeface="Segoe UI"/>
                <a:cs typeface="Segoe UI"/>
              </a:rPr>
              <a:t>Session icons</a:t>
            </a:r>
          </a:p>
        </p:txBody>
      </p:sp>
      <p:sp>
        <p:nvSpPr>
          <p:cNvPr id="41" name="lb"/>
          <p:cNvSpPr txBox="1"/>
          <p:nvPr/>
        </p:nvSpPr>
        <p:spPr>
          <a:xfrm>
            <a:off x="8420100" y="5238750"/>
            <a:ext cx="285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95AAC6"/>
                </a:solidFill>
                <a:latin typeface="Segoe UI"/>
                <a:cs typeface="Segoe UI"/>
              </a:rPr>
              <a:t>Return to the home page, platform information, and Exit PLM.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A78BFA">
                  <a:alpha val="17000"/>
                </a:srgbClr>
              </a:gs>
              <a:gs pos="100000">
                <a:srgbClr val="A78BF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A78BFA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A78BFA"/>
                </a:solidFill>
                <a:latin typeface="Segoe UI"/>
                <a:cs typeface="Segoe UI"/>
              </a:rPr>
              <a:t>Step 04 · Toolbar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962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3200" b="1" spc="-40" dirty="0">
                <a:solidFill>
                  <a:srgbClr val="FFFFFF"/>
                </a:solidFill>
                <a:latin typeface="Segoe UI"/>
                <a:cs typeface="Segoe UI"/>
              </a:rPr>
              <a:t>Zone by zone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A78BFA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The toolbar never changes — learn it once.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11 / 13</a:t>
            </a:r>
          </a:p>
        </p:txBody>
      </p:sp>
      <p:sp>
        <p:nvSpPr>
          <p:cNvPr id="13" name="card"/>
          <p:cNvSpPr/>
          <p:nvPr/>
        </p:nvSpPr>
        <p:spPr>
          <a:xfrm>
            <a:off x="685800" y="1866900"/>
            <a:ext cx="3429000" cy="2819400"/>
          </a:xfrm>
          <a:prstGeom prst="roundRect">
            <a:avLst>
              <a:gd name="adj" fmla="val 4729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4" name="badge"/>
          <p:cNvSpPr/>
          <p:nvPr/>
        </p:nvSpPr>
        <p:spPr>
          <a:xfrm>
            <a:off x="952500" y="2114550"/>
            <a:ext cx="381000" cy="3810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glow rad="85725">
              <a:srgbClr val="FF8A3D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5" name="badgetxt"/>
          <p:cNvSpPr txBox="1"/>
          <p:nvPr/>
        </p:nvSpPr>
        <p:spPr>
          <a:xfrm>
            <a:off x="952500" y="21145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61423"/>
                </a:solidFill>
                <a:latin typeface="Segoe UI"/>
                <a:cs typeface="Segoe UI"/>
              </a:rPr>
              <a:t>A</a:t>
            </a:r>
          </a:p>
        </p:txBody>
      </p:sp>
      <p:sp>
        <p:nvSpPr>
          <p:cNvPr id="16" name="zl"/>
          <p:cNvSpPr txBox="1"/>
          <p:nvPr/>
        </p:nvSpPr>
        <p:spPr>
          <a:xfrm>
            <a:off x="1447800" y="21336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100" b="1" spc="220" cap="all" dirty="0">
                <a:solidFill>
                  <a:srgbClr val="FF8A3D"/>
                </a:solidFill>
                <a:latin typeface="Segoe UI"/>
                <a:cs typeface="Segoe UI"/>
              </a:rPr>
              <a:t>Zone A</a:t>
            </a:r>
          </a:p>
        </p:txBody>
      </p:sp>
      <p:sp>
        <p:nvSpPr>
          <p:cNvPr id="17" name="zt"/>
          <p:cNvSpPr txBox="1"/>
          <p:nvPr/>
        </p:nvSpPr>
        <p:spPr>
          <a:xfrm>
            <a:off x="1447800" y="23431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Actions &amp; navigation</a:t>
            </a:r>
          </a:p>
        </p:txBody>
      </p:sp>
      <p:sp>
        <p:nvSpPr>
          <p:cNvPr id="18" name="dot"/>
          <p:cNvSpPr/>
          <p:nvPr/>
        </p:nvSpPr>
        <p:spPr>
          <a:xfrm>
            <a:off x="952500" y="2847975"/>
            <a:ext cx="66675" cy="66675"/>
          </a:xfrm>
          <a:prstGeom prst="ellipse">
            <a:avLst/>
          </a:prstGeom>
          <a:solidFill>
            <a:srgbClr val="FF8A3D">
              <a:alpha val="85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9" name="item"/>
          <p:cNvSpPr txBox="1"/>
          <p:nvPr/>
        </p:nvSpPr>
        <p:spPr>
          <a:xfrm>
            <a:off x="1123950" y="274320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CBDAEC"/>
                </a:solidFill>
                <a:latin typeface="Segoe UI"/>
                <a:cs typeface="Segoe UI"/>
              </a:rPr>
              <a:t>My Enovia</a:t>
            </a:r>
          </a:p>
        </p:txBody>
      </p:sp>
      <p:sp>
        <p:nvSpPr>
          <p:cNvPr id="20" name="dot"/>
          <p:cNvSpPr/>
          <p:nvPr/>
        </p:nvSpPr>
        <p:spPr>
          <a:xfrm>
            <a:off x="952500" y="3133725"/>
            <a:ext cx="66675" cy="66675"/>
          </a:xfrm>
          <a:prstGeom prst="ellipse">
            <a:avLst/>
          </a:prstGeom>
          <a:solidFill>
            <a:srgbClr val="FF8A3D">
              <a:alpha val="85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1" name="item"/>
          <p:cNvSpPr txBox="1"/>
          <p:nvPr/>
        </p:nvSpPr>
        <p:spPr>
          <a:xfrm>
            <a:off x="1123950" y="302895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CBDAEC"/>
                </a:solidFill>
                <a:latin typeface="Segoe UI"/>
                <a:cs typeface="Segoe UI"/>
              </a:rPr>
              <a:t>Actions</a:t>
            </a:r>
          </a:p>
        </p:txBody>
      </p:sp>
      <p:sp>
        <p:nvSpPr>
          <p:cNvPr id="22" name="dot"/>
          <p:cNvSpPr/>
          <p:nvPr/>
        </p:nvSpPr>
        <p:spPr>
          <a:xfrm>
            <a:off x="952500" y="3419475"/>
            <a:ext cx="66675" cy="66675"/>
          </a:xfrm>
          <a:prstGeom prst="ellipse">
            <a:avLst/>
          </a:prstGeom>
          <a:solidFill>
            <a:srgbClr val="FF8A3D">
              <a:alpha val="85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3" name="item"/>
          <p:cNvSpPr txBox="1"/>
          <p:nvPr/>
        </p:nvSpPr>
        <p:spPr>
          <a:xfrm>
            <a:off x="1123950" y="331470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CBDAEC"/>
                </a:solidFill>
                <a:latin typeface="Segoe UI"/>
                <a:cs typeface="Segoe UI"/>
              </a:rPr>
              <a:t>Tools</a:t>
            </a:r>
          </a:p>
        </p:txBody>
      </p:sp>
      <p:sp>
        <p:nvSpPr>
          <p:cNvPr id="24" name="dot"/>
          <p:cNvSpPr/>
          <p:nvPr/>
        </p:nvSpPr>
        <p:spPr>
          <a:xfrm>
            <a:off x="952500" y="3705225"/>
            <a:ext cx="66675" cy="66675"/>
          </a:xfrm>
          <a:prstGeom prst="ellipse">
            <a:avLst/>
          </a:prstGeom>
          <a:solidFill>
            <a:srgbClr val="FF8A3D">
              <a:alpha val="85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5" name="item"/>
          <p:cNvSpPr txBox="1"/>
          <p:nvPr/>
        </p:nvSpPr>
        <p:spPr>
          <a:xfrm>
            <a:off x="1123950" y="360045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CBDAEC"/>
                </a:solidFill>
                <a:latin typeface="Segoe UI"/>
                <a:cs typeface="Segoe UI"/>
              </a:rPr>
              <a:t>PLM Indicators Portal</a:t>
            </a:r>
          </a:p>
        </p:txBody>
      </p:sp>
      <p:sp>
        <p:nvSpPr>
          <p:cNvPr id="26" name="dot"/>
          <p:cNvSpPr/>
          <p:nvPr/>
        </p:nvSpPr>
        <p:spPr>
          <a:xfrm>
            <a:off x="952500" y="3990975"/>
            <a:ext cx="66675" cy="66675"/>
          </a:xfrm>
          <a:prstGeom prst="ellipse">
            <a:avLst/>
          </a:prstGeom>
          <a:solidFill>
            <a:srgbClr val="FF8A3D">
              <a:alpha val="85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7" name="item"/>
          <p:cNvSpPr txBox="1"/>
          <p:nvPr/>
        </p:nvSpPr>
        <p:spPr>
          <a:xfrm>
            <a:off x="1123950" y="388620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CBDAEC"/>
                </a:solidFill>
                <a:latin typeface="Segoe UI"/>
                <a:cs typeface="Segoe UI"/>
              </a:rPr>
              <a:t>Previous / Next page</a:t>
            </a:r>
          </a:p>
        </p:txBody>
      </p:sp>
      <p:sp>
        <p:nvSpPr>
          <p:cNvPr id="28" name="zn"/>
          <p:cNvSpPr txBox="1"/>
          <p:nvPr/>
        </p:nvSpPr>
        <p:spPr>
          <a:xfrm>
            <a:off x="952500" y="41529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61789A"/>
                </a:solidFill>
                <a:latin typeface="Segoe UI"/>
                <a:cs typeface="Segoe UI"/>
              </a:rPr>
              <a:t>The two round arrows are the application’s own back and forward.</a:t>
            </a:r>
          </a:p>
        </p:txBody>
      </p:sp>
      <p:sp>
        <p:nvSpPr>
          <p:cNvPr id="29" name="card"/>
          <p:cNvSpPr/>
          <p:nvPr/>
        </p:nvSpPr>
        <p:spPr>
          <a:xfrm>
            <a:off x="4381500" y="1866900"/>
            <a:ext cx="3429000" cy="2819400"/>
          </a:xfrm>
          <a:prstGeom prst="roundRect">
            <a:avLst>
              <a:gd name="adj" fmla="val 4729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0" name="badge"/>
          <p:cNvSpPr/>
          <p:nvPr/>
        </p:nvSpPr>
        <p:spPr>
          <a:xfrm>
            <a:off x="4648200" y="2114550"/>
            <a:ext cx="381000" cy="381000"/>
          </a:xfrm>
          <a:prstGeom prst="ellipse">
            <a:avLst/>
          </a:prstGeom>
          <a:solidFill>
            <a:srgbClr val="3ED0EE"/>
          </a:solidFill>
          <a:ln>
            <a:noFill/>
          </a:ln>
          <a:effectLst>
            <a:glow rad="85725">
              <a:srgbClr val="3ED0EE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1" name="badgetxt"/>
          <p:cNvSpPr txBox="1"/>
          <p:nvPr/>
        </p:nvSpPr>
        <p:spPr>
          <a:xfrm>
            <a:off x="4648200" y="21145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61423"/>
                </a:solidFill>
                <a:latin typeface="Segoe UI"/>
                <a:cs typeface="Segoe UI"/>
              </a:rPr>
              <a:t>B</a:t>
            </a:r>
          </a:p>
        </p:txBody>
      </p:sp>
      <p:sp>
        <p:nvSpPr>
          <p:cNvPr id="32" name="zl"/>
          <p:cNvSpPr txBox="1"/>
          <p:nvPr/>
        </p:nvSpPr>
        <p:spPr>
          <a:xfrm>
            <a:off x="5143500" y="21336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100" b="1" spc="220" cap="all" dirty="0">
                <a:solidFill>
                  <a:srgbClr val="3ED0EE"/>
                </a:solidFill>
                <a:latin typeface="Segoe UI"/>
                <a:cs typeface="Segoe UI"/>
              </a:rPr>
              <a:t>Zone B</a:t>
            </a:r>
          </a:p>
        </p:txBody>
      </p:sp>
      <p:sp>
        <p:nvSpPr>
          <p:cNvPr id="33" name="zt"/>
          <p:cNvSpPr txBox="1"/>
          <p:nvPr/>
        </p:nvSpPr>
        <p:spPr>
          <a:xfrm>
            <a:off x="5143500" y="23431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Search tools</a:t>
            </a:r>
          </a:p>
        </p:txBody>
      </p:sp>
      <p:sp>
        <p:nvSpPr>
          <p:cNvPr id="34" name="dot"/>
          <p:cNvSpPr/>
          <p:nvPr/>
        </p:nvSpPr>
        <p:spPr>
          <a:xfrm>
            <a:off x="4648200" y="2847975"/>
            <a:ext cx="66675" cy="66675"/>
          </a:xfrm>
          <a:prstGeom prst="ellipse">
            <a:avLst/>
          </a:prstGeom>
          <a:solidFill>
            <a:srgbClr val="3ED0EE">
              <a:alpha val="85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5" name="item"/>
          <p:cNvSpPr txBox="1"/>
          <p:nvPr/>
        </p:nvSpPr>
        <p:spPr>
          <a:xfrm>
            <a:off x="4819650" y="274320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CBDAEC"/>
                </a:solidFill>
                <a:latin typeface="Segoe UI"/>
                <a:cs typeface="Segoe UI"/>
              </a:rPr>
              <a:t>Quick search field</a:t>
            </a:r>
          </a:p>
        </p:txBody>
      </p:sp>
      <p:sp>
        <p:nvSpPr>
          <p:cNvPr id="36" name="dot"/>
          <p:cNvSpPr/>
          <p:nvPr/>
        </p:nvSpPr>
        <p:spPr>
          <a:xfrm>
            <a:off x="4648200" y="3133725"/>
            <a:ext cx="66675" cy="66675"/>
          </a:xfrm>
          <a:prstGeom prst="ellipse">
            <a:avLst/>
          </a:prstGeom>
          <a:solidFill>
            <a:srgbClr val="3ED0EE">
              <a:alpha val="85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7" name="item"/>
          <p:cNvSpPr txBox="1"/>
          <p:nvPr/>
        </p:nvSpPr>
        <p:spPr>
          <a:xfrm>
            <a:off x="4819650" y="302895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CBDAEC"/>
                </a:solidFill>
                <a:latin typeface="Segoe UI"/>
                <a:cs typeface="Segoe UI"/>
              </a:rPr>
              <a:t>Search icons</a:t>
            </a:r>
          </a:p>
        </p:txBody>
      </p:sp>
      <p:sp>
        <p:nvSpPr>
          <p:cNvPr id="38" name="zn"/>
          <p:cNvSpPr txBox="1"/>
          <p:nvPr/>
        </p:nvSpPr>
        <p:spPr>
          <a:xfrm>
            <a:off x="4648200" y="41529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61789A"/>
                </a:solidFill>
                <a:latin typeface="Segoe UI"/>
                <a:cs typeface="Segoe UI"/>
              </a:rPr>
              <a:t>Type here to find objects without leaving the page.</a:t>
            </a:r>
          </a:p>
        </p:txBody>
      </p:sp>
      <p:sp>
        <p:nvSpPr>
          <p:cNvPr id="39" name="card"/>
          <p:cNvSpPr/>
          <p:nvPr/>
        </p:nvSpPr>
        <p:spPr>
          <a:xfrm>
            <a:off x="8077200" y="1866900"/>
            <a:ext cx="3429000" cy="2819400"/>
          </a:xfrm>
          <a:prstGeom prst="roundRect">
            <a:avLst>
              <a:gd name="adj" fmla="val 4729"/>
            </a:avLst>
          </a:prstGeom>
          <a:solidFill>
            <a:srgbClr val="FFFFFF">
              <a:alpha val="6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0" name="badge"/>
          <p:cNvSpPr/>
          <p:nvPr/>
        </p:nvSpPr>
        <p:spPr>
          <a:xfrm>
            <a:off x="8343900" y="2114550"/>
            <a:ext cx="381000" cy="381000"/>
          </a:xfrm>
          <a:prstGeom prst="ellipse">
            <a:avLst/>
          </a:prstGeom>
          <a:solidFill>
            <a:srgbClr val="4ADE9B"/>
          </a:solidFill>
          <a:ln>
            <a:noFill/>
          </a:ln>
          <a:effectLst>
            <a:glow rad="85725">
              <a:srgbClr val="4ADE9B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1" name="badgetxt"/>
          <p:cNvSpPr txBox="1"/>
          <p:nvPr/>
        </p:nvSpPr>
        <p:spPr>
          <a:xfrm>
            <a:off x="8343900" y="211455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61423"/>
                </a:solidFill>
                <a:latin typeface="Segoe UI"/>
                <a:cs typeface="Segoe UI"/>
              </a:rPr>
              <a:t>C</a:t>
            </a:r>
          </a:p>
        </p:txBody>
      </p:sp>
      <p:sp>
        <p:nvSpPr>
          <p:cNvPr id="42" name="zl"/>
          <p:cNvSpPr txBox="1"/>
          <p:nvPr/>
        </p:nvSpPr>
        <p:spPr>
          <a:xfrm>
            <a:off x="8839200" y="21336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100" b="1" spc="220" cap="all" dirty="0">
                <a:solidFill>
                  <a:srgbClr val="4ADE9B"/>
                </a:solidFill>
                <a:latin typeface="Segoe UI"/>
                <a:cs typeface="Segoe UI"/>
              </a:rPr>
              <a:t>Zone C</a:t>
            </a:r>
          </a:p>
        </p:txBody>
      </p:sp>
      <p:sp>
        <p:nvSpPr>
          <p:cNvPr id="43" name="zt"/>
          <p:cNvSpPr txBox="1"/>
          <p:nvPr/>
        </p:nvSpPr>
        <p:spPr>
          <a:xfrm>
            <a:off x="8839200" y="23431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Session icons</a:t>
            </a:r>
          </a:p>
        </p:txBody>
      </p:sp>
      <p:sp>
        <p:nvSpPr>
          <p:cNvPr id="44" name="dot"/>
          <p:cNvSpPr/>
          <p:nvPr/>
        </p:nvSpPr>
        <p:spPr>
          <a:xfrm>
            <a:off x="8343900" y="2847975"/>
            <a:ext cx="66675" cy="66675"/>
          </a:xfrm>
          <a:prstGeom prst="ellipse">
            <a:avLst/>
          </a:prstGeom>
          <a:solidFill>
            <a:srgbClr val="4ADE9B">
              <a:alpha val="85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5" name="item"/>
          <p:cNvSpPr txBox="1"/>
          <p:nvPr/>
        </p:nvSpPr>
        <p:spPr>
          <a:xfrm>
            <a:off x="8515350" y="274320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CBDAEC"/>
                </a:solidFill>
                <a:latin typeface="Segoe UI"/>
                <a:cs typeface="Segoe UI"/>
              </a:rPr>
              <a:t>Return to the home page</a:t>
            </a:r>
          </a:p>
        </p:txBody>
      </p:sp>
      <p:sp>
        <p:nvSpPr>
          <p:cNvPr id="46" name="dot"/>
          <p:cNvSpPr/>
          <p:nvPr/>
        </p:nvSpPr>
        <p:spPr>
          <a:xfrm>
            <a:off x="8343900" y="3133725"/>
            <a:ext cx="66675" cy="66675"/>
          </a:xfrm>
          <a:prstGeom prst="ellipse">
            <a:avLst/>
          </a:prstGeom>
          <a:solidFill>
            <a:srgbClr val="4ADE9B">
              <a:alpha val="85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7" name="item"/>
          <p:cNvSpPr txBox="1"/>
          <p:nvPr/>
        </p:nvSpPr>
        <p:spPr>
          <a:xfrm>
            <a:off x="8515350" y="302895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CBDAEC"/>
                </a:solidFill>
                <a:latin typeface="Segoe UI"/>
                <a:cs typeface="Segoe UI"/>
              </a:rPr>
              <a:t>Platform information</a:t>
            </a:r>
          </a:p>
        </p:txBody>
      </p:sp>
      <p:sp>
        <p:nvSpPr>
          <p:cNvPr id="48" name="dot"/>
          <p:cNvSpPr/>
          <p:nvPr/>
        </p:nvSpPr>
        <p:spPr>
          <a:xfrm>
            <a:off x="8343900" y="3419475"/>
            <a:ext cx="66675" cy="66675"/>
          </a:xfrm>
          <a:prstGeom prst="ellipse">
            <a:avLst/>
          </a:prstGeom>
          <a:solidFill>
            <a:srgbClr val="4ADE9B">
              <a:alpha val="85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9" name="item"/>
          <p:cNvSpPr txBox="1"/>
          <p:nvPr/>
        </p:nvSpPr>
        <p:spPr>
          <a:xfrm>
            <a:off x="8515350" y="3314700"/>
            <a:ext cx="27241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200" dirty="0">
                <a:solidFill>
                  <a:srgbClr val="CBDAEC"/>
                </a:solidFill>
                <a:latin typeface="Segoe UI"/>
                <a:cs typeface="Segoe UI"/>
              </a:rPr>
              <a:t>Exit PLM</a:t>
            </a:r>
          </a:p>
        </p:txBody>
      </p:sp>
      <p:sp>
        <p:nvSpPr>
          <p:cNvPr id="50" name="zn"/>
          <p:cNvSpPr txBox="1"/>
          <p:nvPr/>
        </p:nvSpPr>
        <p:spPr>
          <a:xfrm>
            <a:off x="8343900" y="415290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61789A"/>
                </a:solidFill>
                <a:latin typeface="Segoe UI"/>
                <a:cs typeface="Segoe UI"/>
              </a:rPr>
              <a:t>Use Exit PLM to close your session properly.</a:t>
            </a:r>
          </a:p>
        </p:txBody>
      </p:sp>
      <p:sp>
        <p:nvSpPr>
          <p:cNvPr id="51" name="card"/>
          <p:cNvSpPr/>
          <p:nvPr/>
        </p:nvSpPr>
        <p:spPr>
          <a:xfrm>
            <a:off x="647700" y="5010150"/>
            <a:ext cx="10896600" cy="704850"/>
          </a:xfrm>
          <a:prstGeom prst="roundRect">
            <a:avLst>
              <a:gd name="adj" fmla="val 13513"/>
            </a:avLst>
          </a:prstGeom>
          <a:solidFill>
            <a:srgbClr val="FFFFFF">
              <a:alpha val="8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pic>
        <p:nvPicPr>
          <p:cNvPr id="52" name="toolbar"/>
          <p:cNvPicPr>
            <a:picLocks noChangeAspect="1"/>
          </p:cNvPicPr>
          <p:nvPr/>
        </p:nvPicPr>
        <p:blipFill>
          <a:blip r:embed="rId2"/>
          <a:srcRect l="0" t="0" r="0" b="90700"/>
          <a:stretch>
            <a:fillRect/>
          </a:stretch>
        </p:blipFill>
        <p:spPr>
          <a:xfrm>
            <a:off x="685800" y="5048250"/>
            <a:ext cx="10820400" cy="628650"/>
          </a:xfrm>
          <a:prstGeom prst="roundRect">
            <a:avLst>
              <a:gd name="adj" fmla="val 6060"/>
            </a:avLst>
          </a:prstGeom>
          <a:ln w="12700" cap="rnd">
            <a:solidFill>
              <a:srgbClr val="FFFFFF">
                <a:alpha val="18000"/>
              </a:srgbClr>
            </a:solidFill>
            <a:round/>
          </a:ln>
        </p:spPr>
      </p:pic>
      <p:sp>
        <p:nvSpPr>
          <p:cNvPr id="53" name="anon"/>
          <p:cNvSpPr/>
          <p:nvPr/>
        </p:nvSpPr>
        <p:spPr>
          <a:xfrm>
            <a:off x="7896225" y="5086350"/>
            <a:ext cx="2390775" cy="476250"/>
          </a:xfrm>
          <a:prstGeom prst="roundRect">
            <a:avLst>
              <a:gd name="adj" fmla="val 16000"/>
            </a:avLst>
          </a:prstGeom>
          <a:solidFill>
            <a:srgbClr val="0A1E38">
              <a:alpha val="94000"/>
            </a:srgbClr>
          </a:solidFill>
          <a:ln w="12700" cap="rnd">
            <a:solidFill>
              <a:srgbClr val="FFFFFF">
                <a:alpha val="18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4" name="anontxt"/>
          <p:cNvSpPr txBox="1"/>
          <p:nvPr/>
        </p:nvSpPr>
        <p:spPr>
          <a:xfrm>
            <a:off x="7896225" y="5086350"/>
            <a:ext cx="239077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000" b="1" spc="100" dirty="0">
                <a:solidFill>
                  <a:srgbClr val="CBDAEC"/>
                </a:solidFill>
                <a:latin typeface="Segoe UI"/>
                <a:cs typeface="Segoe UI"/>
              </a:rPr>
              <a:t>your name  ·  your role</a:t>
            </a:r>
          </a:p>
        </p:txBody>
      </p:sp>
      <p:sp>
        <p:nvSpPr>
          <p:cNvPr id="55" name="zoneline"/>
          <p:cNvSpPr/>
          <p:nvPr/>
        </p:nvSpPr>
        <p:spPr>
          <a:xfrm>
            <a:off x="685800" y="5048250"/>
            <a:ext cx="3362325" cy="628650"/>
          </a:xfrm>
          <a:prstGeom prst="roundRect">
            <a:avLst>
              <a:gd name="adj" fmla="val 12121"/>
            </a:avLst>
          </a:prstGeom>
          <a:noFill/>
          <a:ln w="25400" cap="rnd">
            <a:solidFill>
              <a:srgbClr val="FF8A3D">
                <a:alpha val="85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6" name="badge"/>
          <p:cNvSpPr/>
          <p:nvPr/>
        </p:nvSpPr>
        <p:spPr>
          <a:xfrm>
            <a:off x="628650" y="4914900"/>
            <a:ext cx="228600" cy="228600"/>
          </a:xfrm>
          <a:prstGeom prst="ellipse">
            <a:avLst/>
          </a:prstGeom>
          <a:solidFill>
            <a:srgbClr val="FF8A3D"/>
          </a:solidFill>
          <a:ln>
            <a:noFill/>
          </a:ln>
          <a:effectLst>
            <a:glow rad="85725">
              <a:srgbClr val="FF8A3D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7" name="badgetxt"/>
          <p:cNvSpPr txBox="1"/>
          <p:nvPr/>
        </p:nvSpPr>
        <p:spPr>
          <a:xfrm>
            <a:off x="628650" y="49149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61423"/>
                </a:solidFill>
                <a:latin typeface="Segoe UI"/>
                <a:cs typeface="Segoe UI"/>
              </a:rPr>
              <a:t>A</a:t>
            </a:r>
          </a:p>
        </p:txBody>
      </p:sp>
      <p:sp>
        <p:nvSpPr>
          <p:cNvPr id="58" name="zoneline"/>
          <p:cNvSpPr/>
          <p:nvPr/>
        </p:nvSpPr>
        <p:spPr>
          <a:xfrm>
            <a:off x="5153025" y="5048250"/>
            <a:ext cx="2524125" cy="628650"/>
          </a:xfrm>
          <a:prstGeom prst="roundRect">
            <a:avLst>
              <a:gd name="adj" fmla="val 12121"/>
            </a:avLst>
          </a:prstGeom>
          <a:noFill/>
          <a:ln w="25400" cap="rnd">
            <a:solidFill>
              <a:srgbClr val="3ED0EE">
                <a:alpha val="85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9" name="badge"/>
          <p:cNvSpPr/>
          <p:nvPr/>
        </p:nvSpPr>
        <p:spPr>
          <a:xfrm>
            <a:off x="5095875" y="4914900"/>
            <a:ext cx="228600" cy="228600"/>
          </a:xfrm>
          <a:prstGeom prst="ellipse">
            <a:avLst/>
          </a:prstGeom>
          <a:solidFill>
            <a:srgbClr val="3ED0EE"/>
          </a:solidFill>
          <a:ln>
            <a:noFill/>
          </a:ln>
          <a:effectLst>
            <a:glow rad="85725">
              <a:srgbClr val="3ED0EE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0" name="badgetxt"/>
          <p:cNvSpPr txBox="1"/>
          <p:nvPr/>
        </p:nvSpPr>
        <p:spPr>
          <a:xfrm>
            <a:off x="5095875" y="49149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61423"/>
                </a:solidFill>
                <a:latin typeface="Segoe UI"/>
                <a:cs typeface="Segoe UI"/>
              </a:rPr>
              <a:t>B</a:t>
            </a:r>
          </a:p>
        </p:txBody>
      </p:sp>
      <p:sp>
        <p:nvSpPr>
          <p:cNvPr id="61" name="zoneline"/>
          <p:cNvSpPr/>
          <p:nvPr/>
        </p:nvSpPr>
        <p:spPr>
          <a:xfrm>
            <a:off x="10334625" y="5048250"/>
            <a:ext cx="1171575" cy="628650"/>
          </a:xfrm>
          <a:prstGeom prst="roundRect">
            <a:avLst>
              <a:gd name="adj" fmla="val 12121"/>
            </a:avLst>
          </a:prstGeom>
          <a:noFill/>
          <a:ln w="25400" cap="rnd">
            <a:solidFill>
              <a:srgbClr val="4ADE9B">
                <a:alpha val="85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2" name="badge"/>
          <p:cNvSpPr/>
          <p:nvPr/>
        </p:nvSpPr>
        <p:spPr>
          <a:xfrm>
            <a:off x="10277475" y="4914900"/>
            <a:ext cx="228600" cy="228600"/>
          </a:xfrm>
          <a:prstGeom prst="ellipse">
            <a:avLst/>
          </a:prstGeom>
          <a:solidFill>
            <a:srgbClr val="4ADE9B"/>
          </a:solidFill>
          <a:ln>
            <a:noFill/>
          </a:ln>
          <a:effectLst>
            <a:glow rad="85725">
              <a:srgbClr val="4ADE9B">
                <a:alpha val="28000"/>
              </a:srgbClr>
            </a:glo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3" name="badgetxt"/>
          <p:cNvSpPr txBox="1"/>
          <p:nvPr/>
        </p:nvSpPr>
        <p:spPr>
          <a:xfrm>
            <a:off x="10277475" y="49149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100" b="1" dirty="0">
                <a:solidFill>
                  <a:srgbClr val="061423"/>
                </a:solidFill>
                <a:latin typeface="Segoe UI"/>
                <a:cs typeface="Segoe UI"/>
              </a:rPr>
              <a:t>C</a:t>
            </a:r>
          </a:p>
        </p:txBody>
      </p:sp>
      <p:sp>
        <p:nvSpPr>
          <p:cNvPr id="64" name="cap"/>
          <p:cNvSpPr txBox="1"/>
          <p:nvPr/>
        </p:nvSpPr>
        <p:spPr>
          <a:xfrm>
            <a:off x="685800" y="5772150"/>
            <a:ext cx="108204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en-US" sz="1050" dirty="0">
                <a:solidFill>
                  <a:srgbClr val="61789A"/>
                </a:solidFill>
                <a:latin typeface="Segoe UI"/>
                <a:cs typeface="Segoe UI"/>
              </a:rPr>
              <a:t>The toolbar, full width — zones A, B and C.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FF8A3D">
                  <a:alpha val="17000"/>
                </a:srgbClr>
              </a:gs>
              <a:gs pos="100000">
                <a:srgbClr val="FF8A3D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FF8A3D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FF8A3D"/>
                </a:solidFill>
                <a:latin typeface="Segoe UI"/>
                <a:cs typeface="Segoe UI"/>
              </a:rPr>
              <a:t>Step 04 · Golden rule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104775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2800" b="1" spc="-40" dirty="0">
                <a:solidFill>
                  <a:srgbClr val="FFFFFF"/>
                </a:solidFill>
                <a:latin typeface="Segoe UI"/>
                <a:cs typeface="Segoe UI"/>
              </a:rPr>
              <a:t>Never use the browser’s back / forward buttons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8A3D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PLM has its own navigation — use it.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12 / 13</a:t>
            </a:r>
          </a:p>
        </p:txBody>
      </p:sp>
      <p:sp>
        <p:nvSpPr>
          <p:cNvPr id="13" name="card"/>
          <p:cNvSpPr/>
          <p:nvPr/>
        </p:nvSpPr>
        <p:spPr>
          <a:xfrm>
            <a:off x="685800" y="1866900"/>
            <a:ext cx="5257800" cy="3238500"/>
          </a:xfrm>
          <a:prstGeom prst="roundRect">
            <a:avLst>
              <a:gd name="adj" fmla="val 4117"/>
            </a:avLst>
          </a:prstGeom>
          <a:solidFill>
            <a:srgbClr val="FF7070">
              <a:alpha val="7000"/>
            </a:srgbClr>
          </a:solidFill>
          <a:ln w="15240" cap="rnd">
            <a:solidFill>
              <a:srgbClr val="FF7070">
                <a:alpha val="34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4" name="chip"/>
          <p:cNvSpPr/>
          <p:nvPr/>
        </p:nvSpPr>
        <p:spPr>
          <a:xfrm>
            <a:off x="952500" y="2133600"/>
            <a:ext cx="914400" cy="285750"/>
          </a:xfrm>
          <a:prstGeom prst="roundRect">
            <a:avLst>
              <a:gd name="adj" fmla="val 50000"/>
            </a:avLst>
          </a:prstGeom>
          <a:solidFill>
            <a:srgbClr val="FF7070">
              <a:alpha val="18000"/>
            </a:srgbClr>
          </a:solidFill>
          <a:ln w="15240" cap="rnd">
            <a:solidFill>
              <a:srgbClr val="FF7070">
                <a:alpha val="55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5" name="chiptxt"/>
          <p:cNvSpPr txBox="1"/>
          <p:nvPr/>
        </p:nvSpPr>
        <p:spPr>
          <a:xfrm>
            <a:off x="952500" y="2133600"/>
            <a:ext cx="9144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100" b="1" spc="140" cap="all" dirty="0">
                <a:solidFill>
                  <a:srgbClr val="FF7070"/>
                </a:solidFill>
                <a:latin typeface="Segoe UI"/>
                <a:cs typeface="Segoe UI"/>
              </a:rPr>
              <a:t>Don’t</a:t>
            </a:r>
          </a:p>
        </p:txBody>
      </p:sp>
      <p:sp>
        <p:nvSpPr>
          <p:cNvPr id="16" name="card"/>
          <p:cNvSpPr/>
          <p:nvPr/>
        </p:nvSpPr>
        <p:spPr>
          <a:xfrm>
            <a:off x="952500" y="25908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FFFFFF">
              <a:alpha val="96000"/>
            </a:srgbClr>
          </a:solidFill>
          <a:ln w="12700" cap="rnd">
            <a:solidFill>
              <a:srgbClr val="FFFFFF">
                <a:alpha val="30000"/>
              </a:srgbClr>
            </a:solidFill>
            <a:round/>
          </a:ln>
          <a:effectLst>
            <a:outerShdw blurRad="152400" dist="47625" dir="5400000" rotWithShape="0">
              <a:srgbClr val="000814">
                <a:alpha val="32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pic>
        <p:nvPicPr>
          <p:cNvPr id="17" name="warn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676525"/>
            <a:ext cx="457200" cy="428625"/>
          </a:xfrm>
          <a:prstGeom prst="rect">
            <a:avLst/>
          </a:prstGeom>
          <a:ln>
            <a:noFill/>
          </a:ln>
        </p:spPr>
      </p:pic>
      <p:sp>
        <p:nvSpPr>
          <p:cNvPr id="18" name="dt"/>
          <p:cNvSpPr txBox="1"/>
          <p:nvPr/>
        </p:nvSpPr>
        <p:spPr>
          <a:xfrm>
            <a:off x="1752600" y="2609850"/>
            <a:ext cx="39052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/>
                <a:cs typeface="Segoe UI"/>
              </a:rPr>
              <a:t>Browser back / forward</a:t>
            </a:r>
          </a:p>
        </p:txBody>
      </p:sp>
      <p:sp>
        <p:nvSpPr>
          <p:cNvPr id="19" name="db"/>
          <p:cNvSpPr txBox="1"/>
          <p:nvPr/>
        </p:nvSpPr>
        <p:spPr>
          <a:xfrm>
            <a:off x="1752600" y="2990850"/>
            <a:ext cx="39052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These buttons belong to the browser, not to PLM.</a:t>
            </a:r>
          </a:p>
        </p:txBody>
      </p:sp>
      <p:sp>
        <p:nvSpPr>
          <p:cNvPr id="20" name="card"/>
          <p:cNvSpPr/>
          <p:nvPr/>
        </p:nvSpPr>
        <p:spPr>
          <a:xfrm>
            <a:off x="952500" y="3771900"/>
            <a:ext cx="4724400" cy="1104900"/>
          </a:xfrm>
          <a:prstGeom prst="roundRect">
            <a:avLst>
              <a:gd name="adj" fmla="val 10344"/>
            </a:avLst>
          </a:prstGeom>
          <a:solidFill>
            <a:srgbClr val="FFFFFF">
              <a:alpha val="94000"/>
            </a:srgbClr>
          </a:solidFill>
          <a:ln w="12700" cap="rnd">
            <a:solidFill>
              <a:srgbClr val="FFFFFF">
                <a:alpha val="26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pic>
        <p:nvPicPr>
          <p:cNvPr id="21" name="browser butt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3886200"/>
            <a:ext cx="3810000" cy="866775"/>
          </a:xfrm>
          <a:prstGeom prst="rect">
            <a:avLst/>
          </a:prstGeom>
          <a:ln>
            <a:noFill/>
          </a:ln>
        </p:spPr>
      </p:pic>
      <p:sp>
        <p:nvSpPr>
          <p:cNvPr id="22" name="x1"/>
          <p:cNvSpPr/>
          <p:nvPr/>
        </p:nvSpPr>
        <p:spPr>
          <a:xfrm>
            <a:off x="1714500" y="3962400"/>
            <a:ext cx="3238500" cy="742950"/>
          </a:xfrm>
          <a:prstGeom prst="line">
            <a:avLst/>
          </a:prstGeom>
          <a:noFill/>
          <a:ln w="50800" cap="rnd">
            <a:solidFill>
              <a:srgbClr val="FF7070">
                <a:alpha val="8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3" name="x2"/>
          <p:cNvSpPr/>
          <p:nvPr/>
        </p:nvSpPr>
        <p:spPr>
          <a:xfrm flipV="1">
            <a:off x="1714500" y="3962400"/>
            <a:ext cx="3238500" cy="742950"/>
          </a:xfrm>
          <a:prstGeom prst="line">
            <a:avLst/>
          </a:prstGeom>
          <a:noFill/>
          <a:ln w="50800" cap="rnd">
            <a:solidFill>
              <a:srgbClr val="FF7070">
                <a:alpha val="8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4" name="card"/>
          <p:cNvSpPr/>
          <p:nvPr/>
        </p:nvSpPr>
        <p:spPr>
          <a:xfrm>
            <a:off x="6248400" y="1866900"/>
            <a:ext cx="5257800" cy="3238500"/>
          </a:xfrm>
          <a:prstGeom prst="roundRect">
            <a:avLst>
              <a:gd name="adj" fmla="val 4117"/>
            </a:avLst>
          </a:prstGeom>
          <a:solidFill>
            <a:srgbClr val="4ADE9B">
              <a:alpha val="7000"/>
            </a:srgbClr>
          </a:solidFill>
          <a:ln w="15240" cap="rnd">
            <a:solidFill>
              <a:srgbClr val="4ADE9B">
                <a:alpha val="32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5" name="chip"/>
          <p:cNvSpPr/>
          <p:nvPr/>
        </p:nvSpPr>
        <p:spPr>
          <a:xfrm>
            <a:off x="6515100" y="2133600"/>
            <a:ext cx="685800" cy="285750"/>
          </a:xfrm>
          <a:prstGeom prst="roundRect">
            <a:avLst>
              <a:gd name="adj" fmla="val 50000"/>
            </a:avLst>
          </a:prstGeom>
          <a:solidFill>
            <a:srgbClr val="4ADE9B">
              <a:alpha val="18000"/>
            </a:srgbClr>
          </a:solidFill>
          <a:ln w="15240" cap="rnd">
            <a:solidFill>
              <a:srgbClr val="4ADE9B">
                <a:alpha val="55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6" name="chiptxt"/>
          <p:cNvSpPr txBox="1"/>
          <p:nvPr/>
        </p:nvSpPr>
        <p:spPr>
          <a:xfrm>
            <a:off x="6515100" y="2133600"/>
            <a:ext cx="6858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100" b="1" spc="140" cap="all" dirty="0">
                <a:solidFill>
                  <a:srgbClr val="4ADE9B"/>
                </a:solidFill>
                <a:latin typeface="Segoe UI"/>
                <a:cs typeface="Segoe UI"/>
              </a:rPr>
              <a:t>Do</a:t>
            </a:r>
          </a:p>
        </p:txBody>
      </p:sp>
      <p:sp>
        <p:nvSpPr>
          <p:cNvPr id="27" name="gt"/>
          <p:cNvSpPr txBox="1"/>
          <p:nvPr/>
        </p:nvSpPr>
        <p:spPr>
          <a:xfrm>
            <a:off x="6515100" y="2609850"/>
            <a:ext cx="47625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/>
                <a:cs typeface="Segoe UI"/>
              </a:rPr>
              <a:t>PLM Previous / Next page</a:t>
            </a:r>
          </a:p>
        </p:txBody>
      </p:sp>
      <p:sp>
        <p:nvSpPr>
          <p:cNvPr id="28" name="gb"/>
          <p:cNvSpPr txBox="1"/>
          <p:nvPr/>
        </p:nvSpPr>
        <p:spPr>
          <a:xfrm>
            <a:off x="6515100" y="2990850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en-US" sz="1250" dirty="0">
                <a:solidFill>
                  <a:srgbClr val="95AAC6"/>
                </a:solidFill>
                <a:latin typeface="Segoe UI"/>
                <a:cs typeface="Segoe UI"/>
              </a:rPr>
              <a:t>The two round arrows in the toolbar move you through PLM the way the application expects.</a:t>
            </a:r>
          </a:p>
        </p:txBody>
      </p:sp>
      <p:sp>
        <p:nvSpPr>
          <p:cNvPr id="29" name="card"/>
          <p:cNvSpPr/>
          <p:nvPr/>
        </p:nvSpPr>
        <p:spPr>
          <a:xfrm>
            <a:off x="6515100" y="3714750"/>
            <a:ext cx="4724400" cy="1162050"/>
          </a:xfrm>
          <a:prstGeom prst="roundRect">
            <a:avLst>
              <a:gd name="adj" fmla="val 9836"/>
            </a:avLst>
          </a:prstGeom>
          <a:solidFill>
            <a:srgbClr val="0A2038">
              <a:alpha val="70000"/>
            </a:srgbClr>
          </a:solidFill>
          <a:ln w="12700" cap="rnd">
            <a:solidFill>
              <a:srgbClr val="FFFFFF">
                <a:alpha val="16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pic>
        <p:nvPicPr>
          <p:cNvPr id="30" name="PLM arrows"/>
          <p:cNvPicPr>
            <a:picLocks noChangeAspect="1"/>
          </p:cNvPicPr>
          <p:nvPr/>
        </p:nvPicPr>
        <p:blipFill>
          <a:blip r:embed="rId4"/>
          <a:srcRect l="23900" t="900" r="69700" b="91300"/>
          <a:stretch>
            <a:fillRect/>
          </a:stretch>
        </p:blipFill>
        <p:spPr>
          <a:xfrm>
            <a:off x="8210550" y="3771900"/>
            <a:ext cx="1381125" cy="1047750"/>
          </a:xfrm>
          <a:prstGeom prst="rect">
            <a:avLst/>
          </a:prstGeom>
          <a:ln>
            <a:noFill/>
          </a:ln>
        </p:spPr>
      </p:pic>
      <p:sp>
        <p:nvSpPr>
          <p:cNvPr id="31" name="card"/>
          <p:cNvSpPr/>
          <p:nvPr/>
        </p:nvSpPr>
        <p:spPr>
          <a:xfrm>
            <a:off x="685800" y="5353050"/>
            <a:ext cx="10820400" cy="628650"/>
          </a:xfrm>
          <a:prstGeom prst="roundRect">
            <a:avLst>
              <a:gd name="adj" fmla="val 18181"/>
            </a:avLst>
          </a:prstGeom>
          <a:solidFill>
            <a:srgbClr val="FFFFFF">
              <a:alpha val="5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2" name="accentbar"/>
          <p:cNvSpPr/>
          <p:nvPr/>
        </p:nvSpPr>
        <p:spPr>
          <a:xfrm>
            <a:off x="685800" y="5505450"/>
            <a:ext cx="28575" cy="323850"/>
          </a:xfrm>
          <a:prstGeom prst="roundRect">
            <a:avLst>
              <a:gd name="adj" fmla="val 33333"/>
            </a:avLst>
          </a:prstGeom>
          <a:solidFill>
            <a:srgbClr val="4ADE9B">
              <a:alpha val="80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3" name="stripnote"/>
          <p:cNvSpPr txBox="1"/>
          <p:nvPr/>
        </p:nvSpPr>
        <p:spPr>
          <a:xfrm>
            <a:off x="933450" y="5353050"/>
            <a:ext cx="103251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CBDAEC"/>
                </a:solidFill>
                <a:latin typeface="Segoe UI"/>
                <a:cs typeface="Segoe UI"/>
              </a:rPr>
              <a:t>If you get lost, the home icon in zone C brings you back to the PLM home page.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5101F"/>
              </a:gs>
              <a:gs pos="100000">
                <a:srgbClr val="133258"/>
              </a:gs>
            </a:gsLst>
            <a:lin ang="750000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" name="glowA"/>
          <p:cNvSpPr/>
          <p:nvPr/>
        </p:nvSpPr>
        <p:spPr>
          <a:xfrm>
            <a:off x="6572250" y="-2190750"/>
            <a:ext cx="8572500" cy="8572500"/>
          </a:xfrm>
          <a:prstGeom prst="ellipse">
            <a:avLst/>
          </a:prstGeom>
          <a:gradFill flip="none" rotWithShape="1">
            <a:gsLst>
              <a:gs pos="0">
                <a:srgbClr val="4ADE9B">
                  <a:alpha val="17000"/>
                </a:srgbClr>
              </a:gs>
              <a:gs pos="100000">
                <a:srgbClr val="4ADE9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" name="glowB"/>
          <p:cNvSpPr/>
          <p:nvPr/>
        </p:nvSpPr>
        <p:spPr>
          <a:xfrm>
            <a:off x="-2476500" y="2857500"/>
            <a:ext cx="7239000" cy="7239000"/>
          </a:xfrm>
          <a:prstGeom prst="ellipse">
            <a:avLst/>
          </a:prstGeom>
          <a:gradFill flip="none" rotWithShape="1">
            <a:gsLst>
              <a:gs pos="0">
                <a:srgbClr val="3ED0EE">
                  <a:alpha val="11000"/>
                </a:srgbClr>
              </a:gs>
              <a:gs pos="100000">
                <a:srgbClr val="3ED0E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5" name="topbar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 flip="none" rotWithShape="1">
            <a:gsLst>
              <a:gs pos="0">
                <a:srgbClr val="4ADE9B">
                  <a:alpha val="70000"/>
                </a:srgbClr>
              </a:gs>
              <a:gs pos="100000">
                <a:srgbClr val="3ED0EE">
                  <a:alpha val="40000"/>
                </a:srgbClr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6" name="eyebrow"/>
          <p:cNvSpPr txBox="1"/>
          <p:nvPr/>
        </p:nvSpPr>
        <p:spPr>
          <a:xfrm>
            <a:off x="685800" y="4381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050" b="1" spc="240" cap="all" dirty="0">
                <a:solidFill>
                  <a:srgbClr val="4ADE9B"/>
                </a:solidFill>
                <a:latin typeface="Segoe UI"/>
                <a:cs typeface="Segoe UI"/>
              </a:rPr>
              <a:t>Recap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685800" y="647700"/>
            <a:ext cx="9620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3200" b="1" spc="-40" dirty="0">
                <a:solidFill>
                  <a:srgbClr val="FFFFFF"/>
                </a:solidFill>
                <a:latin typeface="Segoe UI"/>
                <a:cs typeface="Segoe UI"/>
              </a:rPr>
              <a:t>Your first-login checklist</a:t>
            </a:r>
          </a:p>
        </p:txBody>
      </p:sp>
      <p:sp>
        <p:nvSpPr>
          <p:cNvPr id="8" name="rule"/>
          <p:cNvSpPr/>
          <p:nvPr/>
        </p:nvSpPr>
        <p:spPr>
          <a:xfrm>
            <a:off x="685800" y="1200150"/>
            <a:ext cx="514350" cy="381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ADE9B"/>
              </a:gs>
              <a:gs pos="100000">
                <a:srgbClr val="FFC489"/>
              </a:gs>
            </a:gsLst>
            <a:lin ang="0" scaled="0"/>
          </a:gra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9" name="sub"/>
          <p:cNvSpPr txBox="1"/>
          <p:nvPr/>
        </p:nvSpPr>
        <p:spPr>
          <a:xfrm>
            <a:off x="685800" y="1371600"/>
            <a:ext cx="838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95AAC6"/>
                </a:solidFill>
                <a:latin typeface="Segoe UI"/>
                <a:cs typeface="Segoe UI"/>
              </a:rPr>
              <a:t>Five things, in order.</a:t>
            </a:r>
          </a:p>
        </p:txBody>
      </p:sp>
      <p:sp>
        <p:nvSpPr>
          <p:cNvPr id="10" name="hairline"/>
          <p:cNvSpPr/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FFFFFF">
              <a:alpha val="9000"/>
            </a:srgbClr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1" name="foot"/>
          <p:cNvSpPr txBox="1"/>
          <p:nvPr/>
        </p:nvSpPr>
        <p:spPr>
          <a:xfrm>
            <a:off x="685800" y="6515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n-US" sz="950" spc="80" dirty="0">
                <a:solidFill>
                  <a:srgbClr val="61789A"/>
                </a:solidFill>
                <a:latin typeface="Segoe UI"/>
                <a:cs typeface="Segoe UI"/>
              </a:rPr>
              <a:t>PLM  ·  ENOVIA V6  ·  Log in to PLM</a:t>
            </a:r>
          </a:p>
        </p:txBody>
      </p:sp>
      <p:sp>
        <p:nvSpPr>
          <p:cNvPr id="12" name="pagenum"/>
          <p:cNvSpPr txBox="1"/>
          <p:nvPr/>
        </p:nvSpPr>
        <p:spPr>
          <a:xfrm>
            <a:off x="9982200" y="65151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buNone/>
            </a:pPr>
            <a:r>
              <a:rPr lang="en-US" sz="950" b="1" spc="120" dirty="0">
                <a:solidFill>
                  <a:srgbClr val="61789A"/>
                </a:solidFill>
                <a:latin typeface="Segoe UI"/>
                <a:cs typeface="Segoe UI"/>
              </a:rPr>
              <a:t>13 / 13</a:t>
            </a:r>
          </a:p>
        </p:txBody>
      </p:sp>
      <p:sp>
        <p:nvSpPr>
          <p:cNvPr id="13" name="card"/>
          <p:cNvSpPr/>
          <p:nvPr/>
        </p:nvSpPr>
        <p:spPr>
          <a:xfrm>
            <a:off x="685800" y="1866900"/>
            <a:ext cx="10820400" cy="609600"/>
          </a:xfrm>
          <a:prstGeom prst="roundRect">
            <a:avLst>
              <a:gd name="adj" fmla="val 18750"/>
            </a:avLst>
          </a:prstGeom>
          <a:solidFill>
            <a:srgbClr val="FFFFFF">
              <a:alpha val="5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4" name="sqbadge"/>
          <p:cNvSpPr/>
          <p:nvPr/>
        </p:nvSpPr>
        <p:spPr>
          <a:xfrm>
            <a:off x="952500" y="20383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8A3D">
              <a:alpha val="15000"/>
            </a:srgbClr>
          </a:solidFill>
          <a:ln w="17780" cap="rnd">
            <a:solidFill>
              <a:srgbClr val="FF8A3D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5" name="sqbadgetxt"/>
          <p:cNvSpPr txBox="1"/>
          <p:nvPr/>
        </p:nvSpPr>
        <p:spPr>
          <a:xfrm>
            <a:off x="952500" y="20383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FF8A3D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6" name="ck"/>
          <p:cNvSpPr txBox="1"/>
          <p:nvPr/>
        </p:nvSpPr>
        <p:spPr>
          <a:xfrm>
            <a:off x="1409700" y="1866900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450" dirty="0">
                <a:solidFill>
                  <a:srgbClr val="CBDAEC"/>
                </a:solidFill>
                <a:latin typeface="Segoe UI"/>
                <a:cs typeface="Segoe UI"/>
              </a:rPr>
              <a:t>PLM access requested and granted in PLMPassport</a:t>
            </a:r>
          </a:p>
        </p:txBody>
      </p:sp>
      <p:sp>
        <p:nvSpPr>
          <p:cNvPr id="17" name="cktag"/>
          <p:cNvSpPr txBox="1"/>
          <p:nvPr/>
        </p:nvSpPr>
        <p:spPr>
          <a:xfrm>
            <a:off x="9715500" y="1866900"/>
            <a:ext cx="15430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en-US" sz="1050" b="1" spc="140" cap="all" dirty="0">
                <a:solidFill>
                  <a:srgbClr val="FF8A3D"/>
                </a:solidFill>
                <a:latin typeface="Segoe UI"/>
                <a:cs typeface="Segoe UI"/>
              </a:rPr>
              <a:t>Step 01</a:t>
            </a:r>
          </a:p>
        </p:txBody>
      </p:sp>
      <p:sp>
        <p:nvSpPr>
          <p:cNvPr id="18" name="card"/>
          <p:cNvSpPr/>
          <p:nvPr/>
        </p:nvSpPr>
        <p:spPr>
          <a:xfrm>
            <a:off x="685800" y="2552700"/>
            <a:ext cx="10820400" cy="609600"/>
          </a:xfrm>
          <a:prstGeom prst="roundRect">
            <a:avLst>
              <a:gd name="adj" fmla="val 18750"/>
            </a:avLst>
          </a:prstGeom>
          <a:solidFill>
            <a:srgbClr val="FFFFFF">
              <a:alpha val="5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19" name="sqbadge"/>
          <p:cNvSpPr/>
          <p:nvPr/>
        </p:nvSpPr>
        <p:spPr>
          <a:xfrm>
            <a:off x="952500" y="27241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3ED0EE">
              <a:alpha val="15000"/>
            </a:srgbClr>
          </a:solidFill>
          <a:ln w="17780" cap="rnd">
            <a:solidFill>
              <a:srgbClr val="3ED0EE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0" name="sqbadgetxt"/>
          <p:cNvSpPr txBox="1"/>
          <p:nvPr/>
        </p:nvSpPr>
        <p:spPr>
          <a:xfrm>
            <a:off x="952500" y="27241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3ED0EE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21" name="ck"/>
          <p:cNvSpPr txBox="1"/>
          <p:nvPr/>
        </p:nvSpPr>
        <p:spPr>
          <a:xfrm>
            <a:off x="1409700" y="2552700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450" dirty="0">
                <a:solidFill>
                  <a:srgbClr val="CBDAEC"/>
                </a:solidFill>
                <a:latin typeface="Segoe UI"/>
                <a:cs typeface="Segoe UI"/>
              </a:rPr>
              <a:t>Security Context assigned: PiloteProjet · PSA · your project</a:t>
            </a:r>
          </a:p>
        </p:txBody>
      </p:sp>
      <p:sp>
        <p:nvSpPr>
          <p:cNvPr id="22" name="cktag"/>
          <p:cNvSpPr txBox="1"/>
          <p:nvPr/>
        </p:nvSpPr>
        <p:spPr>
          <a:xfrm>
            <a:off x="9715500" y="2552700"/>
            <a:ext cx="15430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en-US" sz="1050" b="1" spc="140" cap="all" dirty="0">
                <a:solidFill>
                  <a:srgbClr val="3ED0EE"/>
                </a:solidFill>
                <a:latin typeface="Segoe UI"/>
                <a:cs typeface="Segoe UI"/>
              </a:rPr>
              <a:t>Step 02</a:t>
            </a:r>
          </a:p>
        </p:txBody>
      </p:sp>
      <p:sp>
        <p:nvSpPr>
          <p:cNvPr id="23" name="card"/>
          <p:cNvSpPr/>
          <p:nvPr/>
        </p:nvSpPr>
        <p:spPr>
          <a:xfrm>
            <a:off x="685800" y="3238500"/>
            <a:ext cx="10820400" cy="609600"/>
          </a:xfrm>
          <a:prstGeom prst="roundRect">
            <a:avLst>
              <a:gd name="adj" fmla="val 18750"/>
            </a:avLst>
          </a:prstGeom>
          <a:solidFill>
            <a:srgbClr val="FFFFFF">
              <a:alpha val="5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4" name="sqbadge"/>
          <p:cNvSpPr/>
          <p:nvPr/>
        </p:nvSpPr>
        <p:spPr>
          <a:xfrm>
            <a:off x="952500" y="34099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4ADE9B">
              <a:alpha val="15000"/>
            </a:srgbClr>
          </a:solidFill>
          <a:ln w="17780" cap="rnd">
            <a:solidFill>
              <a:srgbClr val="4ADE9B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5" name="sqbadgetxt"/>
          <p:cNvSpPr txBox="1"/>
          <p:nvPr/>
        </p:nvSpPr>
        <p:spPr>
          <a:xfrm>
            <a:off x="952500" y="34099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4ADE9B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6" name="ck"/>
          <p:cNvSpPr txBox="1"/>
          <p:nvPr/>
        </p:nvSpPr>
        <p:spPr>
          <a:xfrm>
            <a:off x="1409700" y="3238500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450" dirty="0">
                <a:solidFill>
                  <a:srgbClr val="CBDAEC"/>
                </a:solidFill>
                <a:latin typeface="Segoe UI"/>
                <a:cs typeface="Segoe UI"/>
              </a:rPr>
              <a:t>PLM launched from the CFAO palette or the intranet address</a:t>
            </a:r>
          </a:p>
        </p:txBody>
      </p:sp>
      <p:sp>
        <p:nvSpPr>
          <p:cNvPr id="27" name="cktag"/>
          <p:cNvSpPr txBox="1"/>
          <p:nvPr/>
        </p:nvSpPr>
        <p:spPr>
          <a:xfrm>
            <a:off x="9715500" y="3238500"/>
            <a:ext cx="15430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en-US" sz="1050" b="1" spc="140" cap="all" dirty="0">
                <a:solidFill>
                  <a:srgbClr val="4ADE9B"/>
                </a:solidFill>
                <a:latin typeface="Segoe UI"/>
                <a:cs typeface="Segoe UI"/>
              </a:rPr>
              <a:t>Step 03</a:t>
            </a:r>
          </a:p>
        </p:txBody>
      </p:sp>
      <p:sp>
        <p:nvSpPr>
          <p:cNvPr id="28" name="card"/>
          <p:cNvSpPr/>
          <p:nvPr/>
        </p:nvSpPr>
        <p:spPr>
          <a:xfrm>
            <a:off x="685800" y="3924300"/>
            <a:ext cx="10820400" cy="609600"/>
          </a:xfrm>
          <a:prstGeom prst="roundRect">
            <a:avLst>
              <a:gd name="adj" fmla="val 18750"/>
            </a:avLst>
          </a:prstGeom>
          <a:solidFill>
            <a:srgbClr val="FFFFFF">
              <a:alpha val="5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9" name="sqbadge"/>
          <p:cNvSpPr/>
          <p:nvPr/>
        </p:nvSpPr>
        <p:spPr>
          <a:xfrm>
            <a:off x="952500" y="40957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4ADE9B">
              <a:alpha val="15000"/>
            </a:srgbClr>
          </a:solidFill>
          <a:ln w="17780" cap="rnd">
            <a:solidFill>
              <a:srgbClr val="4ADE9B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0" name="sqbadgetxt"/>
          <p:cNvSpPr txBox="1"/>
          <p:nvPr/>
        </p:nvSpPr>
        <p:spPr>
          <a:xfrm>
            <a:off x="952500" y="40957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4ADE9B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31" name="ck"/>
          <p:cNvSpPr txBox="1"/>
          <p:nvPr/>
        </p:nvSpPr>
        <p:spPr>
          <a:xfrm>
            <a:off x="1409700" y="3924300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450" dirty="0">
                <a:solidFill>
                  <a:srgbClr val="CBDAEC"/>
                </a:solidFill>
                <a:latin typeface="Segoe UI"/>
                <a:cs typeface="Segoe UI"/>
              </a:rPr>
              <a:t>Correct context selected at launch, then confirmed</a:t>
            </a:r>
          </a:p>
        </p:txBody>
      </p:sp>
      <p:sp>
        <p:nvSpPr>
          <p:cNvPr id="32" name="cktag"/>
          <p:cNvSpPr txBox="1"/>
          <p:nvPr/>
        </p:nvSpPr>
        <p:spPr>
          <a:xfrm>
            <a:off x="9715500" y="3924300"/>
            <a:ext cx="15430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en-US" sz="1050" b="1" spc="140" cap="all" dirty="0">
                <a:solidFill>
                  <a:srgbClr val="4ADE9B"/>
                </a:solidFill>
                <a:latin typeface="Segoe UI"/>
                <a:cs typeface="Segoe UI"/>
              </a:rPr>
              <a:t>Step 03</a:t>
            </a:r>
          </a:p>
        </p:txBody>
      </p:sp>
      <p:sp>
        <p:nvSpPr>
          <p:cNvPr id="33" name="card"/>
          <p:cNvSpPr/>
          <p:nvPr/>
        </p:nvSpPr>
        <p:spPr>
          <a:xfrm>
            <a:off x="685800" y="4610100"/>
            <a:ext cx="10820400" cy="609600"/>
          </a:xfrm>
          <a:prstGeom prst="roundRect">
            <a:avLst>
              <a:gd name="adj" fmla="val 18750"/>
            </a:avLst>
          </a:prstGeom>
          <a:solidFill>
            <a:srgbClr val="FFFFFF">
              <a:alpha val="5000"/>
            </a:srgbClr>
          </a:solidFill>
          <a:ln w="12700" cap="rnd">
            <a:solidFill>
              <a:srgbClr val="FFFFFF">
                <a:alpha val="15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4" name="sqbadge"/>
          <p:cNvSpPr/>
          <p:nvPr/>
        </p:nvSpPr>
        <p:spPr>
          <a:xfrm>
            <a:off x="952500" y="47815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A78BFA">
              <a:alpha val="15000"/>
            </a:srgbClr>
          </a:solidFill>
          <a:ln w="17780" cap="rnd">
            <a:solidFill>
              <a:srgbClr val="A78BFA">
                <a:alpha val="60000"/>
              </a:srgbClr>
            </a:solidFill>
            <a:round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5" name="sqbadgetxt"/>
          <p:cNvSpPr txBox="1"/>
          <p:nvPr/>
        </p:nvSpPr>
        <p:spPr>
          <a:xfrm>
            <a:off x="952500" y="4781550"/>
            <a:ext cx="2667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200" b="1" dirty="0">
                <a:solidFill>
                  <a:srgbClr val="A78BFA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36" name="ck"/>
          <p:cNvSpPr txBox="1"/>
          <p:nvPr/>
        </p:nvSpPr>
        <p:spPr>
          <a:xfrm>
            <a:off x="1409700" y="4610100"/>
            <a:ext cx="8191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en-US" sz="1450" dirty="0">
                <a:solidFill>
                  <a:srgbClr val="CBDAEC"/>
                </a:solidFill>
                <a:latin typeface="Segoe UI"/>
                <a:cs typeface="Segoe UI"/>
              </a:rPr>
              <a:t>Navigating with the PLM toolbar — never the browser buttons</a:t>
            </a:r>
          </a:p>
        </p:txBody>
      </p:sp>
      <p:sp>
        <p:nvSpPr>
          <p:cNvPr id="37" name="cktag"/>
          <p:cNvSpPr txBox="1"/>
          <p:nvPr/>
        </p:nvSpPr>
        <p:spPr>
          <a:xfrm>
            <a:off x="9715500" y="4610100"/>
            <a:ext cx="15430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buNone/>
            </a:pPr>
            <a:r>
              <a:rPr lang="en-US" sz="1050" b="1" spc="140" cap="all" dirty="0">
                <a:solidFill>
                  <a:srgbClr val="A78BFA"/>
                </a:solidFill>
                <a:latin typeface="Segoe UI"/>
                <a:cs typeface="Segoe UI"/>
              </a:rPr>
              <a:t>Step 04</a:t>
            </a:r>
          </a:p>
        </p:txBody>
      </p:sp>
      <p:sp>
        <p:nvSpPr>
          <p:cNvPr id="38" name="card"/>
          <p:cNvSpPr/>
          <p:nvPr/>
        </p:nvSpPr>
        <p:spPr>
          <a:xfrm>
            <a:off x="685800" y="5429250"/>
            <a:ext cx="10820400" cy="628650"/>
          </a:xfrm>
          <a:prstGeom prst="roundRect">
            <a:avLst>
              <a:gd name="adj" fmla="val 18181"/>
            </a:avLst>
          </a:prstGeom>
          <a:gradFill flip="none" rotWithShape="1">
            <a:gsLst>
              <a:gs pos="0">
                <a:srgbClr val="4ADE9B">
                  <a:alpha val="12000"/>
                </a:srgbClr>
              </a:gs>
              <a:gs pos="100000">
                <a:srgbClr val="0E7A55">
                  <a:alpha val="6000"/>
                </a:srgbClr>
              </a:gs>
            </a:gsLst>
            <a:lin ang="7500000" scaled="0"/>
          </a:gradFill>
          <a:ln w="15240" cap="rnd">
            <a:solidFill>
              <a:srgbClr val="4ADE9B">
                <a:alpha val="34000"/>
              </a:srgbClr>
            </a:solidFill>
            <a:round/>
          </a:ln>
          <a:effectLst>
            <a:outerShdw blurRad="228600" dist="76200" dir="5400000" rotWithShape="0">
              <a:srgbClr val="000814">
                <a:alpha val="26000"/>
              </a:srgbClr>
            </a:outerShdw>
          </a:effectLst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9" name="next"/>
          <p:cNvSpPr txBox="1"/>
          <p:nvPr/>
        </p:nvSpPr>
        <p:spPr>
          <a:xfrm>
            <a:off x="685800" y="5429250"/>
            <a:ext cx="10820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en-US" sz="1300" dirty="0">
                <a:solidFill>
                  <a:srgbClr val="CBDAEC"/>
                </a:solidFill>
                <a:latin typeface="Segoe UI"/>
                <a:cs typeface="Segoe UI"/>
              </a:rPr>
              <a:t>Next in this series:   </a:t>
            </a:r>
            <a:r>
              <a:rPr lang="en-US" sz="1350" b="1" dirty="0">
                <a:solidFill>
                  <a:srgbClr val="FFFFFF"/>
                </a:solidFill>
                <a:latin typeface="Segoe UI"/>
                <a:cs typeface="Segoe UI"/>
              </a:rPr>
              <a:t>Creating a Product ECO</a:t>
            </a:r>
            <a:r>
              <a:rPr lang="en-US" sz="1300" dirty="0">
                <a:solidFill>
                  <a:srgbClr val="61789A"/>
                </a:solidFill>
                <a:latin typeface="Segoe UI"/>
                <a:cs typeface="Segoe UI"/>
              </a:rPr>
              <a:t>   ·   </a:t>
            </a:r>
            <a:r>
              <a:rPr lang="en-US" sz="1350" b="1" dirty="0">
                <a:solidFill>
                  <a:srgbClr val="FFFFFF"/>
                </a:solidFill>
                <a:latin typeface="Segoe UI"/>
                <a:cs typeface="Segoe UI"/>
              </a:rPr>
              <a:t>PDEF / PREA lifecycle management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PLM Onboarding">
  <a:themeElements>
    <a:clrScheme name="Office">
      <a:dk1>
        <a:sysClr val="windowText" lastClr="000000"/>
      </a:dk1>
      <a:lt1>
        <a:sysClr val="window" lastClr="FFFFFF"/>
      </a:lt1>
      <a:dk2>
        <a:srgbClr val="133258"/>
      </a:dk2>
      <a:lt2>
        <a:srgbClr val="E9F0F8"/>
      </a:lt2>
      <a:accent1>
        <a:srgbClr val="FF8A3D"/>
      </a:accent1>
      <a:accent2>
        <a:srgbClr val="3ED0EE"/>
      </a:accent2>
      <a:accent3>
        <a:srgbClr val="4ADE9B"/>
      </a:accent3>
      <a:accent4>
        <a:srgbClr val="A78BFA"/>
      </a:accent4>
      <a:accent5>
        <a:srgbClr val="5B9BD5"/>
      </a:accent5>
      <a:accent6>
        <a:srgbClr val="70AD47"/>
      </a:accent6>
      <a:hlink>
        <a:srgbClr val="3ED0EE"/>
      </a:hlink>
      <a:folHlink>
        <a:srgbClr val="954F72"/>
      </a:folHlink>
    </a:clrScheme>
    <a:fontScheme name="Office">
      <a:majorFont>
        <a:latin typeface="Segoe U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M Onboarding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 in to PLM — Access, Security Context &amp; Interface</dc:title>
  <dc:creator>PLM onboarding</dc:creator>
  <cp:lastModifiedBy>PLM onboarding</cp:lastModifiedBy>
  <dcterms:created xsi:type="dcterms:W3CDTF">2026-09-10T00:00:00Z</dcterms:created>
  <dcterms:modified xsi:type="dcterms:W3CDTF">2026-09-10T00:00:00Z</dcterms:modified>
</cp:coreProperties>
</file>