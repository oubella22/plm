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/>
          <a:lstStyle/>
          <a:p>
            <a:pPr/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>
      <a:defRPr sz="1200">
        <a:solidFill>
          <a:srgbClr val="000000"/>
        </a:solidFill>
        <a:latin typeface="Segoe UI"/>
      </a:defRPr>
    </a:lvl1pPr>
    <a:lvl2pPr marL="0" algn="l">
      <a:defRPr sz="1200">
        <a:solidFill>
          <a:srgbClr val="000000"/>
        </a:solidFill>
        <a:latin typeface="Segoe UI"/>
      </a:defRPr>
    </a:lvl2pPr>
    <a:lvl3pPr marL="0" algn="l">
      <a:defRPr sz="1200">
        <a:solidFill>
          <a:srgbClr val="000000"/>
        </a:solidFill>
        <a:latin typeface="Segoe UI"/>
      </a:defRPr>
    </a:lvl3pPr>
    <a:lvl4pPr marL="0" algn="l">
      <a:defRPr sz="1200">
        <a:solidFill>
          <a:srgbClr val="000000"/>
        </a:solidFill>
        <a:latin typeface="Segoe UI"/>
      </a:defRPr>
    </a:lvl4pPr>
    <a:lvl5pPr marL="0" algn="l">
      <a:defRPr sz="1200">
        <a:solidFill>
          <a:srgbClr val="000000"/>
        </a:solidFill>
        <a:latin typeface="Segoe UI"/>
      </a:defRPr>
    </a:lvl5pPr>
    <a:lvl6pPr marL="0" algn="l">
      <a:defRPr sz="1200">
        <a:solidFill>
          <a:srgbClr val="000000"/>
        </a:solidFill>
        <a:latin typeface="Segoe UI"/>
      </a:defRPr>
    </a:lvl6pPr>
    <a:lvl7pPr marL="0" algn="l">
      <a:defRPr sz="1200">
        <a:solidFill>
          <a:srgbClr val="000000"/>
        </a:solidFill>
        <a:latin typeface="Segoe UI"/>
      </a:defRPr>
    </a:lvl7pPr>
    <a:lvl8pPr marL="0" algn="l">
      <a:defRPr sz="1200">
        <a:solidFill>
          <a:srgbClr val="000000"/>
        </a:solidFill>
        <a:latin typeface="Segoe UI"/>
      </a:defRPr>
    </a:lvl8pPr>
    <a:lvl9pPr marL="0" algn="l">
      <a:defRPr sz="1200">
        <a:solidFill>
          <a:srgbClr val="000000"/>
        </a:solidFill>
        <a:latin typeface="Segoe UI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ACCUEIL (30 s)</a:t>
            </a:r>
          </a:p>
          <a:p>
            <a:pPr/>
            <a:r>
              <a:rPr lang="fr-FR" dirty="0"/>
              <a:t>Bonjour, je m'appelle Youssef OUBELLA, Chargé de Développement 2D dans l'équipe CD2D.</a:t>
            </a:r>
          </a:p>
          <a:p>
            <a:pPr/>
            <a:r>
              <a:rPr lang="fr-FR" dirty="0"/>
              <a:t>Aujourd'hui je vous présente KATATOOL : un hub unique et hors ligne qui réunit nos outils, nos formations et les ressources de chaque équipe.</a:t>
            </a:r>
          </a:p>
          <a:p>
            <a:pPr/>
            <a:r>
              <a:rPr lang="fr-FR" dirty="0"/>
              <a:t>Trois temps : d'abord qui je suis et mon parcours, ensuite le problème que j'ai observé sur le terrain, enfin la solution que j'ai construite.</a:t>
            </a:r>
          </a:p>
          <a:p>
            <a:pPr/>
            <a:r>
              <a:rPr lang="fr-FR" dirty="0"/>
              <a:t>Posture : calme, regarder le jury, ne pas lire l'écran.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SOMMAIRE (20 s)</a:t>
            </a:r>
          </a:p>
          <a:p>
            <a:pPr/>
            <a:r>
              <a:rPr lang="fr-FR" dirty="0"/>
              <a:t>Annoncer le plan en une phrase par chapitre, puis enchaîner.</a:t>
            </a:r>
          </a:p>
          <a:p>
            <a:pPr/>
            <a:r>
              <a:rPr lang="fr-FR" dirty="0"/>
              <a:t>« Mon parcours, le problème, la solution, et ce qu'elle nous apporte. »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TRANSITION (5 s)</a:t>
            </a:r>
          </a:p>
          <a:p>
            <a:pPr/>
            <a:r>
              <a:rPr lang="fr-FR" dirty="0"/>
              <a:t>« Commençons par le parcours qui m'a mené jusqu'ici. »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QUI SUIS-JE (1 min 15)</a:t>
            </a:r>
          </a:p>
          <a:p>
            <a:pPr/>
            <a:r>
              <a:rPr lang="fr-FR" dirty="0"/>
              <a:t>Bonjour à toutes et à tous. Je m'appelle Youssef OUBELLA, Chargé de Développement 2D au sein de l'équipe CD2D.</a:t>
            </a:r>
          </a:p>
          <a:p>
            <a:pPr/>
            <a:r>
              <a:rPr lang="fr-FR" dirty="0"/>
              <a:t>Mon parcours a commencé dans le domaine scientifique : Baccalauréat Sciences Mathématiques A en 2018, puis Baccalauréat Sciences et Technologies en 2021.</a:t>
            </a:r>
          </a:p>
          <a:p>
            <a:pPr/>
            <a:r>
              <a:rPr lang="fr-FR" dirty="0"/>
              <a:t>Ensuite j'ai choisi le génie électrique : DUT à l'École Supérieure de Technologie de Guelmim, obtenu en 2023.</a:t>
            </a:r>
          </a:p>
          <a:p>
            <a:pPr/>
            <a:r>
              <a:rPr lang="fr-FR" dirty="0"/>
              <a:t>J'ai continué en parallèle de mon travail : Licence en Ingénierie de la Production Industrielle et Gestion de Projet en 2025, puis le Master en Ingénierie et Management Industriel — celui que je viens valider aujourd'hui devant vous.</a:t>
            </a:r>
          </a:p>
          <a:p>
            <a:pPr/>
            <a:r>
              <a:rPr lang="fr-FR" dirty="0"/>
              <a:t>CETTE DERNIÈRE PHRASE EST FORTE : elle relie votre parcours à ce moment précis. Marquez un temps après.</a:t>
            </a:r>
          </a:p>
          <a:p>
            <a:pPr/>
            <a:r>
              <a:rPr lang="fr-FR" dirty="0"/>
              <a:t>Déroulez la colonne de droite de haut en bas, sans citer les noms de lycées.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DIPLÔMES — DIAPO DE RÉSERVE (masquée dans la version 9 minutes)</a:t>
            </a:r>
          </a:p>
          <a:p>
            <a:pPr/>
            <a:r>
              <a:rPr lang="fr-FR" dirty="0"/>
              <a:t>À garder sous la main : si le jury demande un détail sur la formation, ou sur le master en cours, affichez-la pendant les questions.</a:t>
            </a:r>
          </a:p>
          <a:p>
            <a:pPr/>
            <a:r>
              <a:rPr lang="fr-FR" dirty="0"/>
              <a:t>Les cinq diplômes sont déjà résumés sur la diapo 4 — ici s'ajoutent les établissements.</a:t>
            </a:r>
          </a:p>
          <a:p>
            <a:pPr/>
            <a:r>
              <a:rPr lang="fr-FR" dirty="0"/>
              <a:t>À COMPLÉTER : les établissements de la Licence 2025 et du Master 2026.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PARCOURS PROFESSIONNEL (1 min 15)</a:t>
            </a:r>
          </a:p>
          <a:p>
            <a:pPr/>
            <a:r>
              <a:rPr lang="fr-FR" dirty="0"/>
              <a:t>Deux stages d'abord : l'ONEE, sur les équipements de protection des postes sources. Puis Marsa Maroc, sur la mise à niveau des installations électriques du port d'Agadir — câblage des armoires électriques et réalisation des schémas unifilaires sur AutoCAD.</a:t>
            </a:r>
          </a:p>
          <a:p>
            <a:pPr/>
            <a:r>
              <a:rPr lang="fr-FR" dirty="0"/>
              <a:t>En novembre 2023, j'ai rejoint MG2 comme Concepteur Faisceaux 2D. Depuis septembre 2024, je suis Chargé de Développement 2D.</a:t>
            </a:r>
          </a:p>
          <a:p>
            <a:pPr/>
            <a:r>
              <a:rPr lang="fr-FR" dirty="0"/>
              <a:t>Terminer sur le bandeau du bas : analyser, concevoir, valider et approuver les plans 2D avec Capital XC et PLM.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COMPÉTENCES — DIAPO DE RÉSERVE (masquée dans la version 9 minutes)</a:t>
            </a:r>
          </a:p>
          <a:p>
            <a:pPr/>
            <a:r>
              <a:rPr lang="fr-FR" dirty="0"/>
              <a:t>À afficher pendant les questions si on vous interroge sur vos outils, ou sur votre capacité à avoir développé l'application vous-même.</a:t>
            </a:r>
          </a:p>
          <a:p>
            <a:pPr/>
            <a:r>
              <a:rPr lang="fr-FR" dirty="0"/>
              <a:t>La troisième colonne est la réponse à « comment avez-vous fait cela tout seul ? »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MON ÉVOLUTION CHEZ MG2 (1 min 15) — DIAPO CHARNIÈRE</a:t>
            </a:r>
          </a:p>
          <a:p>
            <a:pPr/>
            <a:r>
              <a:rPr lang="fr-FR" dirty="0"/>
              <a:t>Depuis mon arrivée chez MG2, j'ai toujours eu envie de faire quelque chose de nouveau et d'apporter une valeur supplémentaire à l'équipe. J'ai donc commencé à proposer des sujets d'innovation.</a:t>
            </a:r>
          </a:p>
          <a:p>
            <a:pPr/>
            <a:r>
              <a:rPr lang="fr-FR" dirty="0"/>
              <a:t>J'ai aussi eu l'occasion d'accompagner des stagiaires et des nouveaux arrivants, et d'animer des formations pour l'équipe 2D, surtout sur Capital XC.</a:t>
            </a:r>
          </a:p>
          <a:p>
            <a:pPr/>
            <a:r>
              <a:rPr lang="fr-FR" dirty="0"/>
              <a:t>Avec le temps, j'ai remarqué un besoin : un nouvel arrivant doit apprendre beaucoup de choses en peu de temps — les bases du métier, Capital XC, les méthodes de travail et l'environnement du projet.</a:t>
            </a:r>
          </a:p>
          <a:p>
            <a:pPr/>
            <a:r>
              <a:rPr lang="fr-FR" dirty="0"/>
              <a:t>MARQUEZ UN TEMPS, puis : « C'est à partir de ce constat que j'ai pensé à KATATOOL. »</a:t>
            </a:r>
          </a:p>
          <a:p>
            <a:pPr/>
            <a:r>
              <a:rPr lang="fr-FR" dirty="0"/>
              <a:t>C'est la diapositive qui relie votre parcours au projet. Ne la survolez pas : c'est elle qui rend la suite légitime.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TRANSITION (5 s)</a:t>
            </a:r>
          </a:p>
          <a:p>
            <a:pPr/>
            <a:r>
              <a:rPr lang="fr-FR" dirty="0"/>
              <a:t>« Maintenant, le problème que j'ai observé — et que vous connaissez probablement tous. »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LE CONSTAT (40 s) — SLIDE À FORT IMPACT</a:t>
            </a:r>
          </a:p>
          <a:p>
            <a:pPr/>
            <a:r>
              <a:rPr lang="fr-FR" dirty="0"/>
              <a:t>Marquer une pause de 2 secondes après avoir affiché la phrase.</a:t>
            </a:r>
          </a:p>
          <a:p>
            <a:pPr/>
            <a:r>
              <a:rPr lang="fr-FR" dirty="0"/>
              <a:t>« Quand je suis arrivé, j'ai fait les formations obligatoires. Et après ? Plus rien. »</a:t>
            </a:r>
          </a:p>
          <a:p>
            <a:pPr/>
            <a:r>
              <a:rPr lang="fr-FR" dirty="0"/>
              <a:t>Le savoir de l'entreprise existe — il est simplement dispersé et difficile d'accès. Laisser le jury acquiescer.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LE PARCOURS ACTUEL (1 min)</a:t>
            </a:r>
          </a:p>
          <a:p>
            <a:pPr/>
            <a:r>
              <a:rPr lang="fr-FR" dirty="0"/>
              <a:t>Dérouler le chemin réel d'un collaborateur qui veut apprendre un outil : il fait sa formation obligatoire, puis il va sur SharePoint, il cherche des vidéos, il finit par demander à un collègue sur Teams… et il attend.</a:t>
            </a:r>
          </a:p>
          <a:p>
            <a:pPr/>
            <a:r>
              <a:rPr lang="fr-FR" dirty="0"/>
              <a:t>Point clé à dire clairement : « Ce chemin, chaque personne le refait depuis le début, à chaque nouveau besoin. »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LES QUATRE IRRITANTS (1 min)</a:t>
            </a:r>
          </a:p>
          <a:p>
            <a:pPr/>
            <a:r>
              <a:rPr lang="fr-FR" dirty="0"/>
              <a:t>Nommer les quatre problèmes, un par un, sans lire le texte des cartes.</a:t>
            </a:r>
          </a:p>
          <a:p>
            <a:pPr/>
            <a:r>
              <a:rPr lang="fr-FR" dirty="0"/>
              <a:t>Si le jury doit retenir un seul chiffre : le temps d'un collaborateur passé à chercher au lieu de produire.</a:t>
            </a:r>
          </a:p>
          <a:p>
            <a:pPr/>
            <a:r>
              <a:rPr lang="fr-FR" dirty="0"/>
              <a:t>Enchaîner directement sur la problématique.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PROBLÉMATIQUE (40 s) — LE CŒUR DE LA PRÉSENTATION</a:t>
            </a:r>
          </a:p>
          <a:p>
            <a:pPr/>
            <a:r>
              <a:rPr lang="fr-FR" dirty="0"/>
              <a:t>Lire la question lentement, une seule fois, puis se taire 2 secondes.</a:t>
            </a:r>
          </a:p>
          <a:p>
            <a:pPr/>
            <a:r>
              <a:rPr lang="fr-FR" dirty="0"/>
              <a:t>C'est la phrase que le jury doit retenir. Ne rien ajouter après.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OBJECTIFS (45 s)</a:t>
            </a:r>
          </a:p>
          <a:p>
            <a:pPr/>
            <a:r>
              <a:rPr lang="fr-FR" dirty="0"/>
              <a:t>Quatre objectifs fixés avant d'écrire la première ligne de code.</a:t>
            </a:r>
          </a:p>
          <a:p>
            <a:pPr/>
            <a:r>
              <a:rPr lang="fr-FR" dirty="0"/>
              <a:t>Insister sur « Digitaliser » : ce projet s'inscrit dans la démarche de digitalisation de l'entreprise. Ce n'est pas un projet isolé.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TRANSITION (5 s)</a:t>
            </a:r>
          </a:p>
          <a:p>
            <a:pPr/>
            <a:r>
              <a:rPr lang="fr-FR" dirty="0"/>
              <a:t>« Voilà ce que j'ai construit. »</a:t>
            </a:r>
          </a:p>
          <a:p>
            <a:pPr/>
            <a:r>
              <a:rPr lang="fr-FR" dirty="0"/>
              <a:t>Changement de ton : on passe du problème à la démonstration. Plus d'énergie dans la voix.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TOUT AU MÊME ENDROIT (50 s)</a:t>
            </a:r>
          </a:p>
          <a:p>
            <a:pPr/>
            <a:r>
              <a:rPr lang="fr-FR" dirty="0"/>
              <a:t>La promesse en une phrase : pas d'internet, pas d'installation compliquée. On ouvre, et on travaille.</a:t>
            </a:r>
          </a:p>
          <a:p>
            <a:pPr/>
            <a:r>
              <a:rPr lang="fr-FR" dirty="0"/>
              <a:t>Donner les chiffres du périmètre actuel, puis préciser que le socle est extensible : ajouter un outil ou une équipe se fait sans refaire l'app.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ARCHITECTURE (50 s)</a:t>
            </a:r>
          </a:p>
          <a:p>
            <a:pPr/>
            <a:r>
              <a:rPr lang="fr-FR" dirty="0"/>
              <a:t>Expliquer la logique : un tableau de bord unique, puis quatre portes d'entrée.</a:t>
            </a:r>
          </a:p>
          <a:p>
            <a:pPr/>
            <a:r>
              <a:rPr lang="fr-FR" dirty="0"/>
              <a:t>Cette structure est volontairement plate : deux clics maximum pour atteindre n'importe quelle ressource.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LES OUTILS (45 s)</a:t>
            </a:r>
          </a:p>
          <a:p>
            <a:pPr/>
            <a:r>
              <a:rPr lang="fr-FR" dirty="0"/>
              <a:t>Les cinq applications que nous utilisons réellement. Chacune a sa fiche et ses supports dans KATATOOL.</a:t>
            </a:r>
          </a:p>
          <a:p>
            <a:pPr/>
            <a:r>
              <a:rPr lang="fr-FR" dirty="0"/>
              <a:t>Ne pas décrire chaque outil : le jury les connaît. Dire simplement « tout est là, au même endroit ».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PARCOURS D'APPRENTISSAGE (1 min)</a:t>
            </a:r>
          </a:p>
          <a:p>
            <a:pPr/>
            <a:r>
              <a:rPr lang="fr-FR" dirty="0"/>
              <a:t>C'est le mécanisme central de l'application : on ne saute pas d'étape.</a:t>
            </a:r>
          </a:p>
          <a:p>
            <a:pPr/>
            <a:r>
              <a:rPr lang="fr-FR" dirty="0"/>
              <a:t>On suit le cours débutant, on passe le quiz — 15 questions, 70 % pour valider — et le niveau avancé se déverrouille.</a:t>
            </a:r>
          </a:p>
          <a:p>
            <a:pPr/>
            <a:r>
              <a:rPr lang="fr-FR" dirty="0"/>
              <a:t>Intérêt pour l'entreprise : on sait que la personne qui accède au niveau avancé maîtrise réellement les fondamentaux.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CONSTRUIT SUR LES SUPPORTS RÉELS (40 s)</a:t>
            </a:r>
          </a:p>
          <a:p>
            <a:pPr/>
            <a:r>
              <a:rPr lang="fr-FR" dirty="0"/>
              <a:t>Point de crédibilité important : les contenus ne sont pas inventés. Ils sont construits à partir de nos supports internes et de vraies captures d'écran de nos outils.</a:t>
            </a:r>
          </a:p>
          <a:p>
            <a:pPr/>
            <a:r>
              <a:rPr lang="fr-FR" dirty="0"/>
              <a:t>Le collaborateur reconnaît immédiatement l'écran qu'il a devant lui.</a:t>
            </a:r>
          </a:p>
          <a:p>
            <a:pPr/>
            <a:r>
              <a:rPr lang="fr-FR" dirty="0"/>
              <a:t>→ REMPLACER LE CADRE PAR VOTRE CAPTURE (Capital XC — Copy Harness Design).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LES EXERCICES (45 s)</a:t>
            </a:r>
          </a:p>
          <a:p>
            <a:pPr/>
            <a:r>
              <a:rPr lang="fr-FR" dirty="0"/>
              <a:t>Deux formats de question : le QCM, tiré directement du cours, et l'identification de composant sur un schéma — connecteur, épissure, clip, isolant.</a:t>
            </a:r>
          </a:p>
          <a:p>
            <a:pPr/>
            <a:r>
              <a:rPr lang="fr-FR" dirty="0"/>
              <a:t>À la fin : score, correction et déverrouillage du niveau suivant.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PLM — TROIS SECTIONS (50 s)</a:t>
            </a:r>
          </a:p>
          <a:p>
            <a:pPr/>
            <a:r>
              <a:rPr lang="fr-FR" dirty="0"/>
              <a:t>Le PLM est la partie la plus coûteuse à apprendre, et celle où les erreurs bloquent le plus. Elle est donc découpée en trois sections.</a:t>
            </a:r>
          </a:p>
          <a:p>
            <a:pPr/>
            <a:r>
              <a:rPr lang="fr-FR" dirty="0"/>
              <a:t>Généralités, Product ECO, puis PDEF &amp; PREA.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PLM / ECO — ÉCRANS RÉELS (50 s)</a:t>
            </a:r>
          </a:p>
          <a:p>
            <a:pPr/>
            <a:r>
              <a:rPr lang="fr-FR" dirty="0"/>
              <a:t>C'est la section la plus utile au quotidien : les trois façons de créer un ECO, la checklist complète des champs à remplir avant de libérer, et les corrections des blocages les plus fréquents.</a:t>
            </a:r>
          </a:p>
          <a:p>
            <a:pPr/>
            <a:r>
              <a:rPr lang="fr-FR" dirty="0"/>
              <a:t>Exemple concret à citer : « Promotion Failed — vous devez renseigner un Diversity Manager. » Avant, on cherchait. Maintenant, c'est écrit.</a:t>
            </a:r>
          </a:p>
          <a:p>
            <a:pPr/>
            <a:r>
              <a:rPr lang="fr-FR" dirty="0"/>
              <a:t>→ REMPLACER LE CADRE PAR VOTRE CAPTURE (écran ECO + message d'erreur).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PDEF &amp; PREA (45 s)</a:t>
            </a:r>
          </a:p>
          <a:p>
            <a:pPr/>
            <a:r>
              <a:rPr lang="fr-FR" dirty="0"/>
              <a:t>Une règle simple, souvent mal comprise : les documents montent d'abord, le produit suit ensuite, une étape à la fois.</a:t>
            </a:r>
          </a:p>
          <a:p>
            <a:pPr/>
            <a:r>
              <a:rPr lang="fr-FR" dirty="0"/>
              <a:t>Le statut Frozen ne concerne que le PREA — c'est l'erreur classique.</a:t>
            </a:r>
          </a:p>
          <a:p>
            <a:pPr/>
            <a:r>
              <a:rPr lang="fr-FR" dirty="0"/>
              <a:t>Cette seule slide fait gagner du temps à tout le monde.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ESPACES ÉQUIPES (50 s)</a:t>
            </a:r>
          </a:p>
          <a:p>
            <a:pPr/>
            <a:r>
              <a:rPr lang="fr-FR" dirty="0"/>
              <a:t>C'est la partie que je considère comme la plus différenciante.</a:t>
            </a:r>
          </a:p>
          <a:p>
            <a:pPr/>
            <a:r>
              <a:rPr lang="fr-FR" dirty="0"/>
              <a:t>Chaque équipe a son espace : si vous êtes en CD2D, vous ouvrez CD2D et vous y trouvez ce que vous devez faire et ce que vous devez savoir. Vous ne traversez pas le contenu des autres.</a:t>
            </a:r>
          </a:p>
          <a:p>
            <a:pPr/>
            <a:r>
              <a:rPr lang="fr-FR" dirty="0"/>
              <a:t>Le modèle est réplicable pour n'importe quelle autre équipe.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BOÎTE À OUTILS DSI (50 s)</a:t>
            </a:r>
          </a:p>
          <a:p>
            <a:pPr/>
            <a:r>
              <a:rPr lang="fr-FR" dirty="0"/>
              <a:t>Un exemple concret de ce que contient l'espace CD2D : un outil Excel que j'ai développé pour lire un DSI, comparer deux DSI et déplier l'arbre de diversité avec les règles EXCLUDE / REQUIRE.</a:t>
            </a:r>
          </a:p>
          <a:p>
            <a:pPr/>
            <a:r>
              <a:rPr lang="fr-FR" dirty="0"/>
              <a:t>Ce n'est pas de la documentation : c'est un outil de production, téléchargeable directement depuis l'application.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CONÇU POUR FONCTIONNER (45 s)</a:t>
            </a:r>
          </a:p>
          <a:p>
            <a:pPr/>
            <a:r>
              <a:rPr lang="fr-FR" dirty="0"/>
              <a:t>Trois choix techniques qui répondent aux contraintes de nos postes.</a:t>
            </a:r>
          </a:p>
          <a:p>
            <a:pPr/>
            <a:r>
              <a:rPr lang="fr-FR" dirty="0"/>
              <a:t>Hors ligne : tout est mis en cache à la première ouverture — aucune dépendance réseau, aucun problème d'accès.</a:t>
            </a:r>
          </a:p>
          <a:p>
            <a:pPr/>
            <a:r>
              <a:rPr lang="fr-FR" dirty="0"/>
              <a:t>Installable : sa propre fenêtre et son icône sur le bureau.</a:t>
            </a:r>
          </a:p>
          <a:p>
            <a:pPr/>
            <a:r>
              <a:rPr lang="fr-FR" dirty="0"/>
              <a:t>Bilingue FR / EN : un clic, et le choix est mémorisé.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TRANSITION (5 s)</a:t>
            </a:r>
          </a:p>
          <a:p>
            <a:pPr/>
            <a:r>
              <a:rPr lang="fr-FR" dirty="0"/>
              <a:t>« Reste la question qui compte : qu'est-ce que ça change ? »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AVANT / APRÈS (1 min) — SLIDE LA PLUS PERSUASIVE</a:t>
            </a:r>
          </a:p>
          <a:p>
            <a:pPr/>
            <a:r>
              <a:rPr lang="fr-FR" dirty="0"/>
              <a:t>Prendre le temps sur cette slide. Lire la colonne de gauche, puis celle de droite, ligne par ligne.</a:t>
            </a:r>
          </a:p>
          <a:p>
            <a:pPr/>
            <a:r>
              <a:rPr lang="fr-FR" dirty="0"/>
              <a:t>C'est ici que le jury mesure la valeur. Ne pas se précipiter.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BÉNÉFICES (1 min)</a:t>
            </a:r>
          </a:p>
          <a:p>
            <a:pPr/>
            <a:r>
              <a:rPr lang="fr-FR" dirty="0"/>
              <a:t>Quatre bénéfices, du plus opérationnel au plus stratégique.</a:t>
            </a:r>
          </a:p>
          <a:p>
            <a:pPr/>
            <a:r>
              <a:rPr lang="fr-FR" dirty="0"/>
              <a:t>Le quatrième est celui qui parle à la direction : KATATOOL est montrable à un client qui visite le site.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VITRINE CLIENT (40 s)</a:t>
            </a:r>
          </a:p>
          <a:p>
            <a:pPr/>
            <a:r>
              <a:rPr lang="fr-FR" dirty="0"/>
              <a:t>Argument à assumer clairement devant le jury : quand un client visite nos locaux, nous pouvons ouvrir KATATOOL et montrer un outil que nous avons conçu nous-mêmes, pour nos propres besoins.</a:t>
            </a:r>
          </a:p>
          <a:p>
            <a:pPr/>
            <a:r>
              <a:rPr lang="fr-FR" dirty="0"/>
              <a:t>Ce n'est pas un slogan : c'est une preuve de maturité et de démarche d'amélioration continue.</a:t>
            </a:r>
          </a:p>
          <a:p>
            <a:pPr/>
            <a:r>
              <a:rPr lang="fr-FR" dirty="0"/>
              <a:t>Rester factuel, ne pas survendre.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PERSPECTIVES (50 s)</a:t>
            </a:r>
          </a:p>
          <a:p>
            <a:pPr/>
            <a:r>
              <a:rPr lang="fr-FR" dirty="0"/>
              <a:t>Montrer que le projet n'est pas terminé et qu'il a une trajectoire.</a:t>
            </a:r>
          </a:p>
          <a:p>
            <a:pPr/>
            <a:r>
              <a:rPr lang="fr-FR" dirty="0"/>
              <a:t>Étendre le catalogue d'outils, ouvrir à d'autres équipes, suivre les compétences validées, ajouter de la vidéo courte.</a:t>
            </a:r>
          </a:p>
          <a:p>
            <a:pPr/>
            <a:r>
              <a:rPr lang="fr-FR" dirty="0"/>
              <a:t>Formulation : « Voilà ce que je propose pour la suite » — pas « il faudrait ».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CONCLUSION (30 s)</a:t>
            </a:r>
          </a:p>
          <a:p>
            <a:pPr/>
            <a:r>
              <a:rPr lang="fr-FR" dirty="0"/>
              <a:t>Une seule phrase, dite lentement, en regardant le jury.</a:t>
            </a:r>
          </a:p>
          <a:p>
            <a:pPr/>
            <a:r>
              <a:rPr lang="fr-FR" dirty="0"/>
              <a:t>Puis se taire. Ne pas ajouter de commentaire — laisser la phrase agir.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/>
            <a:r>
              <a:rPr lang="fr-FR" dirty="0"/>
              <a:t>MERCI / QUESTIONS (le reste du temps)</a:t>
            </a:r>
          </a:p>
          <a:p>
            <a:pPr/>
            <a:r>
              <a:rPr lang="fr-FR" dirty="0"/>
              <a:t>Remercier, puis ouvrir les questions.</a:t>
            </a:r>
          </a:p>
          <a:p>
            <a:pPr/>
            <a:endParaRPr lang="fr-FR"/>
          </a:p>
          <a:p>
            <a:pPr/>
            <a:r>
              <a:rPr lang="fr-FR" dirty="0"/>
              <a:t>QUESTIONS PROBABLES — réponses préparées :</a:t>
            </a:r>
          </a:p>
          <a:p>
            <a:pPr/>
            <a:r>
              <a:rPr lang="fr-FR" dirty="0"/>
              <a:t>· « Combien de temps pour le développer ? » → donner un chiffre honnête, et préciser : sur mon temps, sans impact sur les livrables projet.</a:t>
            </a:r>
          </a:p>
          <a:p>
            <a:pPr/>
            <a:r>
              <a:rPr lang="fr-FR" dirty="0"/>
              <a:t>· « Qui met le contenu à jour ? » → proposer un référent par équipe ; je reste garant de la structure.</a:t>
            </a:r>
          </a:p>
          <a:p>
            <a:pPr/>
            <a:r>
              <a:rPr lang="fr-FR" dirty="0"/>
              <a:t>· « Et la confidentialité des données ? » → 100 % local, aucune donnée ne sort du poste, aucun serveur externe.</a:t>
            </a:r>
          </a:p>
          <a:p>
            <a:pPr/>
            <a:r>
              <a:rPr lang="fr-FR" dirty="0"/>
              <a:t>· « Pourquoi pas SharePoint ? » → SharePoint stocke ; KATATOOL guide, évalue et fonctionne hors ligne.</a:t>
            </a:r>
          </a:p>
          <a:p>
            <a:pPr/>
            <a:r>
              <a:rPr lang="fr-FR" dirty="0"/>
              <a:t>· « Est-ce maintenable si vous partez ? » → structure simple et documentée, contenu séparé du code.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>
        <a:defRPr sz="4000">
          <a:solidFill>
            <a:srgbClr val="FFFFFF"/>
          </a:solidFill>
          <a:latin typeface="Segoe UI"/>
        </a:defRPr>
      </a:lvl1pPr>
      <a:lvl2pPr marL="0" algn="l">
        <a:defRPr sz="4000">
          <a:solidFill>
            <a:srgbClr val="FFFFFF"/>
          </a:solidFill>
          <a:latin typeface="Segoe UI"/>
        </a:defRPr>
      </a:lvl2pPr>
      <a:lvl3pPr marL="0" algn="l">
        <a:defRPr sz="4000">
          <a:solidFill>
            <a:srgbClr val="FFFFFF"/>
          </a:solidFill>
          <a:latin typeface="Segoe UI"/>
        </a:defRPr>
      </a:lvl3pPr>
      <a:lvl4pPr marL="0" algn="l">
        <a:defRPr sz="4000">
          <a:solidFill>
            <a:srgbClr val="FFFFFF"/>
          </a:solidFill>
          <a:latin typeface="Segoe UI"/>
        </a:defRPr>
      </a:lvl4pPr>
      <a:lvl5pPr marL="0" algn="l">
        <a:defRPr sz="4000">
          <a:solidFill>
            <a:srgbClr val="FFFFFF"/>
          </a:solidFill>
          <a:latin typeface="Segoe UI"/>
        </a:defRPr>
      </a:lvl5pPr>
      <a:lvl6pPr marL="0" algn="l">
        <a:defRPr sz="4000">
          <a:solidFill>
            <a:srgbClr val="FFFFFF"/>
          </a:solidFill>
          <a:latin typeface="Segoe UI"/>
        </a:defRPr>
      </a:lvl6pPr>
      <a:lvl7pPr marL="0" algn="l">
        <a:defRPr sz="4000">
          <a:solidFill>
            <a:srgbClr val="FFFFFF"/>
          </a:solidFill>
          <a:latin typeface="Segoe UI"/>
        </a:defRPr>
      </a:lvl7pPr>
      <a:lvl8pPr marL="0" algn="l">
        <a:defRPr sz="4000">
          <a:solidFill>
            <a:srgbClr val="FFFFFF"/>
          </a:solidFill>
          <a:latin typeface="Segoe UI"/>
        </a:defRPr>
      </a:lvl8pPr>
      <a:lvl9pPr marL="0" algn="l">
        <a:defRPr sz="4000">
          <a:solidFill>
            <a:srgbClr val="FFFFFF"/>
          </a:solidFill>
          <a:latin typeface="Segoe UI"/>
        </a:defRPr>
      </a:lvl9pPr>
    </p:titleStyle>
    <p:bodyStyle>
      <a:lvl1pPr marL="0" algn="l">
        <a:defRPr sz="1400">
          <a:solidFill>
            <a:srgbClr val="FFFFFF"/>
          </a:solidFill>
          <a:latin typeface="Segoe UI"/>
        </a:defRPr>
      </a:lvl1pPr>
      <a:lvl2pPr marL="0" algn="l">
        <a:defRPr sz="1400">
          <a:solidFill>
            <a:srgbClr val="FFFFFF"/>
          </a:solidFill>
          <a:latin typeface="Segoe UI"/>
        </a:defRPr>
      </a:lvl2pPr>
      <a:lvl3pPr marL="0" algn="l">
        <a:defRPr sz="1400">
          <a:solidFill>
            <a:srgbClr val="FFFFFF"/>
          </a:solidFill>
          <a:latin typeface="Segoe UI"/>
        </a:defRPr>
      </a:lvl3pPr>
      <a:lvl4pPr marL="0" algn="l">
        <a:defRPr sz="1400">
          <a:solidFill>
            <a:srgbClr val="FFFFFF"/>
          </a:solidFill>
          <a:latin typeface="Segoe UI"/>
        </a:defRPr>
      </a:lvl4pPr>
      <a:lvl5pPr marL="0" algn="l">
        <a:defRPr sz="1400">
          <a:solidFill>
            <a:srgbClr val="FFFFFF"/>
          </a:solidFill>
          <a:latin typeface="Segoe UI"/>
        </a:defRPr>
      </a:lvl5pPr>
      <a:lvl6pPr marL="0" algn="l">
        <a:defRPr sz="1400">
          <a:solidFill>
            <a:srgbClr val="FFFFFF"/>
          </a:solidFill>
          <a:latin typeface="Segoe UI"/>
        </a:defRPr>
      </a:lvl6pPr>
      <a:lvl7pPr marL="0" algn="l">
        <a:defRPr sz="1400">
          <a:solidFill>
            <a:srgbClr val="FFFFFF"/>
          </a:solidFill>
          <a:latin typeface="Segoe UI"/>
        </a:defRPr>
      </a:lvl7pPr>
      <a:lvl8pPr marL="0" algn="l">
        <a:defRPr sz="1400">
          <a:solidFill>
            <a:srgbClr val="FFFFFF"/>
          </a:solidFill>
          <a:latin typeface="Segoe UI"/>
        </a:defRPr>
      </a:lvl8pPr>
      <a:lvl9pPr marL="0" algn="l">
        <a:defRPr sz="1400">
          <a:solidFill>
            <a:srgbClr val="FFFFFF"/>
          </a:solidFill>
          <a:latin typeface="Segoe UI"/>
        </a:defRPr>
      </a:lvl9pPr>
    </p:bodyStyle>
    <p:otherStyle>
      <a:lvl1pPr marL="0" algn="l">
        <a:defRPr sz="1400">
          <a:solidFill>
            <a:srgbClr val="FFFFFF"/>
          </a:solidFill>
          <a:latin typeface="Segoe UI"/>
        </a:defRPr>
      </a:lvl1pPr>
      <a:lvl2pPr marL="0" algn="l">
        <a:defRPr sz="1400">
          <a:solidFill>
            <a:srgbClr val="FFFFFF"/>
          </a:solidFill>
          <a:latin typeface="Segoe UI"/>
        </a:defRPr>
      </a:lvl2pPr>
      <a:lvl3pPr marL="0" algn="l">
        <a:defRPr sz="1400">
          <a:solidFill>
            <a:srgbClr val="FFFFFF"/>
          </a:solidFill>
          <a:latin typeface="Segoe UI"/>
        </a:defRPr>
      </a:lvl3pPr>
      <a:lvl4pPr marL="0" algn="l">
        <a:defRPr sz="1400">
          <a:solidFill>
            <a:srgbClr val="FFFFFF"/>
          </a:solidFill>
          <a:latin typeface="Segoe UI"/>
        </a:defRPr>
      </a:lvl4pPr>
      <a:lvl5pPr marL="0" algn="l">
        <a:defRPr sz="1400">
          <a:solidFill>
            <a:srgbClr val="FFFFFF"/>
          </a:solidFill>
          <a:latin typeface="Segoe UI"/>
        </a:defRPr>
      </a:lvl5pPr>
      <a:lvl6pPr marL="0" algn="l">
        <a:defRPr sz="1400">
          <a:solidFill>
            <a:srgbClr val="FFFFFF"/>
          </a:solidFill>
          <a:latin typeface="Segoe UI"/>
        </a:defRPr>
      </a:lvl6pPr>
      <a:lvl7pPr marL="0" algn="l">
        <a:defRPr sz="1400">
          <a:solidFill>
            <a:srgbClr val="FFFFFF"/>
          </a:solidFill>
          <a:latin typeface="Segoe UI"/>
        </a:defRPr>
      </a:lvl7pPr>
      <a:lvl8pPr marL="0" algn="l">
        <a:defRPr sz="1400">
          <a:solidFill>
            <a:srgbClr val="FFFFFF"/>
          </a:solidFill>
          <a:latin typeface="Segoe UI"/>
        </a:defRPr>
      </a:lvl8pPr>
      <a:lvl9pPr marL="0" algn="l">
        <a:defRPr sz="1400">
          <a:solidFill>
            <a:srgbClr val="FFFFFF"/>
          </a:solidFill>
          <a:latin typeface="Segoe UI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Logo"/>
          <p:cNvSpPr/>
          <p:nvPr/>
        </p:nvSpPr>
        <p:spPr>
          <a:xfrm>
            <a:off x="5432908" y="731520"/>
            <a:ext cx="1325880" cy="1325880"/>
          </a:xfrm>
          <a:prstGeom prst="roundRect">
            <a:avLst>
              <a:gd name="adj" fmla="val 16000"/>
            </a:avLst>
          </a:prstGeom>
          <a:solidFill>
            <a:srgbClr val="0F2540">
              <a:alpha val="45000"/>
            </a:srgbClr>
          </a:solidFill>
          <a:ln w="15240" cap="flat" cmpd="sng" algn="ctr">
            <a:solidFill>
              <a:srgbClr val="2E5177">
                <a:alpha val="60000"/>
              </a:srgbClr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000" dirty="0" b="1" spc="150">
                <a:solidFill>
                  <a:srgbClr val="547590"/>
                </a:solidFill>
                <a:latin typeface="Segoe UI"/>
                <a:cs typeface="Segoe UI"/>
              </a:rPr>
              <a:t>LOGO</a:t>
            </a:r>
          </a:p>
        </p:txBody>
      </p:sp>
      <p:sp>
        <p:nvSpPr>
          <p:cNvPr id="4" name="Text"/>
          <p:cNvSpPr/>
          <p:nvPr/>
        </p:nvSpPr>
        <p:spPr>
          <a:xfrm>
            <a:off x="0" y="2212848"/>
            <a:ext cx="121916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50" dirty="0" b="1" spc="260" cap="all">
                <a:solidFill>
                  <a:srgbClr val="22D3EE"/>
                </a:solidFill>
                <a:latin typeface="Segoe UI"/>
                <a:cs typeface="Segoe UI"/>
              </a:rPr>
              <a:t>Soutenance · Carte de passage</a:t>
            </a:r>
          </a:p>
        </p:txBody>
      </p:sp>
      <p:sp>
        <p:nvSpPr>
          <p:cNvPr id="5" name="Text"/>
          <p:cNvSpPr/>
          <p:nvPr/>
        </p:nvSpPr>
        <p:spPr>
          <a:xfrm>
            <a:off x="0" y="2523744"/>
            <a:ext cx="12191695" cy="1405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8400" dirty="0" b="1" spc="150">
                <a:solidFill>
                  <a:srgbClr val="FFFFFF"/>
                </a:solidFill>
                <a:latin typeface="Segoe UI"/>
                <a:cs typeface="Segoe UI"/>
              </a:rPr>
              <a:t>KATATOOL</a:t>
            </a:r>
          </a:p>
        </p:txBody>
      </p:sp>
      <p:sp>
        <p:nvSpPr>
          <p:cNvPr id="6" name="Text"/>
          <p:cNvSpPr/>
          <p:nvPr/>
        </p:nvSpPr>
        <p:spPr>
          <a:xfrm>
            <a:off x="1280160" y="3968496"/>
            <a:ext cx="963137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fr-FR" sz="1650" dirty="0">
                <a:solidFill>
                  <a:srgbClr val="9FB6CE"/>
                </a:solidFill>
                <a:latin typeface="Segoe UI"/>
                <a:cs typeface="Segoe UI"/>
              </a:rPr>
              <a:t>Un point d'accès unique pour les outils, la formation et les ressources métier.</a:t>
            </a:r>
          </a:p>
        </p:txBody>
      </p:sp>
      <p:sp>
        <p:nvSpPr>
          <p:cNvPr id="7" name="Pastille"/>
          <p:cNvSpPr/>
          <p:nvPr/>
        </p:nvSpPr>
        <p:spPr>
          <a:xfrm>
            <a:off x="3514954" y="4572000"/>
            <a:ext cx="2104949" cy="420624"/>
          </a:xfrm>
          <a:prstGeom prst="roundRect">
            <a:avLst>
              <a:gd name="adj" fmla="val 50000"/>
            </a:avLst>
          </a:prstGeom>
          <a:solidFill>
            <a:srgbClr val="5B9DF9">
              <a:alpha val="12000"/>
            </a:srgbClr>
          </a:solidFill>
          <a:ln w="13970" cap="flat" cmpd="sng" algn="ctr">
            <a:solidFill>
              <a:srgbClr val="5B9DF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5B9DF9"/>
                </a:solidFill>
                <a:latin typeface="Segoe UI"/>
                <a:cs typeface="Segoe UI"/>
              </a:rPr>
              <a:t>Application hors ligne</a:t>
            </a:r>
          </a:p>
        </p:txBody>
      </p:sp>
      <p:sp>
        <p:nvSpPr>
          <p:cNvPr id="8" name="Pastille"/>
          <p:cNvSpPr/>
          <p:nvPr/>
        </p:nvSpPr>
        <p:spPr>
          <a:xfrm>
            <a:off x="5821070" y="4572000"/>
            <a:ext cx="1660550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3970" cap="flat" cmpd="sng" algn="ctr">
            <a:solidFill>
              <a:srgbClr val="34D39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34D399"/>
                </a:solidFill>
                <a:latin typeface="Segoe UI"/>
                <a:cs typeface="Segoe UI"/>
              </a:rPr>
              <a:t>Formation &amp; quiz</a:t>
            </a:r>
          </a:p>
        </p:txBody>
      </p:sp>
      <p:sp>
        <p:nvSpPr>
          <p:cNvPr id="9" name="Pastille"/>
          <p:cNvSpPr/>
          <p:nvPr/>
        </p:nvSpPr>
        <p:spPr>
          <a:xfrm>
            <a:off x="7682789" y="4572000"/>
            <a:ext cx="993953" cy="420624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3970" cap="flat" cmpd="sng" algn="ctr">
            <a:solidFill>
              <a:srgbClr val="F59E0B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F59E0B"/>
                </a:solidFill>
                <a:latin typeface="Segoe UI"/>
                <a:cs typeface="Segoe UI"/>
              </a:rPr>
              <a:t>FR / EN</a:t>
            </a:r>
          </a:p>
        </p:txBody>
      </p:sp>
      <p:sp>
        <p:nvSpPr>
          <p:cNvPr id="10" name="Filet"/>
          <p:cNvSpPr/>
          <p:nvPr/>
        </p:nvSpPr>
        <p:spPr>
          <a:xfrm>
            <a:off x="5181448" y="5285232"/>
            <a:ext cx="1828800" cy="25603"/>
          </a:xfrm>
          <a:prstGeom prst="rect">
            <a:avLst/>
          </a:prstGeom>
          <a:solidFill>
            <a:srgbClr val="22D3EE">
              <a:alpha val="4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1" name="Text"/>
          <p:cNvSpPr/>
          <p:nvPr/>
        </p:nvSpPr>
        <p:spPr>
          <a:xfrm>
            <a:off x="0" y="5468112"/>
            <a:ext cx="121916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Youssef OUBELLA</a:t>
            </a:r>
          </a:p>
        </p:txBody>
      </p:sp>
      <p:sp>
        <p:nvSpPr>
          <p:cNvPr id="12" name="Text"/>
          <p:cNvSpPr/>
          <p:nvPr/>
        </p:nvSpPr>
        <p:spPr>
          <a:xfrm>
            <a:off x="0" y="5779008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00" dirty="0">
                <a:solidFill>
                  <a:srgbClr val="6E89A6"/>
                </a:solidFill>
                <a:latin typeface="Segoe UI"/>
                <a:cs typeface="Segoe UI"/>
              </a:rPr>
              <a:t>Chargé de Développement 2D · Équipe CD2D · MG2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Sommaire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Le déroulé de cette présentation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1758620" cy="6006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Présentation &amp; parcours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819347"/>
            <a:ext cx="1758620" cy="1502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Qui je suis, ma formation et mon parcours professionnel jusqu'à mon poste actuel.</a:t>
            </a:r>
          </a:p>
        </p:txBody>
      </p:sp>
      <p:sp>
        <p:nvSpPr>
          <p:cNvPr id="11" name="Carte"/>
          <p:cNvSpPr/>
          <p:nvPr/>
        </p:nvSpPr>
        <p:spPr>
          <a:xfrm>
            <a:off x="3505124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3852596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3852596" y="3127248"/>
            <a:ext cx="1758620" cy="6006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Contexte &amp; problématique</a:t>
            </a:r>
          </a:p>
        </p:txBody>
      </p:sp>
      <p:sp>
        <p:nvSpPr>
          <p:cNvPr id="14" name="Text"/>
          <p:cNvSpPr/>
          <p:nvPr/>
        </p:nvSpPr>
        <p:spPr>
          <a:xfrm>
            <a:off x="3852596" y="3819347"/>
            <a:ext cx="1758620" cy="1502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Ce que j'ai observé sur le terrain : le savoir existe, mais il est difficile à trouver.</a:t>
            </a:r>
          </a:p>
        </p:txBody>
      </p:sp>
      <p:sp>
        <p:nvSpPr>
          <p:cNvPr id="15" name="Carte"/>
          <p:cNvSpPr/>
          <p:nvPr/>
        </p:nvSpPr>
        <p:spPr>
          <a:xfrm>
            <a:off x="6233008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658048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6580480" y="3127248"/>
            <a:ext cx="1758620" cy="6006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KATATOOL</a:t>
            </a:r>
          </a:p>
        </p:txBody>
      </p:sp>
      <p:sp>
        <p:nvSpPr>
          <p:cNvPr id="18" name="Text"/>
          <p:cNvSpPr/>
          <p:nvPr/>
        </p:nvSpPr>
        <p:spPr>
          <a:xfrm>
            <a:off x="6580480" y="3819347"/>
            <a:ext cx="1758620" cy="1502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La solution : un hub unique, hors ligne, bilingue, avec formations et espaces équipes.</a:t>
            </a:r>
          </a:p>
        </p:txBody>
      </p:sp>
      <p:sp>
        <p:nvSpPr>
          <p:cNvPr id="19" name="Carte"/>
          <p:cNvSpPr/>
          <p:nvPr/>
        </p:nvSpPr>
        <p:spPr>
          <a:xfrm>
            <a:off x="8960891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0" name="Puce"/>
          <p:cNvSpPr/>
          <p:nvPr/>
        </p:nvSpPr>
        <p:spPr>
          <a:xfrm>
            <a:off x="9308363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1" name="Text"/>
          <p:cNvSpPr/>
          <p:nvPr/>
        </p:nvSpPr>
        <p:spPr>
          <a:xfrm>
            <a:off x="9308363" y="3127248"/>
            <a:ext cx="1758620" cy="6006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Bénéfices &amp; perspectives</a:t>
            </a:r>
          </a:p>
        </p:txBody>
      </p:sp>
      <p:sp>
        <p:nvSpPr>
          <p:cNvPr id="22" name="Text"/>
          <p:cNvSpPr/>
          <p:nvPr/>
        </p:nvSpPr>
        <p:spPr>
          <a:xfrm>
            <a:off x="9308363" y="3819347"/>
            <a:ext cx="1758620" cy="1502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L'impact pour l'équipe, pour l'entreprise et les prochaines étapes.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5" name="Text"/>
          <p:cNvSpPr/>
          <p:nvPr/>
        </p:nvSpPr>
        <p:spPr>
          <a:xfrm>
            <a:off x="7253935" y="137160"/>
            <a:ext cx="45720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21000" dirty="0" b="1">
                <a:solidFill>
                  <a:srgbClr val="FFFFFF">
                    <a:alpha val="6000"/>
                  </a:srgbClr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6" name="Filet"/>
          <p:cNvSpPr/>
          <p:nvPr/>
        </p:nvSpPr>
        <p:spPr>
          <a:xfrm>
            <a:off x="777240" y="2395728"/>
            <a:ext cx="822960" cy="41148"/>
          </a:xfrm>
          <a:prstGeom prst="rect">
            <a:avLst/>
          </a:prstGeom>
          <a:solidFill>
            <a:srgbClr val="5B9DF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7" name="Text"/>
          <p:cNvSpPr/>
          <p:nvPr/>
        </p:nvSpPr>
        <p:spPr>
          <a:xfrm>
            <a:off x="777240" y="2697480"/>
            <a:ext cx="1063721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200" dirty="0" b="1" spc="240" cap="all">
                <a:solidFill>
                  <a:srgbClr val="5B9DF9"/>
                </a:solidFill>
                <a:latin typeface="Segoe UI"/>
                <a:cs typeface="Segoe UI"/>
              </a:rPr>
              <a:t>CHAPITRE 01</a:t>
            </a:r>
          </a:p>
        </p:txBody>
      </p:sp>
      <p:sp>
        <p:nvSpPr>
          <p:cNvPr id="8" name="Text"/>
          <p:cNvSpPr/>
          <p:nvPr/>
        </p:nvSpPr>
        <p:spPr>
          <a:xfrm>
            <a:off x="777240" y="3072384"/>
            <a:ext cx="9722815" cy="17166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fr-FR" sz="4800" dirty="0" b="1">
                <a:solidFill>
                  <a:srgbClr val="FFFFFF"/>
                </a:solidFill>
                <a:latin typeface="Segoe UI"/>
                <a:cs typeface="Segoe UI"/>
              </a:rPr>
              <a:t>Présentation &amp;
parcours professionnel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5063338"/>
            <a:ext cx="8442655" cy="382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fr-FR" sz="1550" dirty="0">
                <a:solidFill>
                  <a:srgbClr val="9FB6CE"/>
                </a:solidFill>
                <a:latin typeface="Segoe UI"/>
                <a:cs typeface="Segoe UI"/>
              </a:rPr>
              <a:t>Du génie électrique à la conception de faisceaux automobiles.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Présentation personnelle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Qui suis-je ?</a:t>
            </a:r>
          </a:p>
        </p:txBody>
      </p:sp>
      <p:sp>
        <p:nvSpPr>
          <p:cNvPr id="7" name="Photo"/>
          <p:cNvSpPr/>
          <p:nvPr/>
        </p:nvSpPr>
        <p:spPr>
          <a:xfrm>
            <a:off x="777240" y="2084832"/>
            <a:ext cx="2788920" cy="4041648"/>
          </a:xfrm>
          <a:prstGeom prst="roundRect">
            <a:avLst>
              <a:gd name="adj" fmla="val 6000"/>
            </a:avLst>
          </a:prstGeom>
          <a:solidFill>
            <a:srgbClr val="0F2540">
              <a:alpha val="45000"/>
            </a:srgbClr>
          </a:solidFill>
          <a:ln w="15240" cap="flat" cmpd="sng" algn="ctr">
            <a:solidFill>
              <a:srgbClr val="2E5177">
                <a:alpha val="55000"/>
              </a:srgbClr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050" dirty="0" b="1" spc="160">
                <a:solidFill>
                  <a:srgbClr val="547590"/>
                </a:solidFill>
                <a:latin typeface="Segoe UI"/>
                <a:cs typeface="Segoe UI"/>
              </a:rPr>
              <a:t>PHOTO</a:t>
            </a:r>
          </a:p>
        </p:txBody>
      </p:sp>
      <p:sp>
        <p:nvSpPr>
          <p:cNvPr id="8" name="Text"/>
          <p:cNvSpPr/>
          <p:nvPr/>
        </p:nvSpPr>
        <p:spPr>
          <a:xfrm>
            <a:off x="4069080" y="2121408"/>
            <a:ext cx="7345375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3200" dirty="0" b="1">
                <a:solidFill>
                  <a:srgbClr val="FFFFFF"/>
                </a:solidFill>
                <a:latin typeface="Segoe UI"/>
                <a:cs typeface="Segoe UI"/>
              </a:rPr>
              <a:t>Youssef OUBELLA</a:t>
            </a:r>
          </a:p>
        </p:txBody>
      </p:sp>
      <p:sp>
        <p:nvSpPr>
          <p:cNvPr id="9" name="Text"/>
          <p:cNvSpPr/>
          <p:nvPr/>
        </p:nvSpPr>
        <p:spPr>
          <a:xfrm>
            <a:off x="4069080" y="2706624"/>
            <a:ext cx="734537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>
                <a:solidFill>
                  <a:srgbClr val="22D3EE"/>
                </a:solidFill>
                <a:latin typeface="Segoe UI"/>
                <a:cs typeface="Segoe UI"/>
              </a:rPr>
              <a:t>Chargé de Développement 2D  ·  Équipe CD2D  ·  MG2 Engineering</a:t>
            </a:r>
          </a:p>
        </p:txBody>
      </p:sp>
      <p:sp>
        <p:nvSpPr>
          <p:cNvPr id="10" name="Text"/>
          <p:cNvSpPr/>
          <p:nvPr/>
        </p:nvSpPr>
        <p:spPr>
          <a:xfrm>
            <a:off x="4069080" y="3145536"/>
            <a:ext cx="7162495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fr-FR" sz="1350" dirty="0">
                <a:solidFill>
                  <a:srgbClr val="9FB6CE"/>
                </a:solidFill>
                <a:latin typeface="Segoe UI"/>
                <a:cs typeface="Segoe UI"/>
              </a:rPr>
              <a:t>Passionné par l'électricité et par la conception de faisceaux, et formé en parallèle à l'ingénierie et au management industriel.</a:t>
            </a:r>
          </a:p>
        </p:txBody>
      </p:sp>
      <p:sp>
        <p:nvSpPr>
          <p:cNvPr id="11" name="Text"/>
          <p:cNvSpPr/>
          <p:nvPr/>
        </p:nvSpPr>
        <p:spPr>
          <a:xfrm>
            <a:off x="4069080" y="4023360"/>
            <a:ext cx="734537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000" dirty="0" b="1" spc="180" cap="all">
                <a:solidFill>
                  <a:srgbClr val="6E89A6"/>
                </a:solidFill>
                <a:latin typeface="Segoe UI"/>
                <a:cs typeface="Segoe UI"/>
              </a:rPr>
              <a:t>Parcours académique</a:t>
            </a:r>
          </a:p>
        </p:txBody>
      </p:sp>
      <p:sp>
        <p:nvSpPr>
          <p:cNvPr id="12" name="Axe"/>
          <p:cNvSpPr/>
          <p:nvPr/>
        </p:nvSpPr>
        <p:spPr>
          <a:xfrm>
            <a:off x="4855464" y="4517136"/>
            <a:ext cx="20117" cy="1426464"/>
          </a:xfrm>
          <a:prstGeom prst="rect">
            <a:avLst/>
          </a:prstGeom>
          <a:solidFill>
            <a:srgbClr val="2A4A6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3" name="Text"/>
          <p:cNvSpPr/>
          <p:nvPr/>
        </p:nvSpPr>
        <p:spPr>
          <a:xfrm>
            <a:off x="4069080" y="438912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200" dirty="0" b="1">
                <a:solidFill>
                  <a:srgbClr val="5B9DF9"/>
                </a:solidFill>
                <a:latin typeface="Segoe UI"/>
                <a:cs typeface="Segoe UI"/>
              </a:rPr>
              <a:t>2018</a:t>
            </a:r>
          </a:p>
        </p:txBody>
      </p:sp>
      <p:sp>
        <p:nvSpPr>
          <p:cNvPr id="14" name="Point"/>
          <p:cNvSpPr/>
          <p:nvPr/>
        </p:nvSpPr>
        <p:spPr>
          <a:xfrm>
            <a:off x="4807915" y="4485132"/>
            <a:ext cx="118872" cy="118872"/>
          </a:xfrm>
          <a:prstGeom prst="ellipse">
            <a:avLst/>
          </a:prstGeom>
          <a:solidFill>
            <a:srgbClr val="5B9DF9"/>
          </a:solidFill>
          <a:ln w="2032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5" name="Text"/>
          <p:cNvSpPr/>
          <p:nvPr/>
        </p:nvSpPr>
        <p:spPr>
          <a:xfrm>
            <a:off x="5056632" y="4389120"/>
            <a:ext cx="6357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200" dirty="0" b="1">
                <a:solidFill>
                  <a:srgbClr val="FFFFFF"/>
                </a:solidFill>
                <a:latin typeface="Segoe UI"/>
                <a:cs typeface="Segoe UI"/>
              </a:rPr>
              <a:t>Baccalauréat Sciences Mathématiques A</a:t>
            </a:r>
          </a:p>
        </p:txBody>
      </p:sp>
      <p:sp>
        <p:nvSpPr>
          <p:cNvPr id="16" name="Text"/>
          <p:cNvSpPr/>
          <p:nvPr/>
        </p:nvSpPr>
        <p:spPr>
          <a:xfrm>
            <a:off x="4069080" y="474573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200" dirty="0" b="1">
                <a:solidFill>
                  <a:srgbClr val="22D3EE"/>
                </a:solidFill>
                <a:latin typeface="Segoe UI"/>
                <a:cs typeface="Segoe UI"/>
              </a:rPr>
              <a:t>2021</a:t>
            </a:r>
          </a:p>
        </p:txBody>
      </p:sp>
      <p:sp>
        <p:nvSpPr>
          <p:cNvPr id="17" name="Point"/>
          <p:cNvSpPr/>
          <p:nvPr/>
        </p:nvSpPr>
        <p:spPr>
          <a:xfrm>
            <a:off x="4807915" y="4841748"/>
            <a:ext cx="118872" cy="118872"/>
          </a:xfrm>
          <a:prstGeom prst="ellipse">
            <a:avLst/>
          </a:prstGeom>
          <a:solidFill>
            <a:srgbClr val="22D3EE"/>
          </a:solidFill>
          <a:ln w="2032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8" name="Text"/>
          <p:cNvSpPr/>
          <p:nvPr/>
        </p:nvSpPr>
        <p:spPr>
          <a:xfrm>
            <a:off x="5056632" y="4745736"/>
            <a:ext cx="6357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200" dirty="0" b="1">
                <a:solidFill>
                  <a:srgbClr val="FFFFFF"/>
                </a:solidFill>
                <a:latin typeface="Segoe UI"/>
                <a:cs typeface="Segoe UI"/>
              </a:rPr>
              <a:t>Baccalauréat Sciences et Technologies</a:t>
            </a:r>
          </a:p>
        </p:txBody>
      </p:sp>
      <p:sp>
        <p:nvSpPr>
          <p:cNvPr id="19" name="Text"/>
          <p:cNvSpPr/>
          <p:nvPr/>
        </p:nvSpPr>
        <p:spPr>
          <a:xfrm>
            <a:off x="4069080" y="5102352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200" dirty="0" b="1">
                <a:solidFill>
                  <a:srgbClr val="34D399"/>
                </a:solidFill>
                <a:latin typeface="Segoe UI"/>
                <a:cs typeface="Segoe UI"/>
              </a:rPr>
              <a:t>2023</a:t>
            </a:r>
          </a:p>
        </p:txBody>
      </p:sp>
      <p:sp>
        <p:nvSpPr>
          <p:cNvPr id="20" name="Point"/>
          <p:cNvSpPr/>
          <p:nvPr/>
        </p:nvSpPr>
        <p:spPr>
          <a:xfrm>
            <a:off x="4807915" y="5198364"/>
            <a:ext cx="118872" cy="118872"/>
          </a:xfrm>
          <a:prstGeom prst="ellipse">
            <a:avLst/>
          </a:prstGeom>
          <a:solidFill>
            <a:srgbClr val="34D399"/>
          </a:solidFill>
          <a:ln w="2032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1" name="Text"/>
          <p:cNvSpPr/>
          <p:nvPr/>
        </p:nvSpPr>
        <p:spPr>
          <a:xfrm>
            <a:off x="5056632" y="5102352"/>
            <a:ext cx="6357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200" dirty="0" b="1">
                <a:solidFill>
                  <a:srgbClr val="FFFFFF"/>
                </a:solidFill>
                <a:latin typeface="Segoe UI"/>
                <a:cs typeface="Segoe UI"/>
              </a:rPr>
              <a:t>DUT Génie Électrique</a:t>
            </a:r>
          </a:p>
        </p:txBody>
      </p:sp>
      <p:sp>
        <p:nvSpPr>
          <p:cNvPr id="22" name="Text"/>
          <p:cNvSpPr/>
          <p:nvPr/>
        </p:nvSpPr>
        <p:spPr>
          <a:xfrm>
            <a:off x="4069080" y="5458968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200" dirty="0" b="1">
                <a:solidFill>
                  <a:srgbClr val="F59E0B"/>
                </a:solidFill>
                <a:latin typeface="Segoe UI"/>
                <a:cs typeface="Segoe UI"/>
              </a:rPr>
              <a:t>2025</a:t>
            </a:r>
          </a:p>
        </p:txBody>
      </p:sp>
      <p:sp>
        <p:nvSpPr>
          <p:cNvPr id="23" name="Point"/>
          <p:cNvSpPr/>
          <p:nvPr/>
        </p:nvSpPr>
        <p:spPr>
          <a:xfrm>
            <a:off x="4807915" y="5554980"/>
            <a:ext cx="118872" cy="118872"/>
          </a:xfrm>
          <a:prstGeom prst="ellipse">
            <a:avLst/>
          </a:prstGeom>
          <a:solidFill>
            <a:srgbClr val="F59E0B"/>
          </a:solidFill>
          <a:ln w="2032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4" name="Text"/>
          <p:cNvSpPr/>
          <p:nvPr/>
        </p:nvSpPr>
        <p:spPr>
          <a:xfrm>
            <a:off x="5056632" y="5458968"/>
            <a:ext cx="6357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200" dirty="0" b="1">
                <a:solidFill>
                  <a:srgbClr val="FFFFFF"/>
                </a:solidFill>
                <a:latin typeface="Segoe UI"/>
                <a:cs typeface="Segoe UI"/>
              </a:rPr>
              <a:t>Licence Ingénierie de la Production Industrielle et Gestion de Projet</a:t>
            </a:r>
          </a:p>
        </p:txBody>
      </p:sp>
      <p:sp>
        <p:nvSpPr>
          <p:cNvPr id="25" name="Text"/>
          <p:cNvSpPr/>
          <p:nvPr/>
        </p:nvSpPr>
        <p:spPr>
          <a:xfrm>
            <a:off x="4069080" y="5815584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200" dirty="0" b="1">
                <a:solidFill>
                  <a:srgbClr val="A78BFA"/>
                </a:solidFill>
                <a:latin typeface="Segoe UI"/>
                <a:cs typeface="Segoe UI"/>
              </a:rPr>
              <a:t>2026</a:t>
            </a:r>
          </a:p>
        </p:txBody>
      </p:sp>
      <p:sp>
        <p:nvSpPr>
          <p:cNvPr id="26" name="Point"/>
          <p:cNvSpPr/>
          <p:nvPr/>
        </p:nvSpPr>
        <p:spPr>
          <a:xfrm>
            <a:off x="4807915" y="5911596"/>
            <a:ext cx="118872" cy="118872"/>
          </a:xfrm>
          <a:prstGeom prst="ellipse">
            <a:avLst/>
          </a:prstGeom>
          <a:solidFill>
            <a:srgbClr val="A78BFA"/>
          </a:solidFill>
          <a:ln w="2032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7" name="Text"/>
          <p:cNvSpPr/>
          <p:nvPr/>
        </p:nvSpPr>
        <p:spPr>
          <a:xfrm>
            <a:off x="5056632" y="5815584"/>
            <a:ext cx="6357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200" dirty="0" b="1">
                <a:solidFill>
                  <a:srgbClr val="FFFFFF"/>
                </a:solidFill>
                <a:latin typeface="Segoe UI"/>
                <a:cs typeface="Segoe UI"/>
              </a:rPr>
              <a:t>Master Ingénierie et Management Industriel</a:t>
            </a:r>
            <a:r>
              <a:rPr lang="fr-FR" sz="1050" dirty="0" i="1">
                <a:solidFill>
                  <a:srgbClr val="A78BFA"/>
                </a:solidFill>
                <a:latin typeface="Segoe UI"/>
                <a:cs typeface="Segoe UI"/>
              </a:rPr>
              <a:t>   en cours de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Diplômes &amp; formations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Cinq étapes, une même trajectoire</a:t>
            </a:r>
          </a:p>
        </p:txBody>
      </p:sp>
      <p:sp>
        <p:nvSpPr>
          <p:cNvPr id="7" name="Axe"/>
          <p:cNvSpPr/>
          <p:nvPr/>
        </p:nvSpPr>
        <p:spPr>
          <a:xfrm>
            <a:off x="2075688" y="2304288"/>
            <a:ext cx="20117" cy="3246120"/>
          </a:xfrm>
          <a:prstGeom prst="rect">
            <a:avLst/>
          </a:prstGeom>
          <a:solidFill>
            <a:srgbClr val="2A4A6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Text"/>
          <p:cNvSpPr/>
          <p:nvPr/>
        </p:nvSpPr>
        <p:spPr>
          <a:xfrm>
            <a:off x="777240" y="2139696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400" dirty="0" b="1">
                <a:solidFill>
                  <a:srgbClr val="5B9DF9"/>
                </a:solidFill>
                <a:latin typeface="Segoe UI"/>
                <a:cs typeface="Segoe UI"/>
              </a:rPr>
              <a:t>2017 / 2018</a:t>
            </a:r>
          </a:p>
        </p:txBody>
      </p:sp>
      <p:sp>
        <p:nvSpPr>
          <p:cNvPr id="9" name="Point"/>
          <p:cNvSpPr/>
          <p:nvPr/>
        </p:nvSpPr>
        <p:spPr>
          <a:xfrm>
            <a:off x="2007108" y="2336292"/>
            <a:ext cx="155448" cy="155448"/>
          </a:xfrm>
          <a:prstGeom prst="ellipse">
            <a:avLst/>
          </a:prstGeom>
          <a:solidFill>
            <a:srgbClr val="5B9DF9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0" name="Text"/>
          <p:cNvSpPr/>
          <p:nvPr/>
        </p:nvSpPr>
        <p:spPr>
          <a:xfrm>
            <a:off x="2386584" y="2139696"/>
            <a:ext cx="902787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4999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Baccalauréat Sciences Mathématiques A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Lycée Ibn Soulaiman Roudani — Taroudant</a:t>
            </a:r>
          </a:p>
        </p:txBody>
      </p:sp>
      <p:sp>
        <p:nvSpPr>
          <p:cNvPr id="11" name="Text"/>
          <p:cNvSpPr/>
          <p:nvPr/>
        </p:nvSpPr>
        <p:spPr>
          <a:xfrm>
            <a:off x="777240" y="2944368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400" dirty="0" b="1">
                <a:solidFill>
                  <a:srgbClr val="22D3EE"/>
                </a:solidFill>
                <a:latin typeface="Segoe UI"/>
                <a:cs typeface="Segoe UI"/>
              </a:rPr>
              <a:t>2020 / 2021</a:t>
            </a:r>
          </a:p>
        </p:txBody>
      </p:sp>
      <p:sp>
        <p:nvSpPr>
          <p:cNvPr id="12" name="Point"/>
          <p:cNvSpPr/>
          <p:nvPr/>
        </p:nvSpPr>
        <p:spPr>
          <a:xfrm>
            <a:off x="2007108" y="3140964"/>
            <a:ext cx="155448" cy="155448"/>
          </a:xfrm>
          <a:prstGeom prst="ellipse">
            <a:avLst/>
          </a:prstGeom>
          <a:solidFill>
            <a:srgbClr val="22D3EE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3" name="Text"/>
          <p:cNvSpPr/>
          <p:nvPr/>
        </p:nvSpPr>
        <p:spPr>
          <a:xfrm>
            <a:off x="2386584" y="2944368"/>
            <a:ext cx="902787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4999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Baccalauréat Sciences et Technologies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Lycée Al Inbiaat — Agadir</a:t>
            </a:r>
          </a:p>
        </p:txBody>
      </p:sp>
      <p:sp>
        <p:nvSpPr>
          <p:cNvPr id="14" name="Text"/>
          <p:cNvSpPr/>
          <p:nvPr/>
        </p:nvSpPr>
        <p:spPr>
          <a:xfrm>
            <a:off x="777240" y="3749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400" dirty="0" b="1">
                <a:solidFill>
                  <a:srgbClr val="34D399"/>
                </a:solidFill>
                <a:latin typeface="Segoe UI"/>
                <a:cs typeface="Segoe UI"/>
              </a:rPr>
              <a:t>2021 / 2023</a:t>
            </a:r>
          </a:p>
        </p:txBody>
      </p:sp>
      <p:sp>
        <p:nvSpPr>
          <p:cNvPr id="15" name="Point"/>
          <p:cNvSpPr/>
          <p:nvPr/>
        </p:nvSpPr>
        <p:spPr>
          <a:xfrm>
            <a:off x="2007108" y="3945636"/>
            <a:ext cx="155448" cy="155448"/>
          </a:xfrm>
          <a:prstGeom prst="ellipse">
            <a:avLst/>
          </a:prstGeom>
          <a:solidFill>
            <a:srgbClr val="34D399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Text"/>
          <p:cNvSpPr/>
          <p:nvPr/>
        </p:nvSpPr>
        <p:spPr>
          <a:xfrm>
            <a:off x="2386584" y="3749040"/>
            <a:ext cx="902787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4999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DUT — Génie Électrique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École Supérieure de Technologie de Guelmim — Université Ibn Zohr</a:t>
            </a:r>
          </a:p>
        </p:txBody>
      </p:sp>
      <p:sp>
        <p:nvSpPr>
          <p:cNvPr id="17" name="Text"/>
          <p:cNvSpPr/>
          <p:nvPr/>
        </p:nvSpPr>
        <p:spPr>
          <a:xfrm>
            <a:off x="777240" y="4553712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400" dirty="0" b="1">
                <a:solidFill>
                  <a:srgbClr val="F59E0B"/>
                </a:solidFill>
                <a:latin typeface="Segoe UI"/>
                <a:cs typeface="Segoe UI"/>
              </a:rPr>
              <a:t>2025</a:t>
            </a:r>
          </a:p>
        </p:txBody>
      </p:sp>
      <p:sp>
        <p:nvSpPr>
          <p:cNvPr id="18" name="Point"/>
          <p:cNvSpPr/>
          <p:nvPr/>
        </p:nvSpPr>
        <p:spPr>
          <a:xfrm>
            <a:off x="2007108" y="4750308"/>
            <a:ext cx="155448" cy="155448"/>
          </a:xfrm>
          <a:prstGeom prst="ellipse">
            <a:avLst/>
          </a:prstGeom>
          <a:solidFill>
            <a:srgbClr val="F59E0B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9" name="Text"/>
          <p:cNvSpPr/>
          <p:nvPr/>
        </p:nvSpPr>
        <p:spPr>
          <a:xfrm>
            <a:off x="2386584" y="4553712"/>
            <a:ext cx="902787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4999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Licence — Ingénierie de la Production Industrielle et Gestion de Projet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Établissement à compléter</a:t>
            </a:r>
          </a:p>
        </p:txBody>
      </p:sp>
      <p:sp>
        <p:nvSpPr>
          <p:cNvPr id="20" name="Text"/>
          <p:cNvSpPr/>
          <p:nvPr/>
        </p:nvSpPr>
        <p:spPr>
          <a:xfrm>
            <a:off x="777240" y="535838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fr-FR" sz="1400" dirty="0" b="1">
                <a:solidFill>
                  <a:srgbClr val="A78BFA"/>
                </a:solidFill>
                <a:latin typeface="Segoe UI"/>
                <a:cs typeface="Segoe UI"/>
              </a:rPr>
              <a:t>2026</a:t>
            </a:r>
          </a:p>
        </p:txBody>
      </p:sp>
      <p:sp>
        <p:nvSpPr>
          <p:cNvPr id="21" name="Point"/>
          <p:cNvSpPr/>
          <p:nvPr/>
        </p:nvSpPr>
        <p:spPr>
          <a:xfrm>
            <a:off x="2007108" y="5554980"/>
            <a:ext cx="155448" cy="155448"/>
          </a:xfrm>
          <a:prstGeom prst="ellipse">
            <a:avLst/>
          </a:prstGeom>
          <a:solidFill>
            <a:srgbClr val="A78BFA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2" name="Text"/>
          <p:cNvSpPr/>
          <p:nvPr/>
        </p:nvSpPr>
        <p:spPr>
          <a:xfrm>
            <a:off x="2386584" y="5358384"/>
            <a:ext cx="902787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Master — Ingénierie et Management Industriel</a:t>
            </a:r>
            <a:r>
              <a:rPr lang="fr-FR" sz="1100" dirty="0" b="1" i="1">
                <a:solidFill>
                  <a:srgbClr val="A78BFA"/>
                </a:solidFill>
                <a:latin typeface="Segoe UI"/>
                <a:cs typeface="Segoe UI"/>
              </a:rPr>
              <a:t>   En cours de validation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Établissement à compléter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Expériences professionnelles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Mon parcours professionnel</a:t>
            </a:r>
          </a:p>
        </p:txBody>
      </p:sp>
      <p:sp>
        <p:nvSpPr>
          <p:cNvPr id="7" name="Axe"/>
          <p:cNvSpPr/>
          <p:nvPr/>
        </p:nvSpPr>
        <p:spPr>
          <a:xfrm>
            <a:off x="868680" y="3017520"/>
            <a:ext cx="10454335" cy="20117"/>
          </a:xfrm>
          <a:prstGeom prst="rect">
            <a:avLst/>
          </a:prstGeom>
          <a:solidFill>
            <a:srgbClr val="2A4A6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Text"/>
          <p:cNvSpPr/>
          <p:nvPr/>
        </p:nvSpPr>
        <p:spPr>
          <a:xfrm>
            <a:off x="777240" y="2359152"/>
            <a:ext cx="248785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50" dirty="0" b="1">
                <a:solidFill>
                  <a:srgbClr val="22D3EE"/>
                </a:solidFill>
                <a:latin typeface="Segoe UI"/>
                <a:cs typeface="Segoe UI"/>
              </a:rPr>
              <a:t>Juil. 2022</a:t>
            </a:r>
          </a:p>
        </p:txBody>
      </p:sp>
      <p:sp>
        <p:nvSpPr>
          <p:cNvPr id="9" name="Point"/>
          <p:cNvSpPr/>
          <p:nvPr/>
        </p:nvSpPr>
        <p:spPr>
          <a:xfrm>
            <a:off x="1943443" y="2944368"/>
            <a:ext cx="155448" cy="155448"/>
          </a:xfrm>
          <a:prstGeom prst="ellipse">
            <a:avLst/>
          </a:prstGeom>
          <a:solidFill>
            <a:srgbClr val="22D3EE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0" name="Carte"/>
          <p:cNvSpPr/>
          <p:nvPr/>
        </p:nvSpPr>
        <p:spPr>
          <a:xfrm>
            <a:off x="777240" y="3383280"/>
            <a:ext cx="2487854" cy="187452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240" cap="flat" cmpd="sng" algn="ctr">
            <a:solidFill>
              <a:srgbClr val="22D3EE">
                <a:alpha val="50000"/>
              </a:srgbClr>
            </a:solidFill>
            <a:prstDash val="solid"/>
          </a:ln>
        </p:spPr>
        <p:txBody>
          <a:bodyPr wrap="square" lIns="182880" tIns="146304" rIns="182880" bIns="146304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1400" dirty="0" b="1">
                <a:solidFill>
                  <a:srgbClr val="FFFFFF"/>
                </a:solidFill>
                <a:latin typeface="Segoe UI"/>
                <a:cs typeface="Segoe UI"/>
              </a:rPr>
              <a:t>ONEE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Stage — équipements de protection des postes sources.</a:t>
            </a:r>
          </a:p>
        </p:txBody>
      </p:sp>
      <p:sp>
        <p:nvSpPr>
          <p:cNvPr id="11" name="Text"/>
          <p:cNvSpPr/>
          <p:nvPr/>
        </p:nvSpPr>
        <p:spPr>
          <a:xfrm>
            <a:off x="3493694" y="2359152"/>
            <a:ext cx="248785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50" dirty="0" b="1">
                <a:solidFill>
                  <a:srgbClr val="34D399"/>
                </a:solidFill>
                <a:latin typeface="Segoe UI"/>
                <a:cs typeface="Segoe UI"/>
              </a:rPr>
              <a:t>Avr. 2023</a:t>
            </a:r>
          </a:p>
        </p:txBody>
      </p:sp>
      <p:sp>
        <p:nvSpPr>
          <p:cNvPr id="12" name="Point"/>
          <p:cNvSpPr/>
          <p:nvPr/>
        </p:nvSpPr>
        <p:spPr>
          <a:xfrm>
            <a:off x="4659897" y="2944368"/>
            <a:ext cx="155448" cy="155448"/>
          </a:xfrm>
          <a:prstGeom prst="ellipse">
            <a:avLst/>
          </a:prstGeom>
          <a:solidFill>
            <a:srgbClr val="34D399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3" name="Carte"/>
          <p:cNvSpPr/>
          <p:nvPr/>
        </p:nvSpPr>
        <p:spPr>
          <a:xfrm>
            <a:off x="3493694" y="3383280"/>
            <a:ext cx="2487854" cy="187452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240" cap="flat" cmpd="sng" algn="ctr">
            <a:solidFill>
              <a:srgbClr val="34D399">
                <a:alpha val="50000"/>
              </a:srgbClr>
            </a:solidFill>
            <a:prstDash val="solid"/>
          </a:ln>
        </p:spPr>
        <p:txBody>
          <a:bodyPr wrap="square" lIns="182880" tIns="146304" rIns="182880" bIns="146304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1400" dirty="0" b="1">
                <a:solidFill>
                  <a:srgbClr val="FFFFFF"/>
                </a:solidFill>
                <a:latin typeface="Segoe UI"/>
                <a:cs typeface="Segoe UI"/>
              </a:rPr>
              <a:t>Marsa Maroc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Stage — installations électriques du port d'Agadir. Câblage d'armoires, schémas unifilaires AutoCAD.</a:t>
            </a:r>
          </a:p>
        </p:txBody>
      </p:sp>
      <p:sp>
        <p:nvSpPr>
          <p:cNvPr id="14" name="Text"/>
          <p:cNvSpPr/>
          <p:nvPr/>
        </p:nvSpPr>
        <p:spPr>
          <a:xfrm>
            <a:off x="6210148" y="2359152"/>
            <a:ext cx="248785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50" dirty="0" b="1">
                <a:solidFill>
                  <a:srgbClr val="F59E0B"/>
                </a:solidFill>
                <a:latin typeface="Segoe UI"/>
                <a:cs typeface="Segoe UI"/>
              </a:rPr>
              <a:t>Nov. 2023</a:t>
            </a:r>
          </a:p>
        </p:txBody>
      </p:sp>
      <p:sp>
        <p:nvSpPr>
          <p:cNvPr id="15" name="Point"/>
          <p:cNvSpPr/>
          <p:nvPr/>
        </p:nvSpPr>
        <p:spPr>
          <a:xfrm>
            <a:off x="7376350" y="2944368"/>
            <a:ext cx="155448" cy="155448"/>
          </a:xfrm>
          <a:prstGeom prst="ellipse">
            <a:avLst/>
          </a:prstGeom>
          <a:solidFill>
            <a:srgbClr val="F59E0B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Carte"/>
          <p:cNvSpPr/>
          <p:nvPr/>
        </p:nvSpPr>
        <p:spPr>
          <a:xfrm>
            <a:off x="6210148" y="3383280"/>
            <a:ext cx="2487854" cy="187452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240" cap="flat" cmpd="sng" algn="ctr">
            <a:solidFill>
              <a:srgbClr val="F59E0B">
                <a:alpha val="50000"/>
              </a:srgbClr>
            </a:solidFill>
            <a:prstDash val="solid"/>
          </a:ln>
        </p:spPr>
        <p:txBody>
          <a:bodyPr wrap="square" lIns="182880" tIns="146304" rIns="182880" bIns="146304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1400" dirty="0" b="1">
                <a:solidFill>
                  <a:srgbClr val="FFFFFF"/>
                </a:solidFill>
                <a:latin typeface="Segoe UI"/>
                <a:cs typeface="Segoe UI"/>
              </a:rPr>
              <a:t>Concepteur Faisceaux 2D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Arrivée chez MG2 Engineering. Conception et validation des faisceaux 2D.</a:t>
            </a:r>
          </a:p>
        </p:txBody>
      </p:sp>
      <p:sp>
        <p:nvSpPr>
          <p:cNvPr id="17" name="Text"/>
          <p:cNvSpPr/>
          <p:nvPr/>
        </p:nvSpPr>
        <p:spPr>
          <a:xfrm>
            <a:off x="8926601" y="2359152"/>
            <a:ext cx="248785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50" dirty="0" b="1">
                <a:solidFill>
                  <a:srgbClr val="5B9DF9"/>
                </a:solidFill>
                <a:latin typeface="Segoe UI"/>
                <a:cs typeface="Segoe UI"/>
              </a:rPr>
              <a:t>Sept. 2024</a:t>
            </a:r>
          </a:p>
        </p:txBody>
      </p:sp>
      <p:sp>
        <p:nvSpPr>
          <p:cNvPr id="18" name="Point"/>
          <p:cNvSpPr/>
          <p:nvPr/>
        </p:nvSpPr>
        <p:spPr>
          <a:xfrm>
            <a:off x="10092804" y="2944368"/>
            <a:ext cx="155448" cy="155448"/>
          </a:xfrm>
          <a:prstGeom prst="ellipse">
            <a:avLst/>
          </a:prstGeom>
          <a:solidFill>
            <a:srgbClr val="5B9DF9"/>
          </a:solidFill>
          <a:ln w="25400" cap="flat" cmpd="sng" algn="ctr">
            <a:solidFill>
              <a:srgbClr val="040E18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9" name="Carte"/>
          <p:cNvSpPr/>
          <p:nvPr/>
        </p:nvSpPr>
        <p:spPr>
          <a:xfrm>
            <a:off x="8926601" y="3383280"/>
            <a:ext cx="2487854" cy="187452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240" cap="flat" cmpd="sng" algn="ctr">
            <a:solidFill>
              <a:srgbClr val="5B9DF9">
                <a:alpha val="50000"/>
              </a:srgbClr>
            </a:solidFill>
            <a:prstDash val="solid"/>
          </a:ln>
        </p:spPr>
        <p:txBody>
          <a:bodyPr wrap="square" lIns="182880" tIns="146304" rIns="182880" bIns="146304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fr-FR" sz="1400" dirty="0" b="1">
                <a:solidFill>
                  <a:srgbClr val="FFFFFF"/>
                </a:solidFill>
                <a:latin typeface="Segoe UI"/>
                <a:cs typeface="Segoe UI"/>
              </a:rPr>
              <a:t>Chargé de Développement 2D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Poste actuel, au sein de l'équipe CD2D.</a:t>
            </a:r>
          </a:p>
        </p:txBody>
      </p:sp>
      <p:sp>
        <p:nvSpPr>
          <p:cNvPr id="20" name="Bandeau"/>
          <p:cNvSpPr/>
          <p:nvPr/>
        </p:nvSpPr>
        <p:spPr>
          <a:xfrm>
            <a:off x="777240" y="5431536"/>
            <a:ext cx="10637215" cy="694944"/>
          </a:xfrm>
          <a:prstGeom prst="roundRect">
            <a:avLst>
              <a:gd name="adj" fmla="val 9000"/>
            </a:avLst>
          </a:prstGeom>
          <a:solidFill>
            <a:srgbClr val="5B9DF9">
              <a:alpha val="10000"/>
            </a:srgbClr>
          </a:solidFill>
          <a:ln w="16510" cap="flat" cmpd="sng" algn="ctr">
            <a:solidFill>
              <a:srgbClr val="5B9DF9">
                <a:alpha val="50000"/>
              </a:srgbClr>
            </a:solidFill>
            <a:prstDash val="solid"/>
          </a:ln>
        </p:spPr>
        <p:txBody>
          <a:bodyPr wrap="square" lIns="274320" tIns="91440" rIns="274320" bIns="91440" anchor="ctr">
            <a:noAutofit/>
          </a:bodyPr>
          <a:lstStyle/>
          <a:p>
            <a:pPr marL="0" indent="0" algn="ctr">
              <a:buNone/>
            </a:pPr>
            <a:r>
              <a:rPr lang="fr-FR" sz="950" dirty="0" b="1" spc="180" cap="all">
                <a:solidFill>
                  <a:srgbClr val="6E89A6"/>
                </a:solidFill>
                <a:latin typeface="Segoe UI"/>
                <a:cs typeface="Segoe UI"/>
              </a:rPr>
              <a:t>Aujourd'hui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fr-FR" sz="1450" dirty="0" b="1">
                <a:solidFill>
                  <a:srgbClr val="FFFFFF"/>
                </a:solidFill>
                <a:latin typeface="Segoe UI"/>
                <a:cs typeface="Segoe UI"/>
              </a:rPr>
              <a:t>Analyser, concevoir, valider et approuver les plans 2D avec Capital XC et PLM.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Compétences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Métier, technique et numérique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148840"/>
            <a:ext cx="3362858" cy="2514600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Liseré"/>
          <p:cNvSpPr/>
          <p:nvPr/>
        </p:nvSpPr>
        <p:spPr>
          <a:xfrm>
            <a:off x="1124712" y="2148840"/>
            <a:ext cx="50292" cy="2514600"/>
          </a:xfrm>
          <a:prstGeom prst="rect">
            <a:avLst/>
          </a:prstGeom>
          <a:solidFill>
            <a:srgbClr val="5B9DF9">
              <a:alpha val="7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9" name="Text"/>
          <p:cNvSpPr/>
          <p:nvPr/>
        </p:nvSpPr>
        <p:spPr>
          <a:xfrm>
            <a:off x="1344168" y="2487168"/>
            <a:ext cx="244845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Ingénierie &amp; métier</a:t>
            </a:r>
          </a:p>
        </p:txBody>
      </p:sp>
      <p:sp>
        <p:nvSpPr>
          <p:cNvPr id="10" name="Text"/>
          <p:cNvSpPr/>
          <p:nvPr/>
        </p:nvSpPr>
        <p:spPr>
          <a:xfrm>
            <a:off x="1344168" y="2999232"/>
            <a:ext cx="244845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Capital XC  ·  Capital Logic  ·  Modular XC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PLM / ENOVIA V6  ·  Teamcenter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CATIA V5 / V6  ·  Schéma unifilaire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148840"/>
            <a:ext cx="3362858" cy="2514600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Liseré"/>
          <p:cNvSpPr/>
          <p:nvPr/>
        </p:nvSpPr>
        <p:spPr>
          <a:xfrm>
            <a:off x="4761890" y="2148840"/>
            <a:ext cx="50292" cy="2514600"/>
          </a:xfrm>
          <a:prstGeom prst="rect">
            <a:avLst/>
          </a:prstGeom>
          <a:solidFill>
            <a:srgbClr val="34D399">
              <a:alpha val="7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3" name="Text"/>
          <p:cNvSpPr/>
          <p:nvPr/>
        </p:nvSpPr>
        <p:spPr>
          <a:xfrm>
            <a:off x="4981346" y="2487168"/>
            <a:ext cx="244845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Technique &amp; analyse</a:t>
            </a:r>
          </a:p>
        </p:txBody>
      </p:sp>
      <p:sp>
        <p:nvSpPr>
          <p:cNvPr id="14" name="Text"/>
          <p:cNvSpPr/>
          <p:nvPr/>
        </p:nvSpPr>
        <p:spPr>
          <a:xfrm>
            <a:off x="4981346" y="2999232"/>
            <a:ext cx="244845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AutoCAD  ·  MATLAB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Langage C  ·  Programmation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Analyse de circuits  ·  Systèmes énergétiques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148840"/>
            <a:ext cx="3362858" cy="2514600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Liseré"/>
          <p:cNvSpPr/>
          <p:nvPr/>
        </p:nvSpPr>
        <p:spPr>
          <a:xfrm>
            <a:off x="8399069" y="2148840"/>
            <a:ext cx="50292" cy="2514600"/>
          </a:xfrm>
          <a:prstGeom prst="rect">
            <a:avLst/>
          </a:prstGeom>
          <a:solidFill>
            <a:srgbClr val="A78BFA">
              <a:alpha val="7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7" name="Text"/>
          <p:cNvSpPr/>
          <p:nvPr/>
        </p:nvSpPr>
        <p:spPr>
          <a:xfrm>
            <a:off x="8618525" y="2487168"/>
            <a:ext cx="244845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Création &amp; développement</a:t>
            </a:r>
          </a:p>
        </p:txBody>
      </p:sp>
      <p:sp>
        <p:nvSpPr>
          <p:cNvPr id="18" name="Text"/>
          <p:cNvSpPr/>
          <p:nvPr/>
        </p:nvSpPr>
        <p:spPr>
          <a:xfrm>
            <a:off x="8618525" y="2999232"/>
            <a:ext cx="2448458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Photoshop  ·  Illustrator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Premiere Pro  ·  After Effects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fr-FR" sz="1200" dirty="0">
                <a:solidFill>
                  <a:srgbClr val="9FB6CE"/>
                </a:solidFill>
                <a:latin typeface="Segoe UI"/>
                <a:cs typeface="Segoe UI"/>
              </a:rPr>
              <a:t>Motion graphic  ·  Design  ·  Modélisation 3D</a:t>
            </a:r>
          </a:p>
        </p:txBody>
      </p:sp>
      <p:sp>
        <p:nvSpPr>
          <p:cNvPr id="19" name="Text"/>
          <p:cNvSpPr/>
          <p:nvPr/>
        </p:nvSpPr>
        <p:spPr>
          <a:xfrm>
            <a:off x="777240" y="4956048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050" dirty="0" b="1" spc="160" cap="all">
                <a:solidFill>
                  <a:srgbClr val="6E89A6"/>
                </a:solidFill>
                <a:latin typeface="Segoe UI"/>
                <a:cs typeface="Segoe UI"/>
              </a:rPr>
              <a:t>Langues de travail</a:t>
            </a:r>
          </a:p>
        </p:txBody>
      </p:sp>
      <p:sp>
        <p:nvSpPr>
          <p:cNvPr id="20" name="Pastille"/>
          <p:cNvSpPr/>
          <p:nvPr/>
        </p:nvSpPr>
        <p:spPr>
          <a:xfrm>
            <a:off x="2959456" y="5285232"/>
            <a:ext cx="2327148" cy="384048"/>
          </a:xfrm>
          <a:prstGeom prst="roundRect">
            <a:avLst>
              <a:gd name="adj" fmla="val 50000"/>
            </a:avLst>
          </a:prstGeom>
          <a:solidFill>
            <a:srgbClr val="5B9DF9">
              <a:alpha val="12000"/>
            </a:srgbClr>
          </a:solidFill>
          <a:ln w="13970" cap="flat" cmpd="sng" algn="ctr">
            <a:solidFill>
              <a:srgbClr val="5B9DF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150" dirty="0" b="1">
                <a:solidFill>
                  <a:srgbClr val="5B9DF9"/>
                </a:solidFill>
                <a:latin typeface="Segoe UI"/>
                <a:cs typeface="Segoe UI"/>
              </a:rPr>
              <a:t>Arabe — langue maternelle</a:t>
            </a:r>
          </a:p>
        </p:txBody>
      </p:sp>
      <p:sp>
        <p:nvSpPr>
          <p:cNvPr id="21" name="Pastille"/>
          <p:cNvSpPr/>
          <p:nvPr/>
        </p:nvSpPr>
        <p:spPr>
          <a:xfrm>
            <a:off x="5487772" y="5285232"/>
            <a:ext cx="1808683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3970" cap="flat" cmpd="sng" algn="ctr">
            <a:solidFill>
              <a:srgbClr val="34D39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150" dirty="0" b="1">
                <a:solidFill>
                  <a:srgbClr val="34D399"/>
                </a:solidFill>
                <a:latin typeface="Segoe UI"/>
                <a:cs typeface="Segoe UI"/>
              </a:rPr>
              <a:t>Français — courant</a:t>
            </a:r>
          </a:p>
        </p:txBody>
      </p:sp>
      <p:sp>
        <p:nvSpPr>
          <p:cNvPr id="22" name="Pastille"/>
          <p:cNvSpPr/>
          <p:nvPr/>
        </p:nvSpPr>
        <p:spPr>
          <a:xfrm>
            <a:off x="7497623" y="5285232"/>
            <a:ext cx="1734617" cy="384048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3970" cap="flat" cmpd="sng" algn="ctr">
            <a:solidFill>
              <a:srgbClr val="F59E0B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150" dirty="0" b="1">
                <a:solidFill>
                  <a:srgbClr val="F59E0B"/>
                </a:solidFill>
                <a:latin typeface="Segoe UI"/>
                <a:cs typeface="Segoe UI"/>
              </a:rPr>
              <a:t>Anglais — courant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Mon évolution chez MG2 Engineering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Concevoir, puis transmettre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3362858" cy="2395728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Sujets d'innovation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541979"/>
            <a:ext cx="2667914" cy="7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Proposer et porter des sujets d'innovation pour l'équipe.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084832"/>
            <a:ext cx="3362858" cy="2395728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476189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4761890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Accompagnement</a:t>
            </a:r>
          </a:p>
        </p:txBody>
      </p:sp>
      <p:sp>
        <p:nvSpPr>
          <p:cNvPr id="14" name="Text"/>
          <p:cNvSpPr/>
          <p:nvPr/>
        </p:nvSpPr>
        <p:spPr>
          <a:xfrm>
            <a:off x="4761890" y="3541979"/>
            <a:ext cx="2667914" cy="7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Encadrer des stagiaires et les nouveaux arrivants.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084832"/>
            <a:ext cx="3362858" cy="2395728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8399069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8399069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Formations 2D</a:t>
            </a:r>
          </a:p>
        </p:txBody>
      </p:sp>
      <p:sp>
        <p:nvSpPr>
          <p:cNvPr id="18" name="Text"/>
          <p:cNvSpPr/>
          <p:nvPr/>
        </p:nvSpPr>
        <p:spPr>
          <a:xfrm>
            <a:off x="8399069" y="3541979"/>
            <a:ext cx="2667914" cy="7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Animer les formations de l'équipe 2D, surtout sur Capital XC.</a:t>
            </a:r>
          </a:p>
        </p:txBody>
      </p:sp>
      <p:sp>
        <p:nvSpPr>
          <p:cNvPr id="19" name="Bandeau"/>
          <p:cNvSpPr/>
          <p:nvPr/>
        </p:nvSpPr>
        <p:spPr>
          <a:xfrm>
            <a:off x="777240" y="4663440"/>
            <a:ext cx="10637215" cy="1481328"/>
          </a:xfrm>
          <a:prstGeom prst="roundRect">
            <a:avLst>
              <a:gd name="adj" fmla="val 6000"/>
            </a:avLst>
          </a:prstGeom>
          <a:solidFill>
            <a:srgbClr val="22D3EE">
              <a:alpha val="8000"/>
            </a:srgbClr>
          </a:solidFill>
          <a:ln w="16510" cap="flat" cmpd="sng" algn="ctr">
            <a:solidFill>
              <a:srgbClr val="22D3EE">
                <a:alpha val="45000"/>
              </a:srgbClr>
            </a:solidFill>
            <a:prstDash val="solid"/>
          </a:ln>
        </p:spPr>
        <p:txBody>
          <a:bodyPr wrap="square" lIns="548640" tIns="146304" rIns="548640" bIns="146304" anchor="ctr">
            <a:noAutofit/>
          </a:bodyPr>
          <a:lstStyle/>
          <a:p>
            <a:pPr marL="0" indent="0" algn="ctr">
              <a:buNone/>
            </a:pPr>
            <a:r>
              <a:rPr lang="fr-FR" sz="1000" dirty="0" b="1" spc="180" cap="all">
                <a:solidFill>
                  <a:srgbClr val="22D3EE"/>
                </a:solidFill>
                <a:latin typeface="Segoe UI"/>
                <a:cs typeface="Segoe UI"/>
              </a:rPr>
              <a:t>Le constat</a:t>
            </a:r>
          </a:p>
          <a:p>
            <a:pPr marL="0" indent="0" algn="ctr">
              <a:lnSpc>
                <a:spcPct val="135000"/>
              </a:lnSpc>
              <a:spcBef>
                <a:spcPts val="600"/>
              </a:spcBef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Un nouvel arrivant doit apprendre beaucoup de choses en peu de temps : les bases du métier, Capital XC, les méthodes de travail et l'environnement du projet.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C'est de ce constat qu'est né KATATOOL.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5" name="Text"/>
          <p:cNvSpPr/>
          <p:nvPr/>
        </p:nvSpPr>
        <p:spPr>
          <a:xfrm>
            <a:off x="7253935" y="137160"/>
            <a:ext cx="45720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21000" dirty="0" b="1">
                <a:solidFill>
                  <a:srgbClr val="FFFFFF">
                    <a:alpha val="6000"/>
                  </a:srgbClr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6" name="Filet"/>
          <p:cNvSpPr/>
          <p:nvPr/>
        </p:nvSpPr>
        <p:spPr>
          <a:xfrm>
            <a:off x="777240" y="2395728"/>
            <a:ext cx="82296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7" name="Text"/>
          <p:cNvSpPr/>
          <p:nvPr/>
        </p:nvSpPr>
        <p:spPr>
          <a:xfrm>
            <a:off x="777240" y="2697480"/>
            <a:ext cx="1063721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200" dirty="0" b="1" spc="240" cap="all">
                <a:solidFill>
                  <a:srgbClr val="F59E0B"/>
                </a:solidFill>
                <a:latin typeface="Segoe UI"/>
                <a:cs typeface="Segoe UI"/>
              </a:rPr>
              <a:t>CHAPITRE 02</a:t>
            </a:r>
          </a:p>
        </p:txBody>
      </p:sp>
      <p:sp>
        <p:nvSpPr>
          <p:cNvPr id="8" name="Text"/>
          <p:cNvSpPr/>
          <p:nvPr/>
        </p:nvSpPr>
        <p:spPr>
          <a:xfrm>
            <a:off x="777240" y="3072384"/>
            <a:ext cx="9722815" cy="17166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fr-FR" sz="4800" dirty="0" b="1">
                <a:solidFill>
                  <a:srgbClr val="FFFFFF"/>
                </a:solidFill>
                <a:latin typeface="Segoe UI"/>
                <a:cs typeface="Segoe UI"/>
              </a:rPr>
              <a:t>Contexte &amp;
problématique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5063338"/>
            <a:ext cx="8442655" cy="382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fr-FR" sz="1550" dirty="0">
                <a:solidFill>
                  <a:srgbClr val="9FB6CE"/>
                </a:solidFill>
                <a:latin typeface="Segoe UI"/>
                <a:cs typeface="Segoe UI"/>
              </a:rPr>
              <a:t>Ce que j'ai constaté sur le terrain, année après année.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5" name="Text"/>
          <p:cNvSpPr/>
          <p:nvPr/>
        </p:nvSpPr>
        <p:spPr>
          <a:xfrm>
            <a:off x="0" y="1874520"/>
            <a:ext cx="121916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00" dirty="0" b="1" spc="240" cap="all">
                <a:solidFill>
                  <a:srgbClr val="F59E0B"/>
                </a:solidFill>
                <a:latin typeface="Segoe UI"/>
                <a:cs typeface="Segoe UI"/>
              </a:rPr>
              <a:t>Le constat</a:t>
            </a:r>
          </a:p>
        </p:txBody>
      </p:sp>
      <p:sp>
        <p:nvSpPr>
          <p:cNvPr id="6" name="Text"/>
          <p:cNvSpPr/>
          <p:nvPr/>
        </p:nvSpPr>
        <p:spPr>
          <a:xfrm>
            <a:off x="1005840" y="2377440"/>
            <a:ext cx="10180015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3999"/>
              </a:lnSpc>
              <a:buNone/>
            </a:pPr>
            <a:r>
              <a:rPr lang="fr-FR" sz="5200" dirty="0" b="1">
                <a:solidFill>
                  <a:srgbClr val="FFFFFF"/>
                </a:solidFill>
                <a:latin typeface="Segoe UI"/>
                <a:cs typeface="Segoe UI"/>
              </a:rPr>
              <a:t>Le savoir existe.</a:t>
            </a:r>
          </a:p>
          <a:p>
            <a:pPr marL="0" indent="0" algn="ctr">
              <a:lnSpc>
                <a:spcPct val="113999"/>
              </a:lnSpc>
              <a:buNone/>
            </a:pPr>
            <a:r>
              <a:rPr lang="fr-FR" sz="5200" dirty="0" b="1">
                <a:solidFill>
                  <a:srgbClr val="FFFFFF"/>
                </a:solidFill>
                <a:latin typeface="Segoe UI"/>
                <a:cs typeface="Segoe UI"/>
              </a:rPr>
              <a:t>Il est introuvable.</a:t>
            </a:r>
          </a:p>
        </p:txBody>
      </p:sp>
      <p:sp>
        <p:nvSpPr>
          <p:cNvPr id="7" name="Text"/>
          <p:cNvSpPr/>
          <p:nvPr/>
        </p:nvSpPr>
        <p:spPr>
          <a:xfrm>
            <a:off x="1463040" y="4617720"/>
            <a:ext cx="92656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fr-FR" sz="1600" dirty="0">
                <a:solidFill>
                  <a:srgbClr val="9FB6CE"/>
                </a:solidFill>
                <a:latin typeface="Segoe UI"/>
                <a:cs typeface="Segoe UI"/>
              </a:rPr>
              <a:t>Les formations obligatoires sont faites. Et après ? Chacun cherche, seul.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F59E0B"/>
                </a:solidFill>
                <a:latin typeface="Segoe UI"/>
                <a:cs typeface="Segoe UI"/>
              </a:rPr>
              <a:t>Le parcours actuel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Comment on apprend aujourd'hui</a:t>
            </a:r>
          </a:p>
        </p:txBody>
      </p:sp>
      <p:sp>
        <p:nvSpPr>
          <p:cNvPr id="7" name="Étape"/>
          <p:cNvSpPr/>
          <p:nvPr/>
        </p:nvSpPr>
        <p:spPr>
          <a:xfrm>
            <a:off x="777240" y="2606040"/>
            <a:ext cx="1805574" cy="160020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00" dirty="0" b="1">
                <a:solidFill>
                  <a:srgbClr val="5B9DF9"/>
                </a:solidFill>
                <a:latin typeface="Segoe UI"/>
                <a:cs typeface="Segoe UI"/>
              </a:rPr>
              <a:t>Formation
obligatoire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050" dirty="0">
                <a:solidFill>
                  <a:srgbClr val="9FB6CE"/>
                </a:solidFill>
                <a:latin typeface="Segoe UI"/>
                <a:cs typeface="Segoe UI"/>
              </a:rPr>
              <a:t>Faite une fois</a:t>
            </a:r>
          </a:p>
        </p:txBody>
      </p:sp>
      <p:sp>
        <p:nvSpPr>
          <p:cNvPr id="8" name="Text"/>
          <p:cNvSpPr/>
          <p:nvPr/>
        </p:nvSpPr>
        <p:spPr>
          <a:xfrm>
            <a:off x="2582814" y="2606040"/>
            <a:ext cx="402336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9" name="Étape"/>
          <p:cNvSpPr/>
          <p:nvPr/>
        </p:nvSpPr>
        <p:spPr>
          <a:xfrm>
            <a:off x="2985150" y="2606040"/>
            <a:ext cx="1805574" cy="160020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8CA3BA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00" dirty="0" b="1">
                <a:solidFill>
                  <a:srgbClr val="8CA3BA"/>
                </a:solidFill>
                <a:latin typeface="Segoe UI"/>
                <a:cs typeface="Segoe UI"/>
              </a:rPr>
              <a:t>SharePoint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050" dirty="0">
                <a:solidFill>
                  <a:srgbClr val="9FB6CE"/>
                </a:solidFill>
                <a:latin typeface="Segoe UI"/>
                <a:cs typeface="Segoe UI"/>
              </a:rPr>
              <a:t>Où chercher ?</a:t>
            </a:r>
          </a:p>
        </p:txBody>
      </p:sp>
      <p:sp>
        <p:nvSpPr>
          <p:cNvPr id="10" name="Text"/>
          <p:cNvSpPr/>
          <p:nvPr/>
        </p:nvSpPr>
        <p:spPr>
          <a:xfrm>
            <a:off x="4790724" y="2606040"/>
            <a:ext cx="402336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" name="Étape"/>
          <p:cNvSpPr/>
          <p:nvPr/>
        </p:nvSpPr>
        <p:spPr>
          <a:xfrm>
            <a:off x="5193060" y="2606040"/>
            <a:ext cx="1805574" cy="160020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00" dirty="0" b="1">
                <a:solidFill>
                  <a:srgbClr val="F59E0B"/>
                </a:solidFill>
                <a:latin typeface="Segoe UI"/>
                <a:cs typeface="Segoe UI"/>
              </a:rPr>
              <a:t>Chercher
une vidéo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050" dirty="0">
                <a:solidFill>
                  <a:srgbClr val="9FB6CE"/>
                </a:solidFill>
                <a:latin typeface="Segoe UI"/>
                <a:cs typeface="Segoe UI"/>
              </a:rPr>
              <a:t>Éparpillée</a:t>
            </a:r>
          </a:p>
        </p:txBody>
      </p:sp>
      <p:sp>
        <p:nvSpPr>
          <p:cNvPr id="12" name="Text"/>
          <p:cNvSpPr/>
          <p:nvPr/>
        </p:nvSpPr>
        <p:spPr>
          <a:xfrm>
            <a:off x="6998635" y="2606040"/>
            <a:ext cx="402336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3" name="Étape"/>
          <p:cNvSpPr/>
          <p:nvPr/>
        </p:nvSpPr>
        <p:spPr>
          <a:xfrm>
            <a:off x="7400971" y="2606040"/>
            <a:ext cx="1805574" cy="160020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00" dirty="0" b="1">
                <a:solidFill>
                  <a:srgbClr val="F59E0B"/>
                </a:solidFill>
                <a:latin typeface="Segoe UI"/>
                <a:cs typeface="Segoe UI"/>
              </a:rPr>
              <a:t>Demander
sur Teams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050" dirty="0">
                <a:solidFill>
                  <a:srgbClr val="9FB6CE"/>
                </a:solidFill>
                <a:latin typeface="Segoe UI"/>
                <a:cs typeface="Segoe UI"/>
              </a:rPr>
              <a:t>Dépendance</a:t>
            </a:r>
          </a:p>
        </p:txBody>
      </p:sp>
      <p:sp>
        <p:nvSpPr>
          <p:cNvPr id="14" name="Text"/>
          <p:cNvSpPr/>
          <p:nvPr/>
        </p:nvSpPr>
        <p:spPr>
          <a:xfrm>
            <a:off x="9206545" y="2606040"/>
            <a:ext cx="402336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5" name="Étape"/>
          <p:cNvSpPr/>
          <p:nvPr/>
        </p:nvSpPr>
        <p:spPr>
          <a:xfrm>
            <a:off x="9608881" y="2606040"/>
            <a:ext cx="1805574" cy="160020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472B6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00" dirty="0" b="1">
                <a:solidFill>
                  <a:srgbClr val="F472B6"/>
                </a:solidFill>
                <a:latin typeface="Segoe UI"/>
                <a:cs typeface="Segoe UI"/>
              </a:rPr>
              <a:t>Attendre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050" dirty="0">
                <a:solidFill>
                  <a:srgbClr val="9FB6CE"/>
                </a:solidFill>
                <a:latin typeface="Segoe UI"/>
                <a:cs typeface="Segoe UI"/>
              </a:rPr>
              <a:t>Temps perdu</a:t>
            </a:r>
          </a:p>
        </p:txBody>
      </p:sp>
      <p:sp>
        <p:nvSpPr>
          <p:cNvPr id="16" name="Text"/>
          <p:cNvSpPr/>
          <p:nvPr/>
        </p:nvSpPr>
        <p:spPr>
          <a:xfrm>
            <a:off x="777240" y="46177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Chaque nouveau besoin recommence de zéro.</a:t>
            </a:r>
          </a:p>
        </p:txBody>
      </p:sp>
      <p:sp>
        <p:nvSpPr>
          <p:cNvPr id="17" name="Text"/>
          <p:cNvSpPr/>
          <p:nvPr/>
        </p:nvSpPr>
        <p:spPr>
          <a:xfrm>
            <a:off x="777240" y="5047488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Aucune trace, aucune capitalisation, aucun parcours balisé.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F59E0B"/>
                </a:solidFill>
                <a:latin typeface="Segoe UI"/>
                <a:cs typeface="Segoe UI"/>
              </a:rPr>
              <a:t>Les irritants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Quatre problèmes, un seul point commun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Information dispersée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Les supports vivent sur SharePoint, dans des mails, sur des postes locaux. Rien n'est au même endroit.</a:t>
            </a:r>
          </a:p>
        </p:txBody>
      </p:sp>
      <p:sp>
        <p:nvSpPr>
          <p:cNvPr id="11" name="Carte"/>
          <p:cNvSpPr/>
          <p:nvPr/>
        </p:nvSpPr>
        <p:spPr>
          <a:xfrm>
            <a:off x="3505124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472B6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3852596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472B6">
              <a:alpha val="15000"/>
            </a:srgbClr>
          </a:solidFill>
          <a:ln w="13970" cap="flat" cmpd="sng" algn="ctr">
            <a:solidFill>
              <a:srgbClr val="F472B6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472B6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3852596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Dépendance aux collègues</a:t>
            </a:r>
          </a:p>
        </p:txBody>
      </p:sp>
      <p:sp>
        <p:nvSpPr>
          <p:cNvPr id="14" name="Text"/>
          <p:cNvSpPr/>
          <p:nvPr/>
        </p:nvSpPr>
        <p:spPr>
          <a:xfrm>
            <a:off x="3852596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Apprendre suppose la disponibilité de quelqu'un d'autre. Le savoir circule à l'oral.</a:t>
            </a:r>
          </a:p>
        </p:txBody>
      </p:sp>
      <p:sp>
        <p:nvSpPr>
          <p:cNvPr id="15" name="Carte"/>
          <p:cNvSpPr/>
          <p:nvPr/>
        </p:nvSpPr>
        <p:spPr>
          <a:xfrm>
            <a:off x="6233008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658048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6580480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Temps perdu</a:t>
            </a:r>
          </a:p>
        </p:txBody>
      </p:sp>
      <p:sp>
        <p:nvSpPr>
          <p:cNvPr id="18" name="Text"/>
          <p:cNvSpPr/>
          <p:nvPr/>
        </p:nvSpPr>
        <p:spPr>
          <a:xfrm>
            <a:off x="6580480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Chercher, attendre, redemander. Du temps d'ingénieur qui ne va pas au projet.</a:t>
            </a:r>
          </a:p>
        </p:txBody>
      </p:sp>
      <p:sp>
        <p:nvSpPr>
          <p:cNvPr id="19" name="Carte"/>
          <p:cNvSpPr/>
          <p:nvPr/>
        </p:nvSpPr>
        <p:spPr>
          <a:xfrm>
            <a:off x="8960891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0" name="Puce"/>
          <p:cNvSpPr/>
          <p:nvPr/>
        </p:nvSpPr>
        <p:spPr>
          <a:xfrm>
            <a:off x="9308363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1" name="Text"/>
          <p:cNvSpPr/>
          <p:nvPr/>
        </p:nvSpPr>
        <p:spPr>
          <a:xfrm>
            <a:off x="9308363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Savoir non capitalisé</a:t>
            </a:r>
          </a:p>
        </p:txBody>
      </p:sp>
      <p:sp>
        <p:nvSpPr>
          <p:cNvPr id="22" name="Text"/>
          <p:cNvSpPr/>
          <p:nvPr/>
        </p:nvSpPr>
        <p:spPr>
          <a:xfrm>
            <a:off x="9308363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Ce qui est expliqué en réunion ou en visio disparaît. Le prochain arrivant repart de zéro.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5" name="Text"/>
          <p:cNvSpPr/>
          <p:nvPr/>
        </p:nvSpPr>
        <p:spPr>
          <a:xfrm>
            <a:off x="0" y="1874520"/>
            <a:ext cx="121916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00" dirty="0" b="1" spc="240" cap="all">
                <a:solidFill>
                  <a:srgbClr val="F59E0B"/>
                </a:solidFill>
                <a:latin typeface="Segoe UI"/>
                <a:cs typeface="Segoe UI"/>
              </a:rPr>
              <a:t>Problématique</a:t>
            </a:r>
          </a:p>
        </p:txBody>
      </p:sp>
      <p:sp>
        <p:nvSpPr>
          <p:cNvPr id="6" name="Text"/>
          <p:cNvSpPr/>
          <p:nvPr/>
        </p:nvSpPr>
        <p:spPr>
          <a:xfrm>
            <a:off x="1005840" y="2377440"/>
            <a:ext cx="10180015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3999"/>
              </a:lnSpc>
              <a:buNone/>
            </a:pPr>
            <a:r>
              <a:rPr lang="fr-FR" sz="3400" dirty="0" b="1">
                <a:solidFill>
                  <a:srgbClr val="FFFFFF"/>
                </a:solidFill>
                <a:latin typeface="Segoe UI"/>
                <a:cs typeface="Segoe UI"/>
              </a:rPr>
              <a:t>Comment réunir en un seul point d'accès</a:t>
            </a:r>
          </a:p>
          <a:p>
            <a:pPr marL="0" indent="0" algn="ctr">
              <a:lnSpc>
                <a:spcPct val="113999"/>
              </a:lnSpc>
              <a:buNone/>
            </a:pPr>
            <a:r>
              <a:rPr lang="fr-FR" sz="3400" dirty="0" b="1">
                <a:solidFill>
                  <a:srgbClr val="FFFFFF"/>
                </a:solidFill>
                <a:latin typeface="Segoe UI"/>
                <a:cs typeface="Segoe UI"/>
              </a:rPr>
              <a:t>les outils, la formation et les ressources</a:t>
            </a:r>
          </a:p>
          <a:p>
            <a:pPr marL="0" indent="0" algn="ctr">
              <a:lnSpc>
                <a:spcPct val="113999"/>
              </a:lnSpc>
              <a:buNone/>
            </a:pPr>
            <a:r>
              <a:rPr lang="fr-FR" sz="3400" dirty="0" b="1">
                <a:solidFill>
                  <a:srgbClr val="FFFFFF"/>
                </a:solidFill>
                <a:latin typeface="Segoe UI"/>
                <a:cs typeface="Segoe UI"/>
              </a:rPr>
              <a:t>de chaque équipe — hors ligne, à tout moment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Objectifs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Ce que la solution devait faire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1758620" cy="3140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Centraliser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532734"/>
            <a:ext cx="1758620" cy="178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Un seul point d'entrée pour tous les outils et tous les supports de formation.</a:t>
            </a:r>
          </a:p>
        </p:txBody>
      </p:sp>
      <p:sp>
        <p:nvSpPr>
          <p:cNvPr id="11" name="Carte"/>
          <p:cNvSpPr/>
          <p:nvPr/>
        </p:nvSpPr>
        <p:spPr>
          <a:xfrm>
            <a:off x="3505124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3852596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3852596" y="3127248"/>
            <a:ext cx="1758620" cy="3140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Rendre autonome</a:t>
            </a:r>
          </a:p>
        </p:txBody>
      </p:sp>
      <p:sp>
        <p:nvSpPr>
          <p:cNvPr id="14" name="Text"/>
          <p:cNvSpPr/>
          <p:nvPr/>
        </p:nvSpPr>
        <p:spPr>
          <a:xfrm>
            <a:off x="3852596" y="3532734"/>
            <a:ext cx="1758620" cy="178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Apprendre sans attendre personne, à son rythme, quand on en a besoin.</a:t>
            </a:r>
          </a:p>
        </p:txBody>
      </p:sp>
      <p:sp>
        <p:nvSpPr>
          <p:cNvPr id="15" name="Carte"/>
          <p:cNvSpPr/>
          <p:nvPr/>
        </p:nvSpPr>
        <p:spPr>
          <a:xfrm>
            <a:off x="6233008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22D3EE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658048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D3EE">
              <a:alpha val="15000"/>
            </a:srgbClr>
          </a:solidFill>
          <a:ln w="13970" cap="flat" cmpd="sng" algn="ctr">
            <a:solidFill>
              <a:srgbClr val="22D3EE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22D3EE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6580480" y="3127248"/>
            <a:ext cx="1758620" cy="3140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Standardiser</a:t>
            </a:r>
          </a:p>
        </p:txBody>
      </p:sp>
      <p:sp>
        <p:nvSpPr>
          <p:cNvPr id="18" name="Text"/>
          <p:cNvSpPr/>
          <p:nvPr/>
        </p:nvSpPr>
        <p:spPr>
          <a:xfrm>
            <a:off x="6580480" y="3532734"/>
            <a:ext cx="1758620" cy="178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Le même contenu, le même niveau de départ et la même évaluation pour tous.</a:t>
            </a:r>
          </a:p>
        </p:txBody>
      </p:sp>
      <p:sp>
        <p:nvSpPr>
          <p:cNvPr id="19" name="Carte"/>
          <p:cNvSpPr/>
          <p:nvPr/>
        </p:nvSpPr>
        <p:spPr>
          <a:xfrm>
            <a:off x="8960891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0" name="Puce"/>
          <p:cNvSpPr/>
          <p:nvPr/>
        </p:nvSpPr>
        <p:spPr>
          <a:xfrm>
            <a:off x="9308363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1" name="Text"/>
          <p:cNvSpPr/>
          <p:nvPr/>
        </p:nvSpPr>
        <p:spPr>
          <a:xfrm>
            <a:off x="9308363" y="3127248"/>
            <a:ext cx="1758620" cy="3140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Digitaliser</a:t>
            </a:r>
          </a:p>
        </p:txBody>
      </p:sp>
      <p:sp>
        <p:nvSpPr>
          <p:cNvPr id="22" name="Text"/>
          <p:cNvSpPr/>
          <p:nvPr/>
        </p:nvSpPr>
        <p:spPr>
          <a:xfrm>
            <a:off x="9308363" y="3532734"/>
            <a:ext cx="1758620" cy="178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Transformer un savoir oral et dispersé en un actif numérique durable.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5" name="Text"/>
          <p:cNvSpPr/>
          <p:nvPr/>
        </p:nvSpPr>
        <p:spPr>
          <a:xfrm>
            <a:off x="7253935" y="137160"/>
            <a:ext cx="45720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21000" dirty="0" b="1">
                <a:solidFill>
                  <a:srgbClr val="FFFFFF">
                    <a:alpha val="6000"/>
                  </a:srgbClr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6" name="Filet"/>
          <p:cNvSpPr/>
          <p:nvPr/>
        </p:nvSpPr>
        <p:spPr>
          <a:xfrm>
            <a:off x="777240" y="2395728"/>
            <a:ext cx="822960" cy="411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7" name="Text"/>
          <p:cNvSpPr/>
          <p:nvPr/>
        </p:nvSpPr>
        <p:spPr>
          <a:xfrm>
            <a:off x="777240" y="2697480"/>
            <a:ext cx="1063721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200" dirty="0" b="1" spc="240" cap="all">
                <a:solidFill>
                  <a:srgbClr val="34D399"/>
                </a:solidFill>
                <a:latin typeface="Segoe UI"/>
                <a:cs typeface="Segoe UI"/>
              </a:rPr>
              <a:t>CHAPITRE 03</a:t>
            </a:r>
          </a:p>
        </p:txBody>
      </p:sp>
      <p:sp>
        <p:nvSpPr>
          <p:cNvPr id="8" name="Text"/>
          <p:cNvSpPr/>
          <p:nvPr/>
        </p:nvSpPr>
        <p:spPr>
          <a:xfrm>
            <a:off x="777240" y="3072384"/>
            <a:ext cx="9722815" cy="876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fr-FR" sz="4800" dirty="0" b="1">
                <a:solidFill>
                  <a:srgbClr val="FFFFFF"/>
                </a:solidFill>
                <a:latin typeface="Segoe UI"/>
                <a:cs typeface="Segoe UI"/>
              </a:rPr>
              <a:t>KATATOOL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4223309"/>
            <a:ext cx="8442655" cy="382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fr-FR" sz="1550" dirty="0">
                <a:solidFill>
                  <a:srgbClr val="9FB6CE"/>
                </a:solidFill>
                <a:latin typeface="Segoe UI"/>
                <a:cs typeface="Segoe UI"/>
              </a:rPr>
              <a:t>La réponse : un hub unique, hors ligne, bilingue — construit en interne.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5" name="Text"/>
          <p:cNvSpPr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Ce que c'est</a:t>
            </a:r>
          </a:p>
        </p:txBody>
      </p:sp>
      <p:sp>
        <p:nvSpPr>
          <p:cNvPr id="6" name="Text"/>
          <p:cNvSpPr/>
          <p:nvPr/>
        </p:nvSpPr>
        <p:spPr>
          <a:xfrm>
            <a:off x="0" y="877824"/>
            <a:ext cx="1219169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Tout au même endroit</a:t>
            </a:r>
          </a:p>
        </p:txBody>
      </p:sp>
      <p:sp>
        <p:nvSpPr>
          <p:cNvPr id="7" name="Text"/>
          <p:cNvSpPr/>
          <p:nvPr/>
        </p:nvSpPr>
        <p:spPr>
          <a:xfrm>
            <a:off x="1463040" y="1847088"/>
            <a:ext cx="926561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9FB6CE"/>
                </a:solidFill>
                <a:latin typeface="Segoe UI"/>
                <a:cs typeface="Segoe UI"/>
              </a:rPr>
              <a:t>Pas d'internet. Pas d'installation compliquée. On l'ouvre, et on travaille.</a:t>
            </a:r>
          </a:p>
        </p:txBody>
      </p:sp>
      <p:sp>
        <p:nvSpPr>
          <p:cNvPr id="8" name="Text"/>
          <p:cNvSpPr/>
          <p:nvPr/>
        </p:nvSpPr>
        <p:spPr>
          <a:xfrm>
            <a:off x="777240" y="2834640"/>
            <a:ext cx="2453564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5800" dirty="0" b="1">
                <a:solidFill>
                  <a:srgbClr val="5B9DF9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3840480"/>
            <a:ext cx="24535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050" dirty="0" b="1" spc="160" cap="all">
                <a:solidFill>
                  <a:srgbClr val="6E89A6"/>
                </a:solidFill>
                <a:latin typeface="Segoe UI"/>
                <a:cs typeface="Segoe UI"/>
              </a:rPr>
              <a:t>Applications</a:t>
            </a:r>
          </a:p>
        </p:txBody>
      </p:sp>
      <p:sp>
        <p:nvSpPr>
          <p:cNvPr id="10" name="Text"/>
          <p:cNvSpPr/>
          <p:nvPr/>
        </p:nvSpPr>
        <p:spPr>
          <a:xfrm>
            <a:off x="3505124" y="2834640"/>
            <a:ext cx="2453564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5800" dirty="0" b="1">
                <a:solidFill>
                  <a:srgbClr val="F59E0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1" name="Text"/>
          <p:cNvSpPr/>
          <p:nvPr/>
        </p:nvSpPr>
        <p:spPr>
          <a:xfrm>
            <a:off x="3505124" y="3840480"/>
            <a:ext cx="24535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050" dirty="0" b="1" spc="160" cap="all">
                <a:solidFill>
                  <a:srgbClr val="6E89A6"/>
                </a:solidFill>
                <a:latin typeface="Segoe UI"/>
                <a:cs typeface="Segoe UI"/>
              </a:rPr>
              <a:t>Sections PLM</a:t>
            </a:r>
          </a:p>
        </p:txBody>
      </p:sp>
      <p:sp>
        <p:nvSpPr>
          <p:cNvPr id="12" name="Text"/>
          <p:cNvSpPr/>
          <p:nvPr/>
        </p:nvSpPr>
        <p:spPr>
          <a:xfrm>
            <a:off x="6233008" y="2834640"/>
            <a:ext cx="2453564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5800" dirty="0" b="1">
                <a:solidFill>
                  <a:srgbClr val="34D399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3" name="Text"/>
          <p:cNvSpPr/>
          <p:nvPr/>
        </p:nvSpPr>
        <p:spPr>
          <a:xfrm>
            <a:off x="6233008" y="3840480"/>
            <a:ext cx="24535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050" dirty="0" b="1" spc="160" cap="all">
                <a:solidFill>
                  <a:srgbClr val="6E89A6"/>
                </a:solidFill>
                <a:latin typeface="Segoe UI"/>
                <a:cs typeface="Segoe UI"/>
              </a:rPr>
              <a:t>Quiz</a:t>
            </a:r>
          </a:p>
        </p:txBody>
      </p:sp>
      <p:sp>
        <p:nvSpPr>
          <p:cNvPr id="14" name="Text"/>
          <p:cNvSpPr/>
          <p:nvPr/>
        </p:nvSpPr>
        <p:spPr>
          <a:xfrm>
            <a:off x="8960891" y="2834640"/>
            <a:ext cx="2453564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5800" dirty="0" b="1">
                <a:solidFill>
                  <a:srgbClr val="A78BFA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5" name="Text"/>
          <p:cNvSpPr/>
          <p:nvPr/>
        </p:nvSpPr>
        <p:spPr>
          <a:xfrm>
            <a:off x="8960891" y="3840480"/>
            <a:ext cx="24535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050" dirty="0" b="1" spc="160" cap="all">
                <a:solidFill>
                  <a:srgbClr val="6E89A6"/>
                </a:solidFill>
                <a:latin typeface="Segoe UI"/>
                <a:cs typeface="Segoe UI"/>
              </a:rPr>
              <a:t>Équipes</a:t>
            </a:r>
          </a:p>
        </p:txBody>
      </p:sp>
      <p:sp>
        <p:nvSpPr>
          <p:cNvPr id="16" name="Filet"/>
          <p:cNvSpPr/>
          <p:nvPr/>
        </p:nvSpPr>
        <p:spPr>
          <a:xfrm>
            <a:off x="4724248" y="4572000"/>
            <a:ext cx="2743200" cy="22860"/>
          </a:xfrm>
          <a:prstGeom prst="rect">
            <a:avLst/>
          </a:prstGeom>
          <a:solidFill>
            <a:srgbClr val="34D399">
              <a:alpha val="4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7" name="Text"/>
          <p:cNvSpPr/>
          <p:nvPr/>
        </p:nvSpPr>
        <p:spPr>
          <a:xfrm>
            <a:off x="1280160" y="4846320"/>
            <a:ext cx="963137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fr-FR" sz="1350" dirty="0">
                <a:solidFill>
                  <a:srgbClr val="6E89A6"/>
                </a:solidFill>
                <a:latin typeface="Segoe UI"/>
                <a:cs typeface="Segoe UI"/>
              </a:rPr>
              <a:t>Le périmètre actuel. Le socle est conçu pour accueillir de nouveaux outils et de nouvelles équipes sans être reconstruit.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Structure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Un tableau de bord, quatre portes</a:t>
            </a:r>
          </a:p>
        </p:txBody>
      </p:sp>
      <p:sp>
        <p:nvSpPr>
          <p:cNvPr id="7" name="Hub"/>
          <p:cNvSpPr/>
          <p:nvPr/>
        </p:nvSpPr>
        <p:spPr>
          <a:xfrm>
            <a:off x="4449928" y="2103120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0F2842">
              <a:alpha val="55000"/>
            </a:srgbClr>
          </a:solidFill>
          <a:ln w="19050" cap="flat" cmpd="sng" algn="ctr">
            <a:solidFill>
              <a:srgbClr val="34D399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900" dirty="0" b="1">
                <a:solidFill>
                  <a:srgbClr val="FFFFFF"/>
                </a:solidFill>
                <a:latin typeface="Segoe UI"/>
                <a:cs typeface="Segoe UI"/>
              </a:rPr>
              <a:t>Tableau de bord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Point d'entrée unique</a:t>
            </a:r>
          </a:p>
        </p:txBody>
      </p:sp>
      <p:sp>
        <p:nvSpPr>
          <p:cNvPr id="8" name="Liaison"/>
          <p:cNvSpPr/>
          <p:nvPr/>
        </p:nvSpPr>
        <p:spPr>
          <a:xfrm>
            <a:off x="6085789" y="2971800"/>
            <a:ext cx="20117" cy="384048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9" name="Liaison"/>
          <p:cNvSpPr/>
          <p:nvPr/>
        </p:nvSpPr>
        <p:spPr>
          <a:xfrm>
            <a:off x="2004022" y="3355848"/>
            <a:ext cx="8183651" cy="20117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0" name="Liaison"/>
          <p:cNvSpPr/>
          <p:nvPr/>
        </p:nvSpPr>
        <p:spPr>
          <a:xfrm>
            <a:off x="1993964" y="3355848"/>
            <a:ext cx="20117" cy="329184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1" name="Carte"/>
          <p:cNvSpPr/>
          <p:nvPr/>
        </p:nvSpPr>
        <p:spPr>
          <a:xfrm>
            <a:off x="777240" y="3685032"/>
            <a:ext cx="2453564" cy="16916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201168" tIns="146304" rIns="201168" bIns="146304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Applications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Les 5 outils du quotidien, avec leur documentation.</a:t>
            </a:r>
          </a:p>
        </p:txBody>
      </p:sp>
      <p:sp>
        <p:nvSpPr>
          <p:cNvPr id="12" name="Liaison"/>
          <p:cNvSpPr/>
          <p:nvPr/>
        </p:nvSpPr>
        <p:spPr>
          <a:xfrm>
            <a:off x="4721847" y="3355848"/>
            <a:ext cx="20117" cy="329184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3" name="Carte"/>
          <p:cNvSpPr/>
          <p:nvPr/>
        </p:nvSpPr>
        <p:spPr>
          <a:xfrm>
            <a:off x="3505124" y="3685032"/>
            <a:ext cx="2453564" cy="16916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201168" tIns="146304" rIns="201168" bIns="146304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Formations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Parcours débutant puis avancé, construits sur nos supports réels.</a:t>
            </a:r>
          </a:p>
        </p:txBody>
      </p:sp>
      <p:sp>
        <p:nvSpPr>
          <p:cNvPr id="14" name="Liaison"/>
          <p:cNvSpPr/>
          <p:nvPr/>
        </p:nvSpPr>
        <p:spPr>
          <a:xfrm>
            <a:off x="7449731" y="3355848"/>
            <a:ext cx="20117" cy="329184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5" name="Carte"/>
          <p:cNvSpPr/>
          <p:nvPr/>
        </p:nvSpPr>
        <p:spPr>
          <a:xfrm>
            <a:off x="6233008" y="3685032"/>
            <a:ext cx="2453564" cy="16916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201168" tIns="146304" rIns="201168" bIns="146304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Quiz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Évaluation à 70 %, qui déverrouille le niveau suivant.</a:t>
            </a:r>
          </a:p>
        </p:txBody>
      </p:sp>
      <p:sp>
        <p:nvSpPr>
          <p:cNvPr id="16" name="Liaison"/>
          <p:cNvSpPr/>
          <p:nvPr/>
        </p:nvSpPr>
        <p:spPr>
          <a:xfrm>
            <a:off x="10177615" y="3355848"/>
            <a:ext cx="20117" cy="329184"/>
          </a:xfrm>
          <a:prstGeom prst="rect">
            <a:avLst/>
          </a:prstGeom>
          <a:solidFill>
            <a:srgbClr val="35577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7" name="Carte"/>
          <p:cNvSpPr/>
          <p:nvPr/>
        </p:nvSpPr>
        <p:spPr>
          <a:xfrm>
            <a:off x="8960891" y="3685032"/>
            <a:ext cx="2453564" cy="16916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201168" tIns="146304" rIns="201168" bIns="146304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Espaces équipes</a:t>
            </a:r>
          </a:p>
          <a:p>
            <a:pPr marL="0" indent="0" algn="ctr">
              <a:lnSpc>
                <a:spcPct val="132000"/>
              </a:lnSpc>
              <a:spcBef>
                <a:spcPts val="700"/>
              </a:spcBef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CD2D et CD3D : macros, outils et procédures propres à chaque équipe.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5" name="Text"/>
          <p:cNvSpPr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Applications</a:t>
            </a:r>
          </a:p>
        </p:txBody>
      </p:sp>
      <p:sp>
        <p:nvSpPr>
          <p:cNvPr id="6" name="Text"/>
          <p:cNvSpPr/>
          <p:nvPr/>
        </p:nvSpPr>
        <p:spPr>
          <a:xfrm>
            <a:off x="0" y="877824"/>
            <a:ext cx="1219169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Les outils que nous utilisons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331720"/>
            <a:ext cx="1907987" cy="26060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Icône"/>
          <p:cNvSpPr/>
          <p:nvPr/>
        </p:nvSpPr>
        <p:spPr>
          <a:xfrm>
            <a:off x="1228314" y="269748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5B9DF9">
              <a:alpha val="16000"/>
            </a:srgbClr>
          </a:solidFill>
          <a:ln w="16510" cap="flat" cmpd="sng" algn="ctr">
            <a:solidFill>
              <a:srgbClr val="5B9DF9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2200" dirty="0" b="1">
                <a:solidFill>
                  <a:srgbClr val="5B9DF9"/>
                </a:solidFill>
                <a:latin typeface="Segoe UI"/>
                <a:cs typeface="Segoe UI"/>
              </a:rPr>
              <a:t>3D</a:t>
            </a:r>
          </a:p>
        </p:txBody>
      </p:sp>
      <p:sp>
        <p:nvSpPr>
          <p:cNvPr id="9" name="Text"/>
          <p:cNvSpPr/>
          <p:nvPr/>
        </p:nvSpPr>
        <p:spPr>
          <a:xfrm>
            <a:off x="914400" y="3950208"/>
            <a:ext cx="163366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Catia V6</a:t>
            </a:r>
          </a:p>
        </p:txBody>
      </p:sp>
      <p:sp>
        <p:nvSpPr>
          <p:cNvPr id="10" name="Text"/>
          <p:cNvSpPr/>
          <p:nvPr/>
        </p:nvSpPr>
        <p:spPr>
          <a:xfrm>
            <a:off x="914400" y="4315968"/>
            <a:ext cx="16336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Conception 3D</a:t>
            </a:r>
          </a:p>
        </p:txBody>
      </p:sp>
      <p:sp>
        <p:nvSpPr>
          <p:cNvPr id="11" name="Carte"/>
          <p:cNvSpPr/>
          <p:nvPr/>
        </p:nvSpPr>
        <p:spPr>
          <a:xfrm>
            <a:off x="2959547" y="2331720"/>
            <a:ext cx="1907987" cy="26060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Icône"/>
          <p:cNvSpPr/>
          <p:nvPr/>
        </p:nvSpPr>
        <p:spPr>
          <a:xfrm>
            <a:off x="3410621" y="269748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34D399">
              <a:alpha val="16000"/>
            </a:srgbClr>
          </a:solidFill>
          <a:ln w="16510" cap="flat" cmpd="sng" algn="ctr">
            <a:solidFill>
              <a:srgbClr val="34D399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2200" dirty="0" b="1">
                <a:solidFill>
                  <a:srgbClr val="34D399"/>
                </a:solidFill>
                <a:latin typeface="Segoe UI"/>
                <a:cs typeface="Segoe UI"/>
              </a:rPr>
              <a:t>TC</a:t>
            </a:r>
          </a:p>
        </p:txBody>
      </p:sp>
      <p:sp>
        <p:nvSpPr>
          <p:cNvPr id="13" name="Text"/>
          <p:cNvSpPr/>
          <p:nvPr/>
        </p:nvSpPr>
        <p:spPr>
          <a:xfrm>
            <a:off x="3096707" y="3950208"/>
            <a:ext cx="163366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Teamcenter</a:t>
            </a:r>
          </a:p>
        </p:txBody>
      </p:sp>
      <p:sp>
        <p:nvSpPr>
          <p:cNvPr id="14" name="Text"/>
          <p:cNvSpPr/>
          <p:nvPr/>
        </p:nvSpPr>
        <p:spPr>
          <a:xfrm>
            <a:off x="3096707" y="4315968"/>
            <a:ext cx="16336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PLM</a:t>
            </a:r>
          </a:p>
        </p:txBody>
      </p:sp>
      <p:sp>
        <p:nvSpPr>
          <p:cNvPr id="15" name="Carte"/>
          <p:cNvSpPr/>
          <p:nvPr/>
        </p:nvSpPr>
        <p:spPr>
          <a:xfrm>
            <a:off x="5141854" y="2331720"/>
            <a:ext cx="1907987" cy="26060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472B6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Icône"/>
          <p:cNvSpPr/>
          <p:nvPr/>
        </p:nvSpPr>
        <p:spPr>
          <a:xfrm>
            <a:off x="5592928" y="269748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F472B6">
              <a:alpha val="16000"/>
            </a:srgbClr>
          </a:solidFill>
          <a:ln w="16510" cap="flat" cmpd="sng" algn="ctr">
            <a:solidFill>
              <a:srgbClr val="F472B6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2200" dirty="0" b="1">
                <a:solidFill>
                  <a:srgbClr val="F472B6"/>
                </a:solidFill>
                <a:latin typeface="Segoe UI"/>
                <a:cs typeface="Segoe UI"/>
              </a:rPr>
              <a:t>CL</a:t>
            </a:r>
          </a:p>
        </p:txBody>
      </p:sp>
      <p:sp>
        <p:nvSpPr>
          <p:cNvPr id="17" name="Text"/>
          <p:cNvSpPr/>
          <p:nvPr/>
        </p:nvSpPr>
        <p:spPr>
          <a:xfrm>
            <a:off x="5279014" y="3950208"/>
            <a:ext cx="163366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Capital Logic</a:t>
            </a:r>
          </a:p>
        </p:txBody>
      </p:sp>
      <p:sp>
        <p:nvSpPr>
          <p:cNvPr id="18" name="Text"/>
          <p:cNvSpPr/>
          <p:nvPr/>
        </p:nvSpPr>
        <p:spPr>
          <a:xfrm>
            <a:off x="5279014" y="4315968"/>
            <a:ext cx="16336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Électrique</a:t>
            </a:r>
          </a:p>
        </p:txBody>
      </p:sp>
      <p:sp>
        <p:nvSpPr>
          <p:cNvPr id="19" name="Carte"/>
          <p:cNvSpPr/>
          <p:nvPr/>
        </p:nvSpPr>
        <p:spPr>
          <a:xfrm>
            <a:off x="7324161" y="2331720"/>
            <a:ext cx="1907987" cy="26060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22D3EE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0" name="Icône"/>
          <p:cNvSpPr/>
          <p:nvPr/>
        </p:nvSpPr>
        <p:spPr>
          <a:xfrm>
            <a:off x="7775235" y="269748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22D3EE">
              <a:alpha val="16000"/>
            </a:srgbClr>
          </a:solidFill>
          <a:ln w="16510" cap="flat" cmpd="sng" algn="ctr">
            <a:solidFill>
              <a:srgbClr val="22D3EE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2200" dirty="0" b="1">
                <a:solidFill>
                  <a:srgbClr val="22D3EE"/>
                </a:solidFill>
                <a:latin typeface="Segoe UI"/>
                <a:cs typeface="Segoe UI"/>
              </a:rPr>
              <a:t>XC</a:t>
            </a:r>
          </a:p>
        </p:txBody>
      </p:sp>
      <p:sp>
        <p:nvSpPr>
          <p:cNvPr id="21" name="Text"/>
          <p:cNvSpPr/>
          <p:nvPr/>
        </p:nvSpPr>
        <p:spPr>
          <a:xfrm>
            <a:off x="7461321" y="3950208"/>
            <a:ext cx="163366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Modular XC</a:t>
            </a:r>
          </a:p>
        </p:txBody>
      </p:sp>
      <p:sp>
        <p:nvSpPr>
          <p:cNvPr id="22" name="Text"/>
          <p:cNvSpPr/>
          <p:nvPr/>
        </p:nvSpPr>
        <p:spPr>
          <a:xfrm>
            <a:off x="7461321" y="4315968"/>
            <a:ext cx="16336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Faisceaux</a:t>
            </a:r>
          </a:p>
        </p:txBody>
      </p:sp>
      <p:sp>
        <p:nvSpPr>
          <p:cNvPr id="23" name="Carte"/>
          <p:cNvSpPr/>
          <p:nvPr/>
        </p:nvSpPr>
        <p:spPr>
          <a:xfrm>
            <a:off x="9506468" y="2331720"/>
            <a:ext cx="1907987" cy="2606040"/>
          </a:xfrm>
          <a:prstGeom prst="roundRect">
            <a:avLst>
              <a:gd name="adj" fmla="val 6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4" name="Icône"/>
          <p:cNvSpPr/>
          <p:nvPr/>
        </p:nvSpPr>
        <p:spPr>
          <a:xfrm>
            <a:off x="9957542" y="269748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A78BFA">
              <a:alpha val="16000"/>
            </a:srgbClr>
          </a:solidFill>
          <a:ln w="16510" cap="flat" cmpd="sng" algn="ctr">
            <a:solidFill>
              <a:srgbClr val="A78BFA">
                <a:alpha val="7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2200" dirty="0" b="1">
                <a:solidFill>
                  <a:srgbClr val="A78BFA"/>
                </a:solidFill>
                <a:latin typeface="Segoe UI"/>
                <a:cs typeface="Segoe UI"/>
              </a:rPr>
              <a:t>PLM</a:t>
            </a:r>
          </a:p>
        </p:txBody>
      </p:sp>
      <p:sp>
        <p:nvSpPr>
          <p:cNvPr id="25" name="Text"/>
          <p:cNvSpPr/>
          <p:nvPr/>
        </p:nvSpPr>
        <p:spPr>
          <a:xfrm>
            <a:off x="9643628" y="3950208"/>
            <a:ext cx="1633667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PLM</a:t>
            </a:r>
          </a:p>
        </p:txBody>
      </p:sp>
      <p:sp>
        <p:nvSpPr>
          <p:cNvPr id="26" name="Text"/>
          <p:cNvSpPr/>
          <p:nvPr/>
        </p:nvSpPr>
        <p:spPr>
          <a:xfrm>
            <a:off x="9643628" y="4315968"/>
            <a:ext cx="16336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9FB6CE"/>
                </a:solidFill>
                <a:latin typeface="Segoe UI"/>
                <a:cs typeface="Segoe UI"/>
              </a:rPr>
              <a:t>ENOVIA V6</a:t>
            </a:r>
          </a:p>
        </p:txBody>
      </p:sp>
      <p:sp>
        <p:nvSpPr>
          <p:cNvPr id="27" name="Text"/>
          <p:cNvSpPr/>
          <p:nvPr/>
        </p:nvSpPr>
        <p:spPr>
          <a:xfrm>
            <a:off x="777240" y="5193792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>
                <a:solidFill>
                  <a:srgbClr val="6E89A6"/>
                </a:solidFill>
                <a:latin typeface="Segoe UI"/>
                <a:cs typeface="Segoe UI"/>
              </a:rPr>
              <a:t>Une fiche par outil, avec ses supports et ses points de vigilance.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Capital Modular XC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Un parcours d'apprentissage guidé</a:t>
            </a:r>
          </a:p>
        </p:txBody>
      </p:sp>
      <p:sp>
        <p:nvSpPr>
          <p:cNvPr id="7" name="Étape"/>
          <p:cNvSpPr/>
          <p:nvPr/>
        </p:nvSpPr>
        <p:spPr>
          <a:xfrm>
            <a:off x="777240" y="2651760"/>
            <a:ext cx="3277514" cy="155448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2200" dirty="0" b="1">
                <a:solidFill>
                  <a:srgbClr val="34D399"/>
                </a:solidFill>
                <a:latin typeface="Segoe UI"/>
                <a:cs typeface="Segoe UI"/>
              </a:rPr>
              <a:t>Débutant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Les fondamentaux</a:t>
            </a:r>
          </a:p>
        </p:txBody>
      </p:sp>
      <p:sp>
        <p:nvSpPr>
          <p:cNvPr id="8" name="Text"/>
          <p:cNvSpPr/>
          <p:nvPr/>
        </p:nvSpPr>
        <p:spPr>
          <a:xfrm>
            <a:off x="4054754" y="2651760"/>
            <a:ext cx="402336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9" name="Étape"/>
          <p:cNvSpPr/>
          <p:nvPr/>
        </p:nvSpPr>
        <p:spPr>
          <a:xfrm>
            <a:off x="4457090" y="2651760"/>
            <a:ext cx="3277514" cy="155448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2200" dirty="0" b="1">
                <a:solidFill>
                  <a:srgbClr val="5B9DF9"/>
                </a:solidFill>
                <a:latin typeface="Segoe UI"/>
                <a:cs typeface="Segoe UI"/>
              </a:rPr>
              <a:t>Quiz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15 questions · 70 %</a:t>
            </a:r>
          </a:p>
        </p:txBody>
      </p:sp>
      <p:sp>
        <p:nvSpPr>
          <p:cNvPr id="10" name="Text"/>
          <p:cNvSpPr/>
          <p:nvPr/>
        </p:nvSpPr>
        <p:spPr>
          <a:xfrm>
            <a:off x="7734605" y="2651760"/>
            <a:ext cx="402336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" name="Étape"/>
          <p:cNvSpPr/>
          <p:nvPr/>
        </p:nvSpPr>
        <p:spPr>
          <a:xfrm>
            <a:off x="8136941" y="2651760"/>
            <a:ext cx="3277514" cy="155448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2200" dirty="0" b="1">
                <a:solidFill>
                  <a:srgbClr val="A78BFA"/>
                </a:solidFill>
                <a:latin typeface="Segoe UI"/>
                <a:cs typeface="Segoe UI"/>
              </a:rPr>
              <a:t>Avancé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Déverrouillé</a:t>
            </a:r>
          </a:p>
        </p:txBody>
      </p:sp>
      <p:sp>
        <p:nvSpPr>
          <p:cNvPr id="12" name="Text"/>
          <p:cNvSpPr/>
          <p:nvPr/>
        </p:nvSpPr>
        <p:spPr>
          <a:xfrm>
            <a:off x="777240" y="4663440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800" dirty="0" b="1">
                <a:solidFill>
                  <a:srgbClr val="FFFFFF"/>
                </a:solidFill>
                <a:latin typeface="Segoe UI"/>
                <a:cs typeface="Segoe UI"/>
              </a:rPr>
              <a:t>On valide le test, le cours avancé s'ouvre.</a:t>
            </a:r>
          </a:p>
        </p:txBody>
      </p:sp>
      <p:sp>
        <p:nvSpPr>
          <p:cNvPr id="13" name="Text"/>
          <p:cNvSpPr/>
          <p:nvPr/>
        </p:nvSpPr>
        <p:spPr>
          <a:xfrm>
            <a:off x="777240" y="512064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50" dirty="0">
                <a:solidFill>
                  <a:srgbClr val="9FB6CE"/>
                </a:solidFill>
                <a:latin typeface="Segoe UI"/>
                <a:cs typeface="Segoe UI"/>
              </a:rPr>
              <a:t>Le niveau atteint est mesuré, pas déclaré.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20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Formation débutant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Construite sur nos supports réels</a:t>
            </a:r>
          </a:p>
        </p:txBody>
      </p:sp>
      <p:sp>
        <p:nvSpPr>
          <p:cNvPr id="7" name="Emplacement capture"/>
          <p:cNvSpPr/>
          <p:nvPr/>
        </p:nvSpPr>
        <p:spPr>
          <a:xfrm>
            <a:off x="1965960" y="2103120"/>
            <a:ext cx="8259775" cy="3291840"/>
          </a:xfrm>
          <a:prstGeom prst="roundRect">
            <a:avLst>
              <a:gd name="adj" fmla="val 3000"/>
            </a:avLst>
          </a:prstGeom>
          <a:solidFill>
            <a:srgbClr val="0C2035">
              <a:alpha val="45000"/>
            </a:srgbClr>
          </a:solidFill>
          <a:ln w="13970" cap="flat" cmpd="sng" algn="ctr">
            <a:solidFill>
              <a:srgbClr val="3D5F82">
                <a:alpha val="60000"/>
              </a:srgbClr>
            </a:solidFill>
            <a:prstDash val="dash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Text"/>
          <p:cNvSpPr/>
          <p:nvPr/>
        </p:nvSpPr>
        <p:spPr>
          <a:xfrm>
            <a:off x="2221992" y="2286000"/>
            <a:ext cx="77477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050" dirty="0" b="1" spc="140" cap="all">
                <a:solidFill>
                  <a:srgbClr val="6E89A6"/>
                </a:solidFill>
                <a:latin typeface="Segoe UI"/>
                <a:cs typeface="Segoe UI"/>
              </a:rPr>
              <a:t>Capital XC — composants &amp; ruban</a:t>
            </a:r>
          </a:p>
        </p:txBody>
      </p:sp>
      <p:sp>
        <p:nvSpPr>
          <p:cNvPr id="9" name="Text"/>
          <p:cNvSpPr/>
          <p:nvPr/>
        </p:nvSpPr>
        <p:spPr>
          <a:xfrm>
            <a:off x="1965960" y="3474720"/>
            <a:ext cx="82597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300" dirty="0" i="1">
                <a:solidFill>
                  <a:srgbClr val="53748F"/>
                </a:solidFill>
                <a:latin typeface="Segoe UI"/>
                <a:cs typeface="Segoe UI"/>
              </a:rPr>
              <a:t>Insérer ici votre capture d'écran</a:t>
            </a:r>
          </a:p>
        </p:txBody>
      </p:sp>
      <p:sp>
        <p:nvSpPr>
          <p:cNvPr id="10" name="Text"/>
          <p:cNvSpPr/>
          <p:nvPr/>
        </p:nvSpPr>
        <p:spPr>
          <a:xfrm>
            <a:off x="777240" y="5559552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>
                <a:solidFill>
                  <a:srgbClr val="6E89A6"/>
                </a:solidFill>
                <a:latin typeface="Segoe UI"/>
                <a:cs typeface="Segoe UI"/>
              </a:rPr>
              <a:t>Les écrans montrés sont ceux du poste de travail. Aucun décalage entre la formation et le terrain.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21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34D399"/>
                </a:solidFill>
                <a:latin typeface="Segoe UI"/>
                <a:cs typeface="Segoe UI"/>
              </a:rPr>
              <a:t>Exercices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Apprendre, puis le prouver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Questions à choix multiples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Les questions sont issues directement du contenu du cours. Aucun piège, uniquement ce qui sert au poste.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476189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4761890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Identifier le composant</a:t>
            </a:r>
          </a:p>
        </p:txBody>
      </p:sp>
      <p:sp>
        <p:nvSpPr>
          <p:cNvPr id="14" name="Text"/>
          <p:cNvSpPr/>
          <p:nvPr/>
        </p:nvSpPr>
        <p:spPr>
          <a:xfrm>
            <a:off x="4761890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Connecteur, épissure, clip, isolant — à reconnaître sur un schéma réel de faisceau.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8399069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8399069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Déverrouiller la suite</a:t>
            </a:r>
          </a:p>
        </p:txBody>
      </p:sp>
      <p:sp>
        <p:nvSpPr>
          <p:cNvPr id="18" name="Text"/>
          <p:cNvSpPr/>
          <p:nvPr/>
        </p:nvSpPr>
        <p:spPr>
          <a:xfrm>
            <a:off x="8399069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70 % pour valider. Le score et la correction détaillée sont affichés à la fin du test.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22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F59E0B"/>
                </a:solidFill>
                <a:latin typeface="Segoe UI"/>
                <a:cs typeface="Segoe UI"/>
              </a:rPr>
              <a:t>PLM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Trois sections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22D3EE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D3EE">
              <a:alpha val="15000"/>
            </a:srgbClr>
          </a:solidFill>
          <a:ln w="13970" cap="flat" cmpd="sng" algn="ctr">
            <a:solidFill>
              <a:srgbClr val="22D3EE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22D3EE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PLM en général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Accès, Security Context, visite guidée de l'interface. Les bases, une fois pour toutes.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476189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4761890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Product ECO</a:t>
            </a:r>
          </a:p>
        </p:txBody>
      </p:sp>
      <p:sp>
        <p:nvSpPr>
          <p:cNvPr id="14" name="Text"/>
          <p:cNvSpPr/>
          <p:nvPr/>
        </p:nvSpPr>
        <p:spPr>
          <a:xfrm>
            <a:off x="4761890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Le créer, le remplir, le libérer — et surtout ce qui vous bloque et pourquoi.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8399069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8399069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PDEF &amp; PREA</a:t>
            </a:r>
          </a:p>
        </p:txBody>
      </p:sp>
      <p:sp>
        <p:nvSpPr>
          <p:cNvPr id="18" name="Text"/>
          <p:cNvSpPr/>
          <p:nvPr/>
        </p:nvSpPr>
        <p:spPr>
          <a:xfrm>
            <a:off x="8399069" y="3541979"/>
            <a:ext cx="2667914" cy="17798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Promouvoir, rétrograder, interdire, réviser. Les deux échelles de statuts.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23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F59E0B"/>
                </a:solidFill>
                <a:latin typeface="Segoe UI"/>
                <a:cs typeface="Segoe UI"/>
              </a:rPr>
              <a:t>PLM / ECO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Écrans réels, blocages réels</a:t>
            </a:r>
          </a:p>
        </p:txBody>
      </p:sp>
      <p:sp>
        <p:nvSpPr>
          <p:cNvPr id="7" name="Emplacement capture"/>
          <p:cNvSpPr/>
          <p:nvPr/>
        </p:nvSpPr>
        <p:spPr>
          <a:xfrm>
            <a:off x="777240" y="2103120"/>
            <a:ext cx="6537960" cy="3246120"/>
          </a:xfrm>
          <a:prstGeom prst="roundRect">
            <a:avLst>
              <a:gd name="adj" fmla="val 3000"/>
            </a:avLst>
          </a:prstGeom>
          <a:solidFill>
            <a:srgbClr val="0C2035">
              <a:alpha val="45000"/>
            </a:srgbClr>
          </a:solidFill>
          <a:ln w="13970" cap="flat" cmpd="sng" algn="ctr">
            <a:solidFill>
              <a:srgbClr val="3D5F82">
                <a:alpha val="60000"/>
              </a:srgbClr>
            </a:solidFill>
            <a:prstDash val="dash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Text"/>
          <p:cNvSpPr/>
          <p:nvPr/>
        </p:nvSpPr>
        <p:spPr>
          <a:xfrm>
            <a:off x="1033272" y="2286000"/>
            <a:ext cx="60258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050" dirty="0" b="1" spc="140" cap="all">
                <a:solidFill>
                  <a:srgbClr val="6E89A6"/>
                </a:solidFill>
                <a:latin typeface="Segoe UI"/>
                <a:cs typeface="Segoe UI"/>
              </a:rPr>
              <a:t>ENOVIA — Product ECO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345186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300" dirty="0" i="1">
                <a:solidFill>
                  <a:srgbClr val="53748F"/>
                </a:solidFill>
                <a:latin typeface="Segoe UI"/>
                <a:cs typeface="Segoe UI"/>
              </a:rPr>
              <a:t>Insérer ici votre capture d'écran</a:t>
            </a:r>
          </a:p>
        </p:txBody>
      </p:sp>
      <p:sp>
        <p:nvSpPr>
          <p:cNvPr id="10" name="Puce"/>
          <p:cNvSpPr/>
          <p:nvPr/>
        </p:nvSpPr>
        <p:spPr>
          <a:xfrm>
            <a:off x="7772400" y="226771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Text"/>
          <p:cNvSpPr/>
          <p:nvPr/>
        </p:nvSpPr>
        <p:spPr>
          <a:xfrm>
            <a:off x="8430768" y="2148840"/>
            <a:ext cx="2983687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450" dirty="0">
                <a:solidFill>
                  <a:srgbClr val="FFFFFF"/>
                </a:solidFill>
                <a:latin typeface="Segoe UI"/>
                <a:cs typeface="Segoe UI"/>
              </a:rPr>
              <a:t>Les 3 façons de créer un ECO</a:t>
            </a:r>
          </a:p>
        </p:txBody>
      </p:sp>
      <p:sp>
        <p:nvSpPr>
          <p:cNvPr id="12" name="Puce"/>
          <p:cNvSpPr/>
          <p:nvPr/>
        </p:nvSpPr>
        <p:spPr>
          <a:xfrm>
            <a:off x="7772400" y="336499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Text"/>
          <p:cNvSpPr/>
          <p:nvPr/>
        </p:nvSpPr>
        <p:spPr>
          <a:xfrm>
            <a:off x="8430768" y="3246120"/>
            <a:ext cx="2983687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450" dirty="0">
                <a:solidFill>
                  <a:srgbClr val="FFFFFF"/>
                </a:solidFill>
                <a:latin typeface="Segoe UI"/>
                <a:cs typeface="Segoe UI"/>
              </a:rPr>
              <a:t>La checklist de tous les champs à remplir</a:t>
            </a:r>
          </a:p>
        </p:txBody>
      </p:sp>
      <p:sp>
        <p:nvSpPr>
          <p:cNvPr id="14" name="Puce"/>
          <p:cNvSpPr/>
          <p:nvPr/>
        </p:nvSpPr>
        <p:spPr>
          <a:xfrm>
            <a:off x="7772400" y="446227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5" name="Text"/>
          <p:cNvSpPr/>
          <p:nvPr/>
        </p:nvSpPr>
        <p:spPr>
          <a:xfrm>
            <a:off x="8430768" y="4343400"/>
            <a:ext cx="2983687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450" dirty="0">
                <a:solidFill>
                  <a:srgbClr val="FFFFFF"/>
                </a:solidFill>
                <a:latin typeface="Segoe UI"/>
                <a:cs typeface="Segoe UI"/>
              </a:rPr>
              <a:t>Les corrections des blocages fréquents</a:t>
            </a:r>
          </a:p>
        </p:txBody>
      </p:sp>
      <p:sp>
        <p:nvSpPr>
          <p:cNvPr id="16" name="Text"/>
          <p:cNvSpPr/>
          <p:nvPr/>
        </p:nvSpPr>
        <p:spPr>
          <a:xfrm>
            <a:off x="7772400" y="5440680"/>
            <a:ext cx="364205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fr-FR" sz="1250" dirty="0" i="1">
                <a:solidFill>
                  <a:srgbClr val="6E89A6"/>
                </a:solidFill>
                <a:latin typeface="Segoe UI"/>
                <a:cs typeface="Segoe UI"/>
              </a:rPr>
              <a:t>« Promotion Failed » n'est plus une énigme.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24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A78BFA"/>
                </a:solidFill>
                <a:latin typeface="Segoe UI"/>
                <a:cs typeface="Segoe UI"/>
              </a:rPr>
              <a:t>PLM / PDEF &amp; PREA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Les deux échelles</a:t>
            </a:r>
          </a:p>
        </p:txBody>
      </p:sp>
      <p:sp>
        <p:nvSpPr>
          <p:cNvPr id="7" name="Étape"/>
          <p:cNvSpPr/>
          <p:nvPr/>
        </p:nvSpPr>
        <p:spPr>
          <a:xfrm>
            <a:off x="777240" y="2697480"/>
            <a:ext cx="1805574" cy="141732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8CA3BA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In Work</a:t>
            </a:r>
          </a:p>
        </p:txBody>
      </p:sp>
      <p:sp>
        <p:nvSpPr>
          <p:cNvPr id="8" name="Text"/>
          <p:cNvSpPr/>
          <p:nvPr/>
        </p:nvSpPr>
        <p:spPr>
          <a:xfrm>
            <a:off x="2582814" y="2697480"/>
            <a:ext cx="402336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9" name="Étape"/>
          <p:cNvSpPr/>
          <p:nvPr/>
        </p:nvSpPr>
        <p:spPr>
          <a:xfrm>
            <a:off x="2985150" y="2697480"/>
            <a:ext cx="1805574" cy="141732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700" dirty="0" b="1">
                <a:solidFill>
                  <a:srgbClr val="A78BFA"/>
                </a:solidFill>
                <a:latin typeface="Segoe UI"/>
                <a:cs typeface="Segoe UI"/>
              </a:rPr>
              <a:t>Frozen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PREA uniquement</a:t>
            </a:r>
          </a:p>
        </p:txBody>
      </p:sp>
      <p:sp>
        <p:nvSpPr>
          <p:cNvPr id="10" name="Text"/>
          <p:cNvSpPr/>
          <p:nvPr/>
        </p:nvSpPr>
        <p:spPr>
          <a:xfrm>
            <a:off x="4790724" y="2697480"/>
            <a:ext cx="402336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" name="Étape"/>
          <p:cNvSpPr/>
          <p:nvPr/>
        </p:nvSpPr>
        <p:spPr>
          <a:xfrm>
            <a:off x="5193060" y="2697480"/>
            <a:ext cx="1805574" cy="141732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Wait App.</a:t>
            </a:r>
          </a:p>
        </p:txBody>
      </p:sp>
      <p:sp>
        <p:nvSpPr>
          <p:cNvPr id="12" name="Text"/>
          <p:cNvSpPr/>
          <p:nvPr/>
        </p:nvSpPr>
        <p:spPr>
          <a:xfrm>
            <a:off x="6998635" y="2697480"/>
            <a:ext cx="402336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3" name="Étape"/>
          <p:cNvSpPr/>
          <p:nvPr/>
        </p:nvSpPr>
        <p:spPr>
          <a:xfrm>
            <a:off x="7400971" y="2697480"/>
            <a:ext cx="1805574" cy="141732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22D3EE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Approved</a:t>
            </a:r>
          </a:p>
        </p:txBody>
      </p:sp>
      <p:sp>
        <p:nvSpPr>
          <p:cNvPr id="14" name="Text"/>
          <p:cNvSpPr/>
          <p:nvPr/>
        </p:nvSpPr>
        <p:spPr>
          <a:xfrm>
            <a:off x="9206545" y="2697480"/>
            <a:ext cx="402336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5" name="Étape"/>
          <p:cNvSpPr/>
          <p:nvPr/>
        </p:nvSpPr>
        <p:spPr>
          <a:xfrm>
            <a:off x="9608881" y="2697480"/>
            <a:ext cx="1805574" cy="141732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Released</a:t>
            </a:r>
          </a:p>
        </p:txBody>
      </p:sp>
      <p:sp>
        <p:nvSpPr>
          <p:cNvPr id="16" name="Text"/>
          <p:cNvSpPr/>
          <p:nvPr/>
        </p:nvSpPr>
        <p:spPr>
          <a:xfrm>
            <a:off x="777240" y="4617720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 b="1">
                <a:solidFill>
                  <a:srgbClr val="FFFFFF"/>
                </a:solidFill>
                <a:latin typeface="Segoe UI"/>
                <a:cs typeface="Segoe UI"/>
              </a:rPr>
              <a:t>Les documents montent d'abord. Le produit suit, une étape à la fois.</a:t>
            </a:r>
          </a:p>
        </p:txBody>
      </p:sp>
      <p:sp>
        <p:nvSpPr>
          <p:cNvPr id="17" name="Text"/>
          <p:cNvSpPr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Le statut Frozen ne concerne que le PREA — l'erreur la plus fréquente.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25</a:t>
            </a:r>
          </a:p>
        </p:txBody>
      </p:sp>
      <p:sp>
        <p:nvSpPr>
          <p:cNvPr id="5" name="Text"/>
          <p:cNvSpPr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 b="1" spc="190" cap="all">
                <a:solidFill>
                  <a:srgbClr val="22D3EE"/>
                </a:solidFill>
                <a:latin typeface="Segoe UI"/>
                <a:cs typeface="Segoe UI"/>
              </a:rPr>
              <a:t>Espaces équipes</a:t>
            </a:r>
          </a:p>
        </p:txBody>
      </p:sp>
      <p:sp>
        <p:nvSpPr>
          <p:cNvPr id="6" name="Text"/>
          <p:cNvSpPr/>
          <p:nvPr/>
        </p:nvSpPr>
        <p:spPr>
          <a:xfrm>
            <a:off x="0" y="877824"/>
            <a:ext cx="1219169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CD2D &amp; CD3D</a:t>
            </a:r>
          </a:p>
        </p:txBody>
      </p:sp>
      <p:sp>
        <p:nvSpPr>
          <p:cNvPr id="7" name="Text"/>
          <p:cNvSpPr/>
          <p:nvPr/>
        </p:nvSpPr>
        <p:spPr>
          <a:xfrm>
            <a:off x="1463040" y="1847088"/>
            <a:ext cx="926561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9FB6CE"/>
                </a:solidFill>
                <a:latin typeface="Segoe UI"/>
                <a:cs typeface="Segoe UI"/>
              </a:rPr>
              <a:t>Chaque équipe ouvre son espace et trouve exactement ce qui la concerne.</a:t>
            </a:r>
          </a:p>
        </p:txBody>
      </p:sp>
      <p:sp>
        <p:nvSpPr>
          <p:cNvPr id="8" name="Carte"/>
          <p:cNvSpPr/>
          <p:nvPr/>
        </p:nvSpPr>
        <p:spPr>
          <a:xfrm>
            <a:off x="1661008" y="2514600"/>
            <a:ext cx="4160520" cy="2651760"/>
          </a:xfrm>
          <a:prstGeom prst="roundRect">
            <a:avLst>
              <a:gd name="adj" fmla="val 7000"/>
            </a:avLst>
          </a:prstGeom>
          <a:solidFill>
            <a:srgbClr val="0F2842">
              <a:alpha val="50000"/>
            </a:srgbClr>
          </a:solidFill>
          <a:ln w="17780" cap="flat" cmpd="sng" algn="ctr">
            <a:solidFill>
              <a:srgbClr val="22D3EE">
                <a:alpha val="60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9" name="Text"/>
          <p:cNvSpPr/>
          <p:nvPr/>
        </p:nvSpPr>
        <p:spPr>
          <a:xfrm>
            <a:off x="2026768" y="28346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3800" dirty="0" b="1">
                <a:solidFill>
                  <a:srgbClr val="22D3EE"/>
                </a:solidFill>
                <a:latin typeface="Segoe UI"/>
                <a:cs typeface="Segoe UI"/>
              </a:rPr>
              <a:t>CD2D</a:t>
            </a:r>
          </a:p>
        </p:txBody>
      </p:sp>
      <p:sp>
        <p:nvSpPr>
          <p:cNvPr id="10" name="Text"/>
          <p:cNvSpPr/>
          <p:nvPr/>
        </p:nvSpPr>
        <p:spPr>
          <a:xfrm>
            <a:off x="2026768" y="3584448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 b="1">
                <a:solidFill>
                  <a:srgbClr val="FFFFFF"/>
                </a:solidFill>
                <a:latin typeface="Segoe UI"/>
                <a:cs typeface="Segoe UI"/>
              </a:rPr>
              <a:t>Équipe 2D · Macros</a:t>
            </a:r>
          </a:p>
        </p:txBody>
      </p:sp>
      <p:sp>
        <p:nvSpPr>
          <p:cNvPr id="11" name="Filet"/>
          <p:cNvSpPr/>
          <p:nvPr/>
        </p:nvSpPr>
        <p:spPr>
          <a:xfrm>
            <a:off x="3146908" y="4041648"/>
            <a:ext cx="1188720" cy="20117"/>
          </a:xfrm>
          <a:prstGeom prst="rect">
            <a:avLst/>
          </a:prstGeom>
          <a:solidFill>
            <a:srgbClr val="22D3EE">
              <a:alpha val="4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Text"/>
          <p:cNvSpPr/>
          <p:nvPr/>
        </p:nvSpPr>
        <p:spPr>
          <a:xfrm>
            <a:off x="2163928" y="425196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Macros, boîte à outils DSI, procédures de validation 2D et supports propres à l'équipe.</a:t>
            </a:r>
          </a:p>
        </p:txBody>
      </p:sp>
      <p:sp>
        <p:nvSpPr>
          <p:cNvPr id="13" name="Carte"/>
          <p:cNvSpPr/>
          <p:nvPr/>
        </p:nvSpPr>
        <p:spPr>
          <a:xfrm>
            <a:off x="6370168" y="2514600"/>
            <a:ext cx="4160520" cy="2651760"/>
          </a:xfrm>
          <a:prstGeom prst="roundRect">
            <a:avLst>
              <a:gd name="adj" fmla="val 7000"/>
            </a:avLst>
          </a:prstGeom>
          <a:solidFill>
            <a:srgbClr val="0F2842">
              <a:alpha val="50000"/>
            </a:srgbClr>
          </a:solidFill>
          <a:ln w="17780" cap="flat" cmpd="sng" algn="ctr">
            <a:solidFill>
              <a:srgbClr val="A78BFA">
                <a:alpha val="60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4" name="Text"/>
          <p:cNvSpPr/>
          <p:nvPr/>
        </p:nvSpPr>
        <p:spPr>
          <a:xfrm>
            <a:off x="6735928" y="28346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3800" dirty="0" b="1">
                <a:solidFill>
                  <a:srgbClr val="A78BFA"/>
                </a:solidFill>
                <a:latin typeface="Segoe UI"/>
                <a:cs typeface="Segoe UI"/>
              </a:rPr>
              <a:t>CD3D</a:t>
            </a:r>
          </a:p>
        </p:txBody>
      </p:sp>
      <p:sp>
        <p:nvSpPr>
          <p:cNvPr id="15" name="Text"/>
          <p:cNvSpPr/>
          <p:nvPr/>
        </p:nvSpPr>
        <p:spPr>
          <a:xfrm>
            <a:off x="6735928" y="3584448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 b="1">
                <a:solidFill>
                  <a:srgbClr val="FFFFFF"/>
                </a:solidFill>
                <a:latin typeface="Segoe UI"/>
                <a:cs typeface="Segoe UI"/>
              </a:rPr>
              <a:t>Équipe 3D</a:t>
            </a:r>
          </a:p>
        </p:txBody>
      </p:sp>
      <p:sp>
        <p:nvSpPr>
          <p:cNvPr id="16" name="Filet"/>
          <p:cNvSpPr/>
          <p:nvPr/>
        </p:nvSpPr>
        <p:spPr>
          <a:xfrm>
            <a:off x="7856068" y="4041648"/>
            <a:ext cx="1188720" cy="20117"/>
          </a:xfrm>
          <a:prstGeom prst="rect">
            <a:avLst/>
          </a:prstGeom>
          <a:solidFill>
            <a:srgbClr val="A78BFA">
              <a:alpha val="4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7" name="Text"/>
          <p:cNvSpPr/>
          <p:nvPr/>
        </p:nvSpPr>
        <p:spPr>
          <a:xfrm>
            <a:off x="6873088" y="425196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Ressources, méthodes et supports de l'ingénierie 3D faisceaux.</a:t>
            </a:r>
          </a:p>
        </p:txBody>
      </p:sp>
      <p:sp>
        <p:nvSpPr>
          <p:cNvPr id="18" name="Text"/>
          <p:cNvSpPr/>
          <p:nvPr/>
        </p:nvSpPr>
        <p:spPr>
          <a:xfrm>
            <a:off x="777240" y="544068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50" dirty="0">
                <a:solidFill>
                  <a:srgbClr val="6E89A6"/>
                </a:solidFill>
                <a:latin typeface="Segoe UI"/>
                <a:cs typeface="Segoe UI"/>
              </a:rPr>
              <a:t>Le modèle est réplicable : ajouter une équipe ne demande pas de reconstruire l'application.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26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22D3EE"/>
                </a:solidFill>
                <a:latin typeface="Segoe UI"/>
                <a:cs typeface="Segoe UI"/>
              </a:rPr>
              <a:t>CD2D / .DSI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La boîte à outils DSI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3362858" cy="272491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Lire un DSI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541979"/>
            <a:ext cx="2667914" cy="1048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Recensement, éléments, tableaux de cavités, table PTA — mis en forme et lisibles immédiatement.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084832"/>
            <a:ext cx="3362858" cy="272491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476189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4761890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Comparer deux DSI</a:t>
            </a:r>
          </a:p>
        </p:txBody>
      </p:sp>
      <p:sp>
        <p:nvSpPr>
          <p:cNvPr id="14" name="Text"/>
          <p:cNvSpPr/>
          <p:nvPr/>
        </p:nvSpPr>
        <p:spPr>
          <a:xfrm>
            <a:off x="4761890" y="3541979"/>
            <a:ext cx="2667914" cy="1048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Synthèse, différences et écarts mis en couleur. On voit ce qui a changé en un coup d'œil.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084832"/>
            <a:ext cx="3362858" cy="272491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8399069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8399069" y="3127248"/>
            <a:ext cx="2667914" cy="323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Arbre de diversité</a:t>
            </a:r>
          </a:p>
        </p:txBody>
      </p:sp>
      <p:sp>
        <p:nvSpPr>
          <p:cNvPr id="18" name="Text"/>
          <p:cNvSpPr/>
          <p:nvPr/>
        </p:nvSpPr>
        <p:spPr>
          <a:xfrm>
            <a:off x="8399069" y="3541979"/>
            <a:ext cx="2667914" cy="1048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Dépliage des combinaisons avec application des règles EXCLUDE / REQUIRE.</a:t>
            </a:r>
          </a:p>
        </p:txBody>
      </p:sp>
      <p:sp>
        <p:nvSpPr>
          <p:cNvPr id="19" name="Pastille"/>
          <p:cNvSpPr/>
          <p:nvPr/>
        </p:nvSpPr>
        <p:spPr>
          <a:xfrm>
            <a:off x="2811323" y="5074920"/>
            <a:ext cx="1290218" cy="420624"/>
          </a:xfrm>
          <a:prstGeom prst="roundRect">
            <a:avLst>
              <a:gd name="adj" fmla="val 50000"/>
            </a:avLst>
          </a:prstGeom>
          <a:solidFill>
            <a:srgbClr val="5B9DF9">
              <a:alpha val="12000"/>
            </a:srgbClr>
          </a:solidFill>
          <a:ln w="13970" cap="flat" cmpd="sng" algn="ctr">
            <a:solidFill>
              <a:srgbClr val="5B9DF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5B9DF9"/>
                </a:solidFill>
                <a:latin typeface="Segoe UI"/>
                <a:cs typeface="Segoe UI"/>
              </a:rPr>
              <a:t>Excel .xlsm</a:t>
            </a:r>
          </a:p>
        </p:txBody>
      </p:sp>
      <p:sp>
        <p:nvSpPr>
          <p:cNvPr id="20" name="Pastille"/>
          <p:cNvSpPr/>
          <p:nvPr/>
        </p:nvSpPr>
        <p:spPr>
          <a:xfrm>
            <a:off x="4302709" y="5074920"/>
            <a:ext cx="2919679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3970" cap="flat" cmpd="sng" algn="ctr">
            <a:solidFill>
              <a:srgbClr val="34D39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34D399"/>
                </a:solidFill>
                <a:latin typeface="Segoe UI"/>
                <a:cs typeface="Segoe UI"/>
              </a:rPr>
              <a:t>Téléchargeable dans l'application</a:t>
            </a:r>
          </a:p>
        </p:txBody>
      </p:sp>
      <p:sp>
        <p:nvSpPr>
          <p:cNvPr id="21" name="Pastille"/>
          <p:cNvSpPr/>
          <p:nvPr/>
        </p:nvSpPr>
        <p:spPr>
          <a:xfrm>
            <a:off x="7423556" y="5074920"/>
            <a:ext cx="1956816" cy="420624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3970" cap="flat" cmpd="sng" algn="ctr">
            <a:solidFill>
              <a:srgbClr val="F59E0B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F59E0B"/>
                </a:solidFill>
                <a:latin typeface="Segoe UI"/>
                <a:cs typeface="Segoe UI"/>
              </a:rPr>
              <a:t>Développé en interne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27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5B9DF9"/>
                </a:solidFill>
                <a:latin typeface="Segoe UI"/>
                <a:cs typeface="Segoe UI"/>
              </a:rPr>
              <a:t>Choix techniques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Hors ligne. Installable. Bilingue.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2667914" cy="6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Aucun internet requis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837838"/>
            <a:ext cx="2667914" cy="1483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Tout est mis en cache localement dès la première ouverture. Aucune dépendance au réseau ni aux droits d'accès.</a:t>
            </a:r>
          </a:p>
        </p:txBody>
      </p:sp>
      <p:sp>
        <p:nvSpPr>
          <p:cNvPr id="11" name="Carte"/>
          <p:cNvSpPr/>
          <p:nvPr/>
        </p:nvSpPr>
        <p:spPr>
          <a:xfrm>
            <a:off x="4414418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476189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4761890" y="3127248"/>
            <a:ext cx="2667914" cy="6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S'installe comme une application</a:t>
            </a:r>
          </a:p>
        </p:txBody>
      </p:sp>
      <p:sp>
        <p:nvSpPr>
          <p:cNvPr id="14" name="Text"/>
          <p:cNvSpPr/>
          <p:nvPr/>
        </p:nvSpPr>
        <p:spPr>
          <a:xfrm>
            <a:off x="4761890" y="3837838"/>
            <a:ext cx="2667914" cy="1483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Sa propre fenêtre et son icône sur le bureau. Rien à déployer, rien à maintenir côté serveur.</a:t>
            </a:r>
          </a:p>
        </p:txBody>
      </p:sp>
      <p:sp>
        <p:nvSpPr>
          <p:cNvPr id="15" name="Carte"/>
          <p:cNvSpPr/>
          <p:nvPr/>
        </p:nvSpPr>
        <p:spPr>
          <a:xfrm>
            <a:off x="8051597" y="2084832"/>
            <a:ext cx="3362858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8399069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8399069" y="3127248"/>
            <a:ext cx="2667914" cy="6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600" dirty="0" b="1">
                <a:solidFill>
                  <a:srgbClr val="FFFFFF"/>
                </a:solidFill>
                <a:latin typeface="Segoe UI"/>
                <a:cs typeface="Segoe UI"/>
              </a:rPr>
              <a:t>Bascule FR / EN</a:t>
            </a:r>
          </a:p>
        </p:txBody>
      </p:sp>
      <p:sp>
        <p:nvSpPr>
          <p:cNvPr id="18" name="Text"/>
          <p:cNvSpPr/>
          <p:nvPr/>
        </p:nvSpPr>
        <p:spPr>
          <a:xfrm>
            <a:off x="8399069" y="3837838"/>
            <a:ext cx="2667914" cy="1483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Un clic en haut à droite. Le choix de langue est mémorisé d'une session à l'autre.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28</a:t>
            </a:r>
          </a:p>
        </p:txBody>
      </p:sp>
      <p:sp>
        <p:nvSpPr>
          <p:cNvPr id="5" name="Text"/>
          <p:cNvSpPr/>
          <p:nvPr/>
        </p:nvSpPr>
        <p:spPr>
          <a:xfrm>
            <a:off x="7253935" y="137160"/>
            <a:ext cx="45720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21000" dirty="0" b="1">
                <a:solidFill>
                  <a:srgbClr val="FFFFFF">
                    <a:alpha val="6000"/>
                  </a:srgbClr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6" name="Filet"/>
          <p:cNvSpPr/>
          <p:nvPr/>
        </p:nvSpPr>
        <p:spPr>
          <a:xfrm>
            <a:off x="777240" y="2395728"/>
            <a:ext cx="822960" cy="411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7" name="Text"/>
          <p:cNvSpPr/>
          <p:nvPr/>
        </p:nvSpPr>
        <p:spPr>
          <a:xfrm>
            <a:off x="777240" y="2697480"/>
            <a:ext cx="1063721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200" dirty="0" b="1" spc="240" cap="all">
                <a:solidFill>
                  <a:srgbClr val="A78BFA"/>
                </a:solidFill>
                <a:latin typeface="Segoe UI"/>
                <a:cs typeface="Segoe UI"/>
              </a:rPr>
              <a:t>CHAPITRE 04</a:t>
            </a:r>
          </a:p>
        </p:txBody>
      </p:sp>
      <p:sp>
        <p:nvSpPr>
          <p:cNvPr id="8" name="Text"/>
          <p:cNvSpPr/>
          <p:nvPr/>
        </p:nvSpPr>
        <p:spPr>
          <a:xfrm>
            <a:off x="777240" y="3072384"/>
            <a:ext cx="9722815" cy="17166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fr-FR" sz="4800" dirty="0" b="1">
                <a:solidFill>
                  <a:srgbClr val="FFFFFF"/>
                </a:solidFill>
                <a:latin typeface="Segoe UI"/>
                <a:cs typeface="Segoe UI"/>
              </a:rPr>
              <a:t>Bénéfices &amp;
perspectives</a:t>
            </a:r>
          </a:p>
        </p:txBody>
      </p:sp>
      <p:sp>
        <p:nvSpPr>
          <p:cNvPr id="9" name="Text"/>
          <p:cNvSpPr/>
          <p:nvPr/>
        </p:nvSpPr>
        <p:spPr>
          <a:xfrm>
            <a:off x="777240" y="5063338"/>
            <a:ext cx="8442655" cy="382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fr-FR" sz="1550" dirty="0">
                <a:solidFill>
                  <a:srgbClr val="9FB6CE"/>
                </a:solidFill>
                <a:latin typeface="Segoe UI"/>
                <a:cs typeface="Segoe UI"/>
              </a:rPr>
              <a:t>Ce que le projet change, et où il peut aller.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29</a:t>
            </a:r>
          </a:p>
        </p:txBody>
      </p:sp>
      <p:sp>
        <p:nvSpPr>
          <p:cNvPr id="5" name="Text"/>
          <p:cNvSpPr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 b="1" spc="190" cap="all">
                <a:solidFill>
                  <a:srgbClr val="A78BFA"/>
                </a:solidFill>
                <a:latin typeface="Segoe UI"/>
                <a:cs typeface="Segoe UI"/>
              </a:rPr>
              <a:t>Impact</a:t>
            </a:r>
          </a:p>
        </p:txBody>
      </p:sp>
      <p:sp>
        <p:nvSpPr>
          <p:cNvPr id="6" name="Text"/>
          <p:cNvSpPr/>
          <p:nvPr/>
        </p:nvSpPr>
        <p:spPr>
          <a:xfrm>
            <a:off x="0" y="877824"/>
            <a:ext cx="1219169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Avant / Après</a:t>
            </a:r>
          </a:p>
        </p:txBody>
      </p:sp>
      <p:sp>
        <p:nvSpPr>
          <p:cNvPr id="7" name="Colonne"/>
          <p:cNvSpPr/>
          <p:nvPr/>
        </p:nvSpPr>
        <p:spPr>
          <a:xfrm>
            <a:off x="769468" y="20574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0F2842">
              <a:alpha val="48000"/>
            </a:srgbClr>
          </a:solidFill>
          <a:ln w="16510" cap="flat" cmpd="sng" algn="ctr">
            <a:solidFill>
              <a:srgbClr val="F472B6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Text"/>
          <p:cNvSpPr/>
          <p:nvPr/>
        </p:nvSpPr>
        <p:spPr>
          <a:xfrm>
            <a:off x="769468" y="2286000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900" dirty="0" b="1">
                <a:solidFill>
                  <a:srgbClr val="F472B6"/>
                </a:solidFill>
                <a:latin typeface="Segoe UI"/>
                <a:cs typeface="Segoe UI"/>
              </a:rPr>
              <a:t>Avant</a:t>
            </a:r>
          </a:p>
        </p:txBody>
      </p:sp>
      <p:sp>
        <p:nvSpPr>
          <p:cNvPr id="9" name="Filet"/>
          <p:cNvSpPr/>
          <p:nvPr/>
        </p:nvSpPr>
        <p:spPr>
          <a:xfrm>
            <a:off x="2529688" y="2816352"/>
            <a:ext cx="1554480" cy="20117"/>
          </a:xfrm>
          <a:prstGeom prst="rect">
            <a:avLst/>
          </a:prstGeom>
          <a:solidFill>
            <a:srgbClr val="F472B6">
              <a:alpha val="4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0" name="Text"/>
          <p:cNvSpPr/>
          <p:nvPr/>
        </p:nvSpPr>
        <p:spPr>
          <a:xfrm>
            <a:off x="1153516" y="306324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F472B6"/>
                </a:solidFill>
                <a:latin typeface="Segoe UI"/>
                <a:cs typeface="Segoe UI"/>
              </a:rPr>
              <a:t>✕</a:t>
            </a:r>
          </a:p>
        </p:txBody>
      </p:sp>
      <p:sp>
        <p:nvSpPr>
          <p:cNvPr id="11" name="Text"/>
          <p:cNvSpPr/>
          <p:nvPr/>
        </p:nvSpPr>
        <p:spPr>
          <a:xfrm>
            <a:off x="1555852" y="306324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Chercher sur SharePoint, dans les mails, en local</a:t>
            </a:r>
          </a:p>
        </p:txBody>
      </p:sp>
      <p:sp>
        <p:nvSpPr>
          <p:cNvPr id="12" name="Text"/>
          <p:cNvSpPr/>
          <p:nvPr/>
        </p:nvSpPr>
        <p:spPr>
          <a:xfrm>
            <a:off x="1153516" y="366674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F472B6"/>
                </a:solidFill>
                <a:latin typeface="Segoe UI"/>
                <a:cs typeface="Segoe UI"/>
              </a:rPr>
              <a:t>✕</a:t>
            </a:r>
          </a:p>
        </p:txBody>
      </p:sp>
      <p:sp>
        <p:nvSpPr>
          <p:cNvPr id="13" name="Text"/>
          <p:cNvSpPr/>
          <p:nvPr/>
        </p:nvSpPr>
        <p:spPr>
          <a:xfrm>
            <a:off x="1555852" y="3666744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Attendre la disponibilité d'un collègue</a:t>
            </a:r>
          </a:p>
        </p:txBody>
      </p:sp>
      <p:sp>
        <p:nvSpPr>
          <p:cNvPr id="14" name="Text"/>
          <p:cNvSpPr/>
          <p:nvPr/>
        </p:nvSpPr>
        <p:spPr>
          <a:xfrm>
            <a:off x="1153516" y="4270248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F472B6"/>
                </a:solidFill>
                <a:latin typeface="Segoe UI"/>
                <a:cs typeface="Segoe UI"/>
              </a:rPr>
              <a:t>✕</a:t>
            </a:r>
          </a:p>
        </p:txBody>
      </p:sp>
      <p:sp>
        <p:nvSpPr>
          <p:cNvPr id="15" name="Text"/>
          <p:cNvSpPr/>
          <p:nvPr/>
        </p:nvSpPr>
        <p:spPr>
          <a:xfrm>
            <a:off x="1555852" y="4270248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Un niveau de départ différent pour chacun</a:t>
            </a:r>
          </a:p>
        </p:txBody>
      </p:sp>
      <p:sp>
        <p:nvSpPr>
          <p:cNvPr id="16" name="Text"/>
          <p:cNvSpPr/>
          <p:nvPr/>
        </p:nvSpPr>
        <p:spPr>
          <a:xfrm>
            <a:off x="1153516" y="4873752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F472B6"/>
                </a:solidFill>
                <a:latin typeface="Segoe UI"/>
                <a:cs typeface="Segoe UI"/>
              </a:rPr>
              <a:t>✕</a:t>
            </a:r>
          </a:p>
        </p:txBody>
      </p:sp>
      <p:sp>
        <p:nvSpPr>
          <p:cNvPr id="17" name="Text"/>
          <p:cNvSpPr/>
          <p:nvPr/>
        </p:nvSpPr>
        <p:spPr>
          <a:xfrm>
            <a:off x="1555852" y="487375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Le savoir expliqué à l'oral, puis perdu</a:t>
            </a:r>
          </a:p>
        </p:txBody>
      </p:sp>
      <p:sp>
        <p:nvSpPr>
          <p:cNvPr id="18" name="Colonne"/>
          <p:cNvSpPr/>
          <p:nvPr/>
        </p:nvSpPr>
        <p:spPr>
          <a:xfrm>
            <a:off x="6347308" y="2057400"/>
            <a:ext cx="5074920" cy="3520440"/>
          </a:xfrm>
          <a:prstGeom prst="roundRect">
            <a:avLst>
              <a:gd name="adj" fmla="val 5000"/>
            </a:avLst>
          </a:prstGeom>
          <a:solidFill>
            <a:srgbClr val="0F2842">
              <a:alpha val="48000"/>
            </a:srgbClr>
          </a:solidFill>
          <a:ln w="16510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9" name="Text"/>
          <p:cNvSpPr/>
          <p:nvPr/>
        </p:nvSpPr>
        <p:spPr>
          <a:xfrm>
            <a:off x="6347308" y="2286000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900" dirty="0" b="1">
                <a:solidFill>
                  <a:srgbClr val="34D399"/>
                </a:solidFill>
                <a:latin typeface="Segoe UI"/>
                <a:cs typeface="Segoe UI"/>
              </a:rPr>
              <a:t>Avec KATATOOL</a:t>
            </a:r>
          </a:p>
        </p:txBody>
      </p:sp>
      <p:sp>
        <p:nvSpPr>
          <p:cNvPr id="20" name="Filet"/>
          <p:cNvSpPr/>
          <p:nvPr/>
        </p:nvSpPr>
        <p:spPr>
          <a:xfrm>
            <a:off x="8107528" y="2816352"/>
            <a:ext cx="1554480" cy="20117"/>
          </a:xfrm>
          <a:prstGeom prst="rect">
            <a:avLst/>
          </a:prstGeom>
          <a:solidFill>
            <a:srgbClr val="34D399">
              <a:alpha val="4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1" name="Text"/>
          <p:cNvSpPr/>
          <p:nvPr/>
        </p:nvSpPr>
        <p:spPr>
          <a:xfrm>
            <a:off x="6731356" y="306324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34D399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2" name="Text"/>
          <p:cNvSpPr/>
          <p:nvPr/>
        </p:nvSpPr>
        <p:spPr>
          <a:xfrm>
            <a:off x="7133692" y="306324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FFFFFF"/>
                </a:solidFill>
                <a:latin typeface="Segoe UI"/>
                <a:cs typeface="Segoe UI"/>
              </a:rPr>
              <a:t>Un point d'accès unique, deux clics maximum</a:t>
            </a:r>
          </a:p>
        </p:txBody>
      </p:sp>
      <p:sp>
        <p:nvSpPr>
          <p:cNvPr id="23" name="Text"/>
          <p:cNvSpPr/>
          <p:nvPr/>
        </p:nvSpPr>
        <p:spPr>
          <a:xfrm>
            <a:off x="6731356" y="366674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34D399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4" name="Text"/>
          <p:cNvSpPr/>
          <p:nvPr/>
        </p:nvSpPr>
        <p:spPr>
          <a:xfrm>
            <a:off x="7133692" y="3666744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FFFFFF"/>
                </a:solidFill>
                <a:latin typeface="Segoe UI"/>
                <a:cs typeface="Segoe UI"/>
              </a:rPr>
              <a:t>Apprendre seul, immédiatement, hors ligne</a:t>
            </a:r>
          </a:p>
        </p:txBody>
      </p:sp>
      <p:sp>
        <p:nvSpPr>
          <p:cNvPr id="25" name="Text"/>
          <p:cNvSpPr/>
          <p:nvPr/>
        </p:nvSpPr>
        <p:spPr>
          <a:xfrm>
            <a:off x="6731356" y="4270248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34D399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6" name="Text"/>
          <p:cNvSpPr/>
          <p:nvPr/>
        </p:nvSpPr>
        <p:spPr>
          <a:xfrm>
            <a:off x="7133692" y="4270248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FFFFFF"/>
                </a:solidFill>
                <a:latin typeface="Segoe UI"/>
                <a:cs typeface="Segoe UI"/>
              </a:rPr>
              <a:t>Le même parcours et la même évaluation pour tous</a:t>
            </a:r>
          </a:p>
        </p:txBody>
      </p:sp>
      <p:sp>
        <p:nvSpPr>
          <p:cNvPr id="27" name="Text"/>
          <p:cNvSpPr/>
          <p:nvPr/>
        </p:nvSpPr>
        <p:spPr>
          <a:xfrm>
            <a:off x="6731356" y="4873752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400" dirty="0" b="1">
                <a:solidFill>
                  <a:srgbClr val="34D399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8" name="Text"/>
          <p:cNvSpPr/>
          <p:nvPr/>
        </p:nvSpPr>
        <p:spPr>
          <a:xfrm>
            <a:off x="7133692" y="487375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250" dirty="0">
                <a:solidFill>
                  <a:srgbClr val="FFFFFF"/>
                </a:solidFill>
                <a:latin typeface="Segoe UI"/>
                <a:cs typeface="Segoe UI"/>
              </a:rPr>
              <a:t>Un actif numérique qui reste dans l'entreprise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A78BFA"/>
                </a:solidFill>
                <a:latin typeface="Segoe UI"/>
                <a:cs typeface="Segoe UI"/>
              </a:rPr>
              <a:t>Bénéfices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Ce que le projet apporte</a:t>
            </a:r>
          </a:p>
        </p:txBody>
      </p:sp>
      <p:sp>
        <p:nvSpPr>
          <p:cNvPr id="7" name="Carte"/>
          <p:cNvSpPr/>
          <p:nvPr/>
        </p:nvSpPr>
        <p:spPr>
          <a:xfrm>
            <a:off x="777240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8" name="Puce"/>
          <p:cNvSpPr/>
          <p:nvPr/>
        </p:nvSpPr>
        <p:spPr>
          <a:xfrm>
            <a:off x="1124712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9DF9">
              <a:alpha val="15000"/>
            </a:srgbClr>
          </a:solidFill>
          <a:ln w="13970" cap="flat" cmpd="sng" algn="ctr">
            <a:solidFill>
              <a:srgbClr val="5B9DF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124712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Intégration accélérée</a:t>
            </a:r>
          </a:p>
        </p:txBody>
      </p:sp>
      <p:sp>
        <p:nvSpPr>
          <p:cNvPr id="10" name="Text"/>
          <p:cNvSpPr/>
          <p:nvPr/>
        </p:nvSpPr>
        <p:spPr>
          <a:xfrm>
            <a:off x="1124712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Un nouvel arrivant devient opérationnel plus vite, sans mobiliser un collègue senior.</a:t>
            </a:r>
          </a:p>
        </p:txBody>
      </p:sp>
      <p:sp>
        <p:nvSpPr>
          <p:cNvPr id="11" name="Carte"/>
          <p:cNvSpPr/>
          <p:nvPr/>
        </p:nvSpPr>
        <p:spPr>
          <a:xfrm>
            <a:off x="3505124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2" name="Puce"/>
          <p:cNvSpPr/>
          <p:nvPr/>
        </p:nvSpPr>
        <p:spPr>
          <a:xfrm>
            <a:off x="3852596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>
              <a:alpha val="15000"/>
            </a:srgbClr>
          </a:solidFill>
          <a:ln w="13970" cap="flat" cmpd="sng" algn="ctr">
            <a:solidFill>
              <a:srgbClr val="34D399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3" name="Text"/>
          <p:cNvSpPr/>
          <p:nvPr/>
        </p:nvSpPr>
        <p:spPr>
          <a:xfrm>
            <a:off x="3852596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Autonomie réelle</a:t>
            </a:r>
          </a:p>
        </p:txBody>
      </p:sp>
      <p:sp>
        <p:nvSpPr>
          <p:cNvPr id="14" name="Text"/>
          <p:cNvSpPr/>
          <p:nvPr/>
        </p:nvSpPr>
        <p:spPr>
          <a:xfrm>
            <a:off x="3852596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Chacun apprend quand il en a besoin, à son rythme, sans dépendre de la disponibilité d'autrui.</a:t>
            </a:r>
          </a:p>
        </p:txBody>
      </p:sp>
      <p:sp>
        <p:nvSpPr>
          <p:cNvPr id="15" name="Carte"/>
          <p:cNvSpPr/>
          <p:nvPr/>
        </p:nvSpPr>
        <p:spPr>
          <a:xfrm>
            <a:off x="6233008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16" name="Puce"/>
          <p:cNvSpPr/>
          <p:nvPr/>
        </p:nvSpPr>
        <p:spPr>
          <a:xfrm>
            <a:off x="6580480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3970" cap="flat" cmpd="sng" algn="ctr">
            <a:solidFill>
              <a:srgbClr val="F59E0B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7" name="Text"/>
          <p:cNvSpPr/>
          <p:nvPr/>
        </p:nvSpPr>
        <p:spPr>
          <a:xfrm>
            <a:off x="6580480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Savoir capitalisé</a:t>
            </a:r>
          </a:p>
        </p:txBody>
      </p:sp>
      <p:sp>
        <p:nvSpPr>
          <p:cNvPr id="18" name="Text"/>
          <p:cNvSpPr/>
          <p:nvPr/>
        </p:nvSpPr>
        <p:spPr>
          <a:xfrm>
            <a:off x="6580480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Ce qui était transmis à l'oral devient un contenu durable, réutilisable et vérifiable.</a:t>
            </a:r>
          </a:p>
        </p:txBody>
      </p:sp>
      <p:sp>
        <p:nvSpPr>
          <p:cNvPr id="19" name="Carte"/>
          <p:cNvSpPr/>
          <p:nvPr/>
        </p:nvSpPr>
        <p:spPr>
          <a:xfrm>
            <a:off x="8960891" y="2084832"/>
            <a:ext cx="2453564" cy="3456432"/>
          </a:xfrm>
          <a:prstGeom prst="roundRect">
            <a:avLst>
              <a:gd name="adj" fmla="val 5000"/>
            </a:avLst>
          </a:prstGeom>
          <a:solidFill>
            <a:srgbClr val="0F2842">
              <a:alpha val="50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20" name="Puce"/>
          <p:cNvSpPr/>
          <p:nvPr/>
        </p:nvSpPr>
        <p:spPr>
          <a:xfrm>
            <a:off x="9308363" y="24140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78BFA">
              <a:alpha val="15000"/>
            </a:srgbClr>
          </a:solidFill>
          <a:ln w="13970" cap="flat" cmpd="sng" algn="ctr">
            <a:solidFill>
              <a:srgbClr val="A78BFA">
                <a:alpha val="75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1" name="Text"/>
          <p:cNvSpPr/>
          <p:nvPr/>
        </p:nvSpPr>
        <p:spPr>
          <a:xfrm>
            <a:off x="9308363" y="3127248"/>
            <a:ext cx="1758620" cy="582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fr-FR" sz="1500" dirty="0" b="1">
                <a:solidFill>
                  <a:srgbClr val="FFFFFF"/>
                </a:solidFill>
                <a:latin typeface="Segoe UI"/>
                <a:cs typeface="Segoe UI"/>
              </a:rPr>
              <a:t>Image et différenciation</a:t>
            </a:r>
          </a:p>
        </p:txBody>
      </p:sp>
      <p:sp>
        <p:nvSpPr>
          <p:cNvPr id="22" name="Text"/>
          <p:cNvSpPr/>
          <p:nvPr/>
        </p:nvSpPr>
        <p:spPr>
          <a:xfrm>
            <a:off x="9308363" y="3800856"/>
            <a:ext cx="1758620" cy="1520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fr-FR" sz="1250" dirty="0">
                <a:solidFill>
                  <a:srgbClr val="9FB6CE"/>
                </a:solidFill>
                <a:latin typeface="Segoe UI"/>
                <a:cs typeface="Segoe UI"/>
              </a:rPr>
              <a:t>Un outil interne démontrable, qui prouve notre maturité numérique face à un client.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31</a:t>
            </a:r>
          </a:p>
        </p:txBody>
      </p:sp>
      <p:sp>
        <p:nvSpPr>
          <p:cNvPr id="5" name="Text"/>
          <p:cNvSpPr/>
          <p:nvPr/>
        </p:nvSpPr>
        <p:spPr>
          <a:xfrm>
            <a:off x="0" y="1874520"/>
            <a:ext cx="121916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00" dirty="0" b="1" spc="240" cap="all">
                <a:solidFill>
                  <a:srgbClr val="A78BFA"/>
                </a:solidFill>
                <a:latin typeface="Segoe UI"/>
                <a:cs typeface="Segoe UI"/>
              </a:rPr>
              <a:t>Argument client</a:t>
            </a:r>
          </a:p>
        </p:txBody>
      </p:sp>
      <p:sp>
        <p:nvSpPr>
          <p:cNvPr id="6" name="Text"/>
          <p:cNvSpPr/>
          <p:nvPr/>
        </p:nvSpPr>
        <p:spPr>
          <a:xfrm>
            <a:off x="1005840" y="2377440"/>
            <a:ext cx="10180015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3999"/>
              </a:lnSpc>
              <a:buNone/>
            </a:pPr>
            <a:r>
              <a:rPr lang="fr-FR" sz="4400" dirty="0" b="1">
                <a:solidFill>
                  <a:srgbClr val="FFFFFF"/>
                </a:solidFill>
                <a:latin typeface="Segoe UI"/>
                <a:cs typeface="Segoe UI"/>
              </a:rPr>
              <a:t>Un outil que nous montrons,</a:t>
            </a:r>
          </a:p>
          <a:p>
            <a:pPr marL="0" indent="0" algn="ctr">
              <a:lnSpc>
                <a:spcPct val="113999"/>
              </a:lnSpc>
              <a:buNone/>
            </a:pPr>
            <a:r>
              <a:rPr lang="fr-FR" sz="4400" dirty="0" b="1">
                <a:solidFill>
                  <a:srgbClr val="FFFFFF"/>
                </a:solidFill>
                <a:latin typeface="Segoe UI"/>
                <a:cs typeface="Segoe UI"/>
              </a:rPr>
              <a:t>pas seulement un discours.</a:t>
            </a:r>
          </a:p>
        </p:txBody>
      </p:sp>
      <p:sp>
        <p:nvSpPr>
          <p:cNvPr id="7" name="Text"/>
          <p:cNvSpPr/>
          <p:nvPr/>
        </p:nvSpPr>
        <p:spPr>
          <a:xfrm>
            <a:off x="1463040" y="4617720"/>
            <a:ext cx="92656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fr-FR" sz="1600" dirty="0">
                <a:solidFill>
                  <a:srgbClr val="9FB6CE"/>
                </a:solidFill>
                <a:latin typeface="Segoe UI"/>
                <a:cs typeface="Segoe UI"/>
              </a:rPr>
              <a:t>KATATOOL est la preuve concrète de notre démarche de digitalisation et d'amélioration continue.</a:t>
            </a:r>
          </a:p>
        </p:txBody>
      </p:sp>
      <p:sp>
        <p:nvSpPr>
          <p:cNvPr id="8" name="Pastille"/>
          <p:cNvSpPr/>
          <p:nvPr/>
        </p:nvSpPr>
        <p:spPr>
          <a:xfrm>
            <a:off x="2811323" y="5532120"/>
            <a:ext cx="1956816" cy="420624"/>
          </a:xfrm>
          <a:prstGeom prst="roundRect">
            <a:avLst>
              <a:gd name="adj" fmla="val 50000"/>
            </a:avLst>
          </a:prstGeom>
          <a:solidFill>
            <a:srgbClr val="5B9DF9">
              <a:alpha val="12000"/>
            </a:srgbClr>
          </a:solidFill>
          <a:ln w="13970" cap="flat" cmpd="sng" algn="ctr">
            <a:solidFill>
              <a:srgbClr val="5B9DF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5B9DF9"/>
                </a:solidFill>
                <a:latin typeface="Segoe UI"/>
                <a:cs typeface="Segoe UI"/>
              </a:rPr>
              <a:t>Développé en interne</a:t>
            </a:r>
          </a:p>
        </p:txBody>
      </p:sp>
      <p:sp>
        <p:nvSpPr>
          <p:cNvPr id="9" name="Pastille"/>
          <p:cNvSpPr/>
          <p:nvPr/>
        </p:nvSpPr>
        <p:spPr>
          <a:xfrm>
            <a:off x="4969307" y="5532120"/>
            <a:ext cx="1956816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3970" cap="flat" cmpd="sng" algn="ctr">
            <a:solidFill>
              <a:srgbClr val="34D39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34D399"/>
                </a:solidFill>
                <a:latin typeface="Segoe UI"/>
                <a:cs typeface="Segoe UI"/>
              </a:rPr>
              <a:t>Sans coût de licence</a:t>
            </a:r>
          </a:p>
        </p:txBody>
      </p:sp>
      <p:sp>
        <p:nvSpPr>
          <p:cNvPr id="10" name="Pastille"/>
          <p:cNvSpPr/>
          <p:nvPr/>
        </p:nvSpPr>
        <p:spPr>
          <a:xfrm>
            <a:off x="7127291" y="5532120"/>
            <a:ext cx="2253082" cy="420624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3970" cap="flat" cmpd="sng" algn="ctr">
            <a:solidFill>
              <a:srgbClr val="F59E0B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F59E0B"/>
                </a:solidFill>
                <a:latin typeface="Segoe UI"/>
                <a:cs typeface="Segoe UI"/>
              </a:rPr>
              <a:t>Démontrable en 2 minutes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32</a:t>
            </a:r>
          </a:p>
        </p:txBody>
      </p:sp>
      <p:sp>
        <p:nvSpPr>
          <p:cNvPr id="5" name="Text"/>
          <p:cNvSpPr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1150" dirty="0" b="1" spc="190" cap="all">
                <a:solidFill>
                  <a:srgbClr val="A78BFA"/>
                </a:solidFill>
                <a:latin typeface="Segoe UI"/>
                <a:cs typeface="Segoe UI"/>
              </a:rPr>
              <a:t>Perspectives</a:t>
            </a:r>
          </a:p>
        </p:txBody>
      </p:sp>
      <p:sp>
        <p:nvSpPr>
          <p:cNvPr id="6" name="Text"/>
          <p:cNvSpPr/>
          <p:nvPr/>
        </p:nvSpPr>
        <p:spPr>
          <a:xfrm>
            <a:off x="777240" y="877824"/>
            <a:ext cx="1063721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3800" dirty="0" b="1">
                <a:solidFill>
                  <a:srgbClr val="FFFFFF"/>
                </a:solidFill>
                <a:latin typeface="Segoe UI"/>
                <a:cs typeface="Segoe UI"/>
              </a:rPr>
              <a:t>Les prochaines étapes</a:t>
            </a:r>
          </a:p>
        </p:txBody>
      </p:sp>
      <p:sp>
        <p:nvSpPr>
          <p:cNvPr id="7" name="Étape"/>
          <p:cNvSpPr/>
          <p:nvPr/>
        </p:nvSpPr>
        <p:spPr>
          <a:xfrm>
            <a:off x="777240" y="2606040"/>
            <a:ext cx="2357552" cy="169164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5B9DF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50" dirty="0" b="1">
                <a:solidFill>
                  <a:srgbClr val="5B9DF9"/>
                </a:solidFill>
                <a:latin typeface="Segoe UI"/>
                <a:cs typeface="Segoe UI"/>
              </a:rPr>
              <a:t>Étendre
le catalogue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Nouveaux outils</a:t>
            </a:r>
          </a:p>
        </p:txBody>
      </p:sp>
      <p:sp>
        <p:nvSpPr>
          <p:cNvPr id="8" name="Text"/>
          <p:cNvSpPr/>
          <p:nvPr/>
        </p:nvSpPr>
        <p:spPr>
          <a:xfrm>
            <a:off x="3134792" y="2606040"/>
            <a:ext cx="40233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9" name="Étape"/>
          <p:cNvSpPr/>
          <p:nvPr/>
        </p:nvSpPr>
        <p:spPr>
          <a:xfrm>
            <a:off x="3537128" y="2606040"/>
            <a:ext cx="2357552" cy="169164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34D399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50" dirty="0" b="1">
                <a:solidFill>
                  <a:srgbClr val="34D399"/>
                </a:solidFill>
                <a:latin typeface="Segoe UI"/>
                <a:cs typeface="Segoe UI"/>
              </a:rPr>
              <a:t>Ouvrir à
d'autres équipes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Modèle réplicable</a:t>
            </a:r>
          </a:p>
        </p:txBody>
      </p:sp>
      <p:sp>
        <p:nvSpPr>
          <p:cNvPr id="10" name="Text"/>
          <p:cNvSpPr/>
          <p:nvPr/>
        </p:nvSpPr>
        <p:spPr>
          <a:xfrm>
            <a:off x="5894680" y="2606040"/>
            <a:ext cx="40233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1" name="Étape"/>
          <p:cNvSpPr/>
          <p:nvPr/>
        </p:nvSpPr>
        <p:spPr>
          <a:xfrm>
            <a:off x="6297016" y="2606040"/>
            <a:ext cx="2357552" cy="169164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F59E0B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50" dirty="0" b="1">
                <a:solidFill>
                  <a:srgbClr val="F59E0B"/>
                </a:solidFill>
                <a:latin typeface="Segoe UI"/>
                <a:cs typeface="Segoe UI"/>
              </a:rPr>
              <a:t>Suivi des
compétences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Qui a validé quoi</a:t>
            </a:r>
          </a:p>
        </p:txBody>
      </p:sp>
      <p:sp>
        <p:nvSpPr>
          <p:cNvPr id="12" name="Text"/>
          <p:cNvSpPr/>
          <p:nvPr/>
        </p:nvSpPr>
        <p:spPr>
          <a:xfrm>
            <a:off x="8654567" y="2606040"/>
            <a:ext cx="40233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6E89A6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13" name="Étape"/>
          <p:cNvSpPr/>
          <p:nvPr/>
        </p:nvSpPr>
        <p:spPr>
          <a:xfrm>
            <a:off x="9056903" y="2606040"/>
            <a:ext cx="2357552" cy="1691640"/>
          </a:xfrm>
          <a:prstGeom prst="roundRect">
            <a:avLst>
              <a:gd name="adj" fmla="val 7000"/>
            </a:avLst>
          </a:prstGeom>
          <a:solidFill>
            <a:srgbClr val="0F2842">
              <a:alpha val="48000"/>
            </a:srgbClr>
          </a:solidFill>
          <a:ln w="15875" cap="flat" cmpd="sng" algn="ctr">
            <a:solidFill>
              <a:srgbClr val="A78BFA">
                <a:alpha val="55000"/>
              </a:srgbClr>
            </a:solidFill>
            <a:prstDash val="solid"/>
          </a:ln>
        </p:spPr>
        <p:txBody>
          <a:bodyPr wrap="square" lIns="128016" tIns="109728" rIns="128016" bIns="109728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550" dirty="0" b="1">
                <a:solidFill>
                  <a:srgbClr val="A78BFA"/>
                </a:solidFill>
                <a:latin typeface="Segoe UI"/>
                <a:cs typeface="Segoe UI"/>
              </a:rPr>
              <a:t>Contenus
vidéo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fr-FR" sz="1100" dirty="0">
                <a:solidFill>
                  <a:srgbClr val="9FB6CE"/>
                </a:solidFill>
                <a:latin typeface="Segoe UI"/>
                <a:cs typeface="Segoe UI"/>
              </a:rPr>
              <a:t>Formats courts</a:t>
            </a:r>
          </a:p>
        </p:txBody>
      </p:sp>
      <p:sp>
        <p:nvSpPr>
          <p:cNvPr id="14" name="Text"/>
          <p:cNvSpPr/>
          <p:nvPr/>
        </p:nvSpPr>
        <p:spPr>
          <a:xfrm>
            <a:off x="777240" y="4754880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550" dirty="0" b="1">
                <a:solidFill>
                  <a:srgbClr val="FFFFFF"/>
                </a:solidFill>
                <a:latin typeface="Segoe UI"/>
                <a:cs typeface="Segoe UI"/>
              </a:rPr>
              <a:t>Le socle est en place. Ce qui vient ensuite est de l'enrichissement, pas de la reconstruction.</a:t>
            </a:r>
          </a:p>
        </p:txBody>
      </p:sp>
      <p:sp>
        <p:nvSpPr>
          <p:cNvPr id="15" name="Text"/>
          <p:cNvSpPr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300" dirty="0">
                <a:solidFill>
                  <a:srgbClr val="9FB6CE"/>
                </a:solidFill>
                <a:latin typeface="Segoe UI"/>
                <a:cs typeface="Segoe UI"/>
              </a:rPr>
              <a:t>Je suis disponible pour former les équipes qui souhaitent l'utiliser.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Text"/>
          <p:cNvSpPr/>
          <p:nvPr/>
        </p:nvSpPr>
        <p:spPr>
          <a:xfrm>
            <a:off x="777240" y="6327648"/>
            <a:ext cx="63823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fr-FR" sz="900" dirty="0" spc="80">
                <a:solidFill>
                  <a:srgbClr val="50708E"/>
                </a:solidFill>
                <a:latin typeface="Segoe UI"/>
                <a:cs typeface="Segoe UI"/>
              </a:rPr>
              <a:t>KATATOOL · MG2 Engineering</a:t>
            </a:r>
          </a:p>
        </p:txBody>
      </p:sp>
      <p:sp>
        <p:nvSpPr>
          <p:cNvPr id="4" name="Text"/>
          <p:cNvSpPr/>
          <p:nvPr/>
        </p:nvSpPr>
        <p:spPr>
          <a:xfrm>
            <a:off x="10317175" y="63276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fr-FR" sz="900" dirty="0">
                <a:solidFill>
                  <a:srgbClr val="50708E"/>
                </a:solidFill>
                <a:latin typeface="Segoe UI"/>
                <a:cs typeface="Segoe UI"/>
              </a:rPr>
              <a:t>33</a:t>
            </a:r>
          </a:p>
        </p:txBody>
      </p:sp>
      <p:sp>
        <p:nvSpPr>
          <p:cNvPr id="5" name="Text"/>
          <p:cNvSpPr/>
          <p:nvPr/>
        </p:nvSpPr>
        <p:spPr>
          <a:xfrm>
            <a:off x="0" y="1874520"/>
            <a:ext cx="12191695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200" dirty="0" b="1" spc="240" cap="all">
                <a:solidFill>
                  <a:srgbClr val="34D399"/>
                </a:solidFill>
                <a:latin typeface="Segoe UI"/>
                <a:cs typeface="Segoe UI"/>
              </a:rPr>
              <a:t>Conclusion</a:t>
            </a:r>
          </a:p>
        </p:txBody>
      </p:sp>
      <p:sp>
        <p:nvSpPr>
          <p:cNvPr id="6" name="Text"/>
          <p:cNvSpPr/>
          <p:nvPr/>
        </p:nvSpPr>
        <p:spPr>
          <a:xfrm>
            <a:off x="1005840" y="2377440"/>
            <a:ext cx="10180015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3999"/>
              </a:lnSpc>
              <a:buNone/>
            </a:pPr>
            <a:r>
              <a:rPr lang="fr-FR" sz="4400" dirty="0" b="1">
                <a:solidFill>
                  <a:srgbClr val="FFFFFF"/>
                </a:solidFill>
                <a:latin typeface="Segoe UI"/>
                <a:cs typeface="Segoe UI"/>
              </a:rPr>
              <a:t>D'une recherche de plusieurs jours</a:t>
            </a:r>
          </a:p>
          <a:p>
            <a:pPr marL="0" indent="0" algn="ctr">
              <a:lnSpc>
                <a:spcPct val="113999"/>
              </a:lnSpc>
              <a:buNone/>
            </a:pPr>
            <a:r>
              <a:rPr lang="fr-FR" sz="4400" dirty="0" b="1">
                <a:solidFill>
                  <a:srgbClr val="FFFFFF"/>
                </a:solidFill>
                <a:latin typeface="Segoe UI"/>
                <a:cs typeface="Segoe UI"/>
              </a:rPr>
              <a:t>à un point d'accès unique.</a:t>
            </a:r>
          </a:p>
        </p:txBody>
      </p:sp>
      <p:sp>
        <p:nvSpPr>
          <p:cNvPr id="7" name="Text"/>
          <p:cNvSpPr/>
          <p:nvPr/>
        </p:nvSpPr>
        <p:spPr>
          <a:xfrm>
            <a:off x="1463040" y="4617720"/>
            <a:ext cx="92656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fr-FR" sz="1600" dirty="0">
                <a:solidFill>
                  <a:srgbClr val="9FB6CE"/>
                </a:solidFill>
                <a:latin typeface="Segoe UI"/>
                <a:cs typeface="Segoe UI"/>
              </a:rPr>
              <a:t>J'ai identifié le problème sur le terrain, et j'ai construit la réponse avec les moyens de l'entreprise.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06A"/>
            </a:gs>
            <a:gs pos="50000">
              <a:srgbClr val="0A2440"/>
            </a:gs>
            <a:gs pos="100000">
              <a:srgbClr val="040E18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onale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2090F">
              <a:alpha val="3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/>
            <a:endParaRPr lang="fr-FR"/>
          </a:p>
        </p:txBody>
      </p:sp>
      <p:sp>
        <p:nvSpPr>
          <p:cNvPr id="3" name="Logo"/>
          <p:cNvSpPr/>
          <p:nvPr/>
        </p:nvSpPr>
        <p:spPr>
          <a:xfrm>
            <a:off x="5478628" y="1188720"/>
            <a:ext cx="1234440" cy="1234440"/>
          </a:xfrm>
          <a:prstGeom prst="roundRect">
            <a:avLst>
              <a:gd name="adj" fmla="val 16000"/>
            </a:avLst>
          </a:prstGeom>
          <a:solidFill>
            <a:srgbClr val="0F2540">
              <a:alpha val="45000"/>
            </a:srgbClr>
          </a:solidFill>
          <a:ln w="15240" cap="flat" cmpd="sng" algn="ctr">
            <a:solidFill>
              <a:srgbClr val="2E5177">
                <a:alpha val="60000"/>
              </a:srgbClr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000" dirty="0" b="1" spc="150">
                <a:solidFill>
                  <a:srgbClr val="547590"/>
                </a:solidFill>
                <a:latin typeface="Segoe UI"/>
                <a:cs typeface="Segoe UI"/>
              </a:rPr>
              <a:t>LOGO</a:t>
            </a:r>
          </a:p>
        </p:txBody>
      </p:sp>
      <p:sp>
        <p:nvSpPr>
          <p:cNvPr id="4" name="Text"/>
          <p:cNvSpPr/>
          <p:nvPr/>
        </p:nvSpPr>
        <p:spPr>
          <a:xfrm>
            <a:off x="0" y="2697480"/>
            <a:ext cx="12191695" cy="1150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6800" dirty="0" b="1">
                <a:solidFill>
                  <a:srgbClr val="FFFFFF"/>
                </a:solidFill>
                <a:latin typeface="Segoe UI"/>
                <a:cs typeface="Segoe UI"/>
              </a:rPr>
              <a:t>Merci</a:t>
            </a:r>
          </a:p>
        </p:txBody>
      </p:sp>
      <p:sp>
        <p:nvSpPr>
          <p:cNvPr id="5" name="Text"/>
          <p:cNvSpPr/>
          <p:nvPr/>
        </p:nvSpPr>
        <p:spPr>
          <a:xfrm>
            <a:off x="1280160" y="3913632"/>
            <a:ext cx="96313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>
                <a:solidFill>
                  <a:srgbClr val="9FB6CE"/>
                </a:solidFill>
                <a:latin typeface="Segoe UI"/>
                <a:cs typeface="Segoe UI"/>
              </a:rPr>
              <a:t>On l'ouvre, on apprend, on se teste, on récupère ses outils.</a:t>
            </a:r>
          </a:p>
        </p:txBody>
      </p:sp>
      <p:sp>
        <p:nvSpPr>
          <p:cNvPr id="6" name="Pastille"/>
          <p:cNvSpPr/>
          <p:nvPr/>
        </p:nvSpPr>
        <p:spPr>
          <a:xfrm>
            <a:off x="3250692" y="4526280"/>
            <a:ext cx="1586484" cy="420624"/>
          </a:xfrm>
          <a:prstGeom prst="roundRect">
            <a:avLst>
              <a:gd name="adj" fmla="val 50000"/>
            </a:avLst>
          </a:prstGeom>
          <a:solidFill>
            <a:srgbClr val="5B9DF9">
              <a:alpha val="12000"/>
            </a:srgbClr>
          </a:solidFill>
          <a:ln w="13970" cap="flat" cmpd="sng" algn="ctr">
            <a:solidFill>
              <a:srgbClr val="5B9DF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5B9DF9"/>
                </a:solidFill>
                <a:latin typeface="Segoe UI"/>
                <a:cs typeface="Segoe UI"/>
              </a:rPr>
              <a:t>Tableau de bord</a:t>
            </a:r>
          </a:p>
        </p:txBody>
      </p:sp>
      <p:sp>
        <p:nvSpPr>
          <p:cNvPr id="7" name="Pastille"/>
          <p:cNvSpPr/>
          <p:nvPr/>
        </p:nvSpPr>
        <p:spPr>
          <a:xfrm>
            <a:off x="5038344" y="4526280"/>
            <a:ext cx="1216152" cy="420624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3970" cap="flat" cmpd="sng" algn="ctr">
            <a:solidFill>
              <a:srgbClr val="34D399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34D399"/>
                </a:solidFill>
                <a:latin typeface="Segoe UI"/>
                <a:cs typeface="Segoe UI"/>
              </a:rPr>
              <a:t>Formations</a:t>
            </a:r>
          </a:p>
        </p:txBody>
      </p:sp>
      <p:sp>
        <p:nvSpPr>
          <p:cNvPr id="8" name="Pastille"/>
          <p:cNvSpPr/>
          <p:nvPr/>
        </p:nvSpPr>
        <p:spPr>
          <a:xfrm>
            <a:off x="6455664" y="4526280"/>
            <a:ext cx="771754" cy="420624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3970" cap="flat" cmpd="sng" algn="ctr">
            <a:solidFill>
              <a:srgbClr val="F59E0B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F59E0B"/>
                </a:solidFill>
                <a:latin typeface="Segoe UI"/>
                <a:cs typeface="Segoe UI"/>
              </a:rPr>
              <a:t>Quiz</a:t>
            </a:r>
          </a:p>
        </p:txBody>
      </p:sp>
      <p:sp>
        <p:nvSpPr>
          <p:cNvPr id="9" name="Pastille"/>
          <p:cNvSpPr/>
          <p:nvPr/>
        </p:nvSpPr>
        <p:spPr>
          <a:xfrm>
            <a:off x="7428586" y="4526280"/>
            <a:ext cx="1512418" cy="420624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3970" cap="flat" cmpd="sng" algn="ctr">
            <a:solidFill>
              <a:srgbClr val="A78BFA">
                <a:alpha val="6000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fr-FR" sz="1200" dirty="0" b="1">
                <a:solidFill>
                  <a:srgbClr val="A78BFA"/>
                </a:solidFill>
                <a:latin typeface="Segoe UI"/>
                <a:cs typeface="Segoe UI"/>
              </a:rPr>
              <a:t>Outils équipes</a:t>
            </a:r>
          </a:p>
        </p:txBody>
      </p:sp>
      <p:sp>
        <p:nvSpPr>
          <p:cNvPr id="10" name="Text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700" dirty="0" b="1">
                <a:solidFill>
                  <a:srgbClr val="22D3EE"/>
                </a:solidFill>
                <a:latin typeface="Segoe UI"/>
                <a:cs typeface="Segoe UI"/>
              </a:rPr>
              <a:t>Vos questions</a:t>
            </a:r>
          </a:p>
        </p:txBody>
      </p:sp>
      <p:sp>
        <p:nvSpPr>
          <p:cNvPr id="11" name="Text"/>
          <p:cNvSpPr/>
          <p:nvPr/>
        </p:nvSpPr>
        <p:spPr>
          <a:xfrm>
            <a:off x="0" y="5806440"/>
            <a:ext cx="121916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fr-FR" sz="1150" dirty="0">
                <a:solidFill>
                  <a:srgbClr val="6E89A6"/>
                </a:solidFill>
                <a:latin typeface="Segoe UI"/>
                <a:cs typeface="Segoe UI"/>
              </a:rPr>
              <a:t>Youssef OUBELLA · Chargé de Développement 2D · Équipe CD2D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TOOL">
  <a:themeElements>
    <a:clrScheme name="KATATOOL">
      <a:dk1>
        <a:srgbClr val="0A1A2C"/>
      </a:dk1>
      <a:lt1>
        <a:srgbClr val="FFFFFF"/>
      </a:lt1>
      <a:dk2>
        <a:srgbClr val="0E2440"/>
      </a:dk2>
      <a:lt2>
        <a:srgbClr val="E7EEF6"/>
      </a:lt2>
      <a:accent1>
        <a:srgbClr val="5B9DF9"/>
      </a:accent1>
      <a:accent2>
        <a:srgbClr val="22D3EE"/>
      </a:accent2>
      <a:accent3>
        <a:srgbClr val="34D399"/>
      </a:accent3>
      <a:accent4>
        <a:srgbClr val="F59E0B"/>
      </a:accent4>
      <a:accent5>
        <a:srgbClr val="A78BFA"/>
      </a:accent5>
      <a:accent6>
        <a:srgbClr val="F472B6"/>
      </a:accent6>
      <a:hlink>
        <a:srgbClr val="22D3EE"/>
      </a:hlink>
      <a:folHlink>
        <a:srgbClr val="A78BFA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KATATOO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KATATOOL">
  <a:themeElements>
    <a:clrScheme name="KATATOOL">
      <a:dk1>
        <a:srgbClr val="0A1A2C"/>
      </a:dk1>
      <a:lt1>
        <a:srgbClr val="FFFFFF"/>
      </a:lt1>
      <a:dk2>
        <a:srgbClr val="0E2440"/>
      </a:dk2>
      <a:lt2>
        <a:srgbClr val="E7EEF6"/>
      </a:lt2>
      <a:accent1>
        <a:srgbClr val="5B9DF9"/>
      </a:accent1>
      <a:accent2>
        <a:srgbClr val="22D3EE"/>
      </a:accent2>
      <a:accent3>
        <a:srgbClr val="34D399"/>
      </a:accent3>
      <a:accent4>
        <a:srgbClr val="F59E0B"/>
      </a:accent4>
      <a:accent5>
        <a:srgbClr val="A78BFA"/>
      </a:accent5>
      <a:accent6>
        <a:srgbClr val="F472B6"/>
      </a:accent6>
      <a:hlink>
        <a:srgbClr val="22D3EE"/>
      </a:hlink>
      <a:folHlink>
        <a:srgbClr val="A78BFA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KATATOO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PresentationFormat>Grand écran</PresentationFormat>
  <Paragraphs>0</Paragraphs>
  <Slides>34</Slides>
  <Notes>34</Notes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2026-01-01T00:00:00Z</dcterms:created>
  <dc:creator>Youssef OUBELLA</dc:creator>
  <cp:lastModifiedBy>Youssef OUBELLA</cp:lastModifiedBy>
  <dcterms:modified xsi:type="dcterms:W3CDTF">2026-01-01T00:00:00Z</dcterms:modified>
  <cp:revision>1</cp:revision>
  <dc:title>KATATOOL — Soutenance carte de passage</dc:title>
</cp:coreProperties>
</file>