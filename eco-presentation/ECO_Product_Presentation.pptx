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9-lifecycle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actions-menu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a-form-top.png"/><Relationship Id="rId3" Type="http://schemas.openxmlformats.org/officeDocument/2006/relationships/image" Target="../media/03b-form-bottom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batch-grid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4-vom-warning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roject-space-search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linked-eco-ecr.png"/><Relationship Id="rId3" Type="http://schemas.openxmlformats.org/officeDocument/2006/relationships/image" Target="../media/07-ecr-structure-view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8-approvals-due-date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10-neutral-blocked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2" name="s12"/>
          <p:cNvSpPr/>
          <p:nvPr/>
        </p:nvSpPr>
        <p:spPr>
          <a:xfrm>
            <a:off x="777240" y="1417320"/>
            <a:ext cx="1325880" cy="100584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3" name="t13"/>
          <p:cNvSpPr txBox="1"/>
          <p:nvPr/>
        </p:nvSpPr>
        <p:spPr>
          <a:xfrm>
            <a:off x="777240" y="1783080"/>
            <a:ext cx="106375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/>
                <a:cs typeface="Segoe UI"/>
              </a:rPr>
              <a:t>Product ECO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3063240"/>
            <a:ext cx="1063752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BCD0EC"/>
                </a:solidFill>
                <a:latin typeface="Segoe UI"/>
                <a:cs typeface="Segoe UI"/>
              </a:rPr>
              <a:t>Engineering Change Order in PLM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777240" y="3794760"/>
            <a:ext cx="7659014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93A8C6"/>
                </a:solidFill>
                <a:latin typeface="Segoe UI"/>
                <a:cs typeface="Segoe UI"/>
              </a:rPr>
              <a:t>How to create it, what to fill, and what blocks you.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5394960"/>
            <a:ext cx="106375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6F87A8"/>
                </a:solidFill>
                <a:latin typeface="Segoe UI"/>
                <a:cs typeface="Segoe UI"/>
              </a:rPr>
              <a:t>Source: METHODOLOGY Creating a Product ECO · Ref. 20061_17_01638 · v8.0 · 17/04/2024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THE BASICS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What an ECO is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ECO = Engineering Change Order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— the PLM object that officialises a product change.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Equivalent of the FM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(change sheet) in SAP / 3DCom.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It carries the change, not the geometry: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approvals (RT / RAL), homologation, impacts, dates, notifications.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Type used here: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ECO Type = Product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(there are also Component ECOs).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No released product without an ECO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— it is the gate to officialisation.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One sentence to remember: the ECO is the passport of a change.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POSITIONING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Where the ECO sits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737360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3A8C6"/>
                </a:solidFill>
                <a:latin typeface="Segoe UI"/>
                <a:cs typeface="Segoe UI"/>
              </a:rPr>
              <a:t>CHAIN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2121408"/>
            <a:ext cx="1386230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ECR (Design)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2163470" y="2194560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17" name="s17"/>
          <p:cNvSpPr/>
          <p:nvPr/>
        </p:nvSpPr>
        <p:spPr>
          <a:xfrm>
            <a:off x="2382926" y="2121408"/>
            <a:ext cx="579729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ECO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2962655" y="2194560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19" name="s19"/>
          <p:cNvSpPr/>
          <p:nvPr/>
        </p:nvSpPr>
        <p:spPr>
          <a:xfrm>
            <a:off x="3182111" y="2121408"/>
            <a:ext cx="1834286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PDEF / PREA / DOC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5016397" y="2194560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1" name="s21"/>
          <p:cNvSpPr/>
          <p:nvPr/>
        </p:nvSpPr>
        <p:spPr>
          <a:xfrm>
            <a:off x="5235853" y="2121408"/>
            <a:ext cx="938174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OA / LA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6174027" y="2194560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3" name="s23"/>
          <p:cNvSpPr/>
          <p:nvPr/>
        </p:nvSpPr>
        <p:spPr>
          <a:xfrm>
            <a:off x="6393483" y="2121408"/>
            <a:ext cx="938174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Release</a:t>
            </a:r>
          </a:p>
        </p:txBody>
      </p:sp>
      <p:sp>
        <p:nvSpPr>
          <p:cNvPr id="24" name="s24"/>
          <p:cNvSpPr/>
          <p:nvPr/>
        </p:nvSpPr>
        <p:spPr>
          <a:xfrm>
            <a:off x="2953530" y="2990088"/>
            <a:ext cx="6284939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25" name="p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50" y="3035808"/>
            <a:ext cx="6193499" cy="2404872"/>
          </a:xfrm>
          <a:prstGeom prst="rect">
            <a:avLst/>
          </a:prstGeom>
        </p:spPr>
      </p:pic>
      <p:sp>
        <p:nvSpPr>
          <p:cNvPr id="26" name="t26"/>
          <p:cNvSpPr txBox="1"/>
          <p:nvPr/>
        </p:nvSpPr>
        <p:spPr>
          <a:xfrm>
            <a:off x="777240" y="5440680"/>
            <a:ext cx="106375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8FA5C4"/>
                </a:solidFill>
                <a:latin typeface="Segoe UI"/>
                <a:cs typeface="Segoe UI"/>
              </a:rPr>
              <a:t>ECO lifecycle — Categories › Lifecycle: Create › Define Components › Wait App. › Reviewed › Released › Implemented (Cancelled stays reachable)</a:t>
            </a:r>
          </a:p>
        </p:txBody>
      </p:sp>
      <p:sp>
        <p:nvSpPr>
          <p:cNvPr id="27" name="s2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8" name="t2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BEFORE YOU CLICK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Prerequisites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Role: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PSA_Pilote_Projet or PSA_Concepteur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Diversity and applicability contexts are defined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Expected Product (PA) created with diversity applicability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Reviewer and approval lists created and defined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— RT and RAL templates must already exist.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The PDEF, PREA or DOC concerned exists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ECR in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Design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for a revision — or OA/LA in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Create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for a first release / reuse.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Missing one of these is the #1 reason a creation or a promotion fails.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3 WAYS IN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The three use cases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7724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5" name="s15"/>
          <p:cNvSpPr/>
          <p:nvPr/>
        </p:nvSpPr>
        <p:spPr>
          <a:xfrm>
            <a:off x="77724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97840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1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home page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Actions ›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Fill attributes › Finish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Then link it to a product, an LA or an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batch creation</a:t>
            </a:r>
          </a:p>
        </p:txBody>
      </p:sp>
      <p:sp>
        <p:nvSpPr>
          <p:cNvPr id="17" name="s17"/>
          <p:cNvSpPr/>
          <p:nvPr/>
        </p:nvSpPr>
        <p:spPr>
          <a:xfrm>
            <a:off x="441452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s18"/>
          <p:cNvSpPr/>
          <p:nvPr/>
        </p:nvSpPr>
        <p:spPr>
          <a:xfrm>
            <a:off x="441452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9" name="t19"/>
          <p:cNvSpPr txBox="1"/>
          <p:nvPr/>
        </p:nvSpPr>
        <p:spPr>
          <a:xfrm>
            <a:off x="461568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2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product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Open the PDEF / PREA / DOC identity card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Categories › Linked ECO and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ECOs sub-tab ›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creates AND links in one shot</a:t>
            </a:r>
          </a:p>
        </p:txBody>
      </p:sp>
      <p:sp>
        <p:nvSpPr>
          <p:cNvPr id="20" name="s20"/>
          <p:cNvSpPr/>
          <p:nvPr/>
        </p:nvSpPr>
        <p:spPr>
          <a:xfrm>
            <a:off x="805180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1" name="s21"/>
          <p:cNvSpPr/>
          <p:nvPr/>
        </p:nvSpPr>
        <p:spPr>
          <a:xfrm>
            <a:off x="805180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2" name="t22"/>
          <p:cNvSpPr txBox="1"/>
          <p:nvPr/>
        </p:nvSpPr>
        <p:spPr>
          <a:xfrm>
            <a:off x="825296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3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ECR must be in state Design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Categories › ECOs &amp; ECs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Structure View › Actions ›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change driven by an ECR</a:t>
            </a:r>
          </a:p>
        </p:txBody>
      </p:sp>
      <p:sp>
        <p:nvSpPr>
          <p:cNvPr id="23" name="s23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4" name="t24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5" name="t25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METHOD 1 · STEP 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Actions › Create Product ECO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947223" y="1801368"/>
            <a:ext cx="6468045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943" y="1847088"/>
            <a:ext cx="6376605" cy="4050792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905292" y="1847088"/>
            <a:ext cx="3509468" cy="40507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Home page ›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Actions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toolbar icon.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Column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Change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›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Create Product ECO…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Do not confuse it with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Create Component ECO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just below, nor with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Create ECR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From here the ECO is born unlinked — you must attach it afterwards.</a:t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METHOD 1 · STEP 2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The creation form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1515550" y="2075688"/>
            <a:ext cx="3636399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270" y="2121408"/>
            <a:ext cx="3544959" cy="2404872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77240" y="1801368"/>
            <a:ext cx="511302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2D3EE"/>
                </a:solidFill>
                <a:latin typeface="Segoe UI"/>
                <a:cs typeface="Segoe UI"/>
              </a:rPr>
              <a:t>BASIC ATTRIBUTES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4526280"/>
            <a:ext cx="51130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dirty="0">
                <a:solidFill>
                  <a:srgbClr val="8FA5C4"/>
                </a:solidFill>
                <a:latin typeface="Segoe UI"/>
                <a:cs typeface="Segoe UI"/>
              </a:rPr>
              <a:t>Type, Description, Maturity, Homologation Flow &amp; User, Engineering approval (RT), Release approval (RAL).</a:t>
            </a:r>
          </a:p>
        </p:txBody>
      </p:sp>
      <p:sp>
        <p:nvSpPr>
          <p:cNvPr id="18" name="s18"/>
          <p:cNvSpPr/>
          <p:nvPr/>
        </p:nvSpPr>
        <p:spPr>
          <a:xfrm>
            <a:off x="6778948" y="2075688"/>
            <a:ext cx="4158603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9" name="p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68" y="2121408"/>
            <a:ext cx="4067163" cy="2404872"/>
          </a:xfrm>
          <a:prstGeom prst="rect">
            <a:avLst/>
          </a:prstGeom>
        </p:spPr>
      </p:pic>
      <p:sp>
        <p:nvSpPr>
          <p:cNvPr id="20" name="t20"/>
          <p:cNvSpPr txBox="1"/>
          <p:nvPr/>
        </p:nvSpPr>
        <p:spPr>
          <a:xfrm>
            <a:off x="6301740" y="1801368"/>
            <a:ext cx="511302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2D3EE"/>
                </a:solidFill>
                <a:latin typeface="Segoe UI"/>
                <a:cs typeface="Segoe UI"/>
              </a:rPr>
              <a:t>IDENTIFICATION &amp; IMPACTS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6301740" y="4526280"/>
            <a:ext cx="51130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dirty="0">
                <a:solidFill>
                  <a:srgbClr val="8FA5C4"/>
                </a:solidFill>
                <a:latin typeface="Segoe UI"/>
                <a:cs typeface="Segoe UI"/>
              </a:rPr>
              <a:t>Responsible Design Engineer, Number of ECO to create, Cader, DUD, Notification's context, V/O/M Impacts, Manufacturing Site.</a:t>
            </a:r>
          </a:p>
        </p:txBody>
      </p:sp>
      <p:sp>
        <p:nvSpPr>
          <p:cNvPr id="22" name="s22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241D0F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Red italic = required to confirm the creation. Black fields can wait — but only while the ECO is in Create or Define Components maturity.</a:t>
            </a:r>
          </a:p>
        </p:txBody>
      </p:sp>
      <p:sp>
        <p:nvSpPr>
          <p:cNvPr id="23" name="s23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4" name="s24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5" name="t25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6" name="t2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METHOD 1 · SHORTCUT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Create several ECOs in one go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31520" y="2988666"/>
            <a:ext cx="6899452" cy="1767636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34386"/>
            <a:ext cx="6808012" cy="1676196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905292" y="1847088"/>
            <a:ext cx="3509468" cy="40507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Set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Number of ECO to create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before validating.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PLM opens a mass-update grid: same attributes, N ECO numbers.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Use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Mass Update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to change a column on every line, then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Save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Ideal when one change hits several parts of the same perimeter.</a:t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THE CHECKLIST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Attributes required to release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FIELD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RULE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Description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Follow the Electricity/Electronics or Mechanical Engineering filling guides.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Due Date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PROTO or SERIE.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Homologation Flow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YES if the ECO has a PRODUCTION (SERIE) flow. Check with the Homologation Manager first.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Homologation User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Mandatory when Homologation Flow = YES. Pick the ID from the Homologation User List.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Responsible Design Engineer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Name of the component manager. Required for release.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RT Approvers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Workflow template of the technical review (RT).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RAL Approvers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Workflow template of the deliverable approval review (RAL).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CADER / DUD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Select the CADER if one exists for the release, otherwise leave blank. DUD = milestone.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Notification's context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Alerts the notification technician. Mandatory for a partner / JV project.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IMPACTS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V / O / M impacts &amp; manufacturing site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38528"/>
            <a:ext cx="6595262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Check the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Project Space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attribute.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Search the project name.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Select the result whose type is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Project Space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, then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Submit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Choose one or more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manufacturing sites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— they fill the Manufacturing Site field automatically.</a:t>
            </a:r>
          </a:p>
        </p:txBody>
      </p:sp>
      <p:sp>
        <p:nvSpPr>
          <p:cNvPr id="15" name="s15"/>
          <p:cNvSpPr/>
          <p:nvPr/>
        </p:nvSpPr>
        <p:spPr>
          <a:xfrm>
            <a:off x="7646822" y="2451664"/>
            <a:ext cx="3813658" cy="1470039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6" name="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542" y="2497384"/>
            <a:ext cx="3722218" cy="1378599"/>
          </a:xfrm>
          <a:prstGeom prst="rect">
            <a:avLst/>
          </a:prstGeom>
        </p:spPr>
      </p:pic>
      <p:sp>
        <p:nvSpPr>
          <p:cNvPr id="17" name="t17"/>
          <p:cNvSpPr txBox="1"/>
          <p:nvPr/>
        </p:nvSpPr>
        <p:spPr>
          <a:xfrm>
            <a:off x="7692542" y="4013143"/>
            <a:ext cx="3722218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dirty="0">
                <a:solidFill>
                  <a:srgbClr val="8FA5C4"/>
                </a:solidFill>
                <a:latin typeface="Segoe UI"/>
                <a:cs typeface="Segoe UI"/>
              </a:rPr>
              <a:t>The warning from the methodology</a:t>
            </a:r>
          </a:p>
        </p:txBody>
      </p:sp>
      <p:sp>
        <p:nvSpPr>
          <p:cNvPr id="18" name="s18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241D0F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“No active manufacturing site in this project space” › the project space is not set up. Contact the Project Owner (RPP / RPCR); you cannot fix it from the ECO.</a:t>
            </a:r>
          </a:p>
        </p:txBody>
      </p:sp>
      <p:sp>
        <p:nvSpPr>
          <p:cNvPr id="19" name="s19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0" name="s20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1" name="t21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IMPACTS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Pick the project space, not the product line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31520" y="1827051"/>
            <a:ext cx="6899452" cy="4090866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2771"/>
            <a:ext cx="6808012" cy="3999426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905292" y="1847088"/>
            <a:ext cx="3509468" cy="40507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Refine on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Types › Project Management › Project Space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Check the line whose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Type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column reads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Project Space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, then Submit.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Never select a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Product Line (PL-000000)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— impacts would be wrong.</a:t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METHODS 2 &amp; 3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Create the ECO from the object itself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31520" y="3075579"/>
            <a:ext cx="5204460" cy="1410929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21299"/>
            <a:ext cx="5113020" cy="1319489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77240" y="2801259"/>
            <a:ext cx="511302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2D3EE"/>
                </a:solidFill>
                <a:latin typeface="Segoe UI"/>
                <a:cs typeface="Segoe UI"/>
              </a:rPr>
              <a:t>UC 2 · FROM THE PRODUCT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4577948"/>
            <a:ext cx="51130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dirty="0">
                <a:solidFill>
                  <a:srgbClr val="8FA5C4"/>
                </a:solidFill>
                <a:latin typeface="Segoe UI"/>
                <a:cs typeface="Segoe UI"/>
              </a:rPr>
              <a:t>PDEF identity card › Categories › Linked ECO and ECR › tab ECOs › Create Product ECO — creates and links in one action.</a:t>
            </a:r>
          </a:p>
        </p:txBody>
      </p:sp>
      <p:sp>
        <p:nvSpPr>
          <p:cNvPr id="18" name="s18"/>
          <p:cNvSpPr/>
          <p:nvPr/>
        </p:nvSpPr>
        <p:spPr>
          <a:xfrm>
            <a:off x="6256020" y="2906117"/>
            <a:ext cx="5204460" cy="1749854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9" name="p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951837"/>
            <a:ext cx="5113020" cy="1658414"/>
          </a:xfrm>
          <a:prstGeom prst="rect">
            <a:avLst/>
          </a:prstGeom>
        </p:spPr>
      </p:pic>
      <p:sp>
        <p:nvSpPr>
          <p:cNvPr id="20" name="t20"/>
          <p:cNvSpPr txBox="1"/>
          <p:nvPr/>
        </p:nvSpPr>
        <p:spPr>
          <a:xfrm>
            <a:off x="6301740" y="2631797"/>
            <a:ext cx="511302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2D3EE"/>
                </a:solidFill>
                <a:latin typeface="Segoe UI"/>
                <a:cs typeface="Segoe UI"/>
              </a:rPr>
              <a:t>UC 3 · FROM THE ECR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6301740" y="4747411"/>
            <a:ext cx="51130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dirty="0">
                <a:solidFill>
                  <a:srgbClr val="8FA5C4"/>
                </a:solidFill>
                <a:latin typeface="Segoe UI"/>
                <a:cs typeface="Segoe UI"/>
              </a:rPr>
              <a:t>ECR (state Design) › Categories › ECOs &amp; ECs › Structure View › Actions › Create Product ECO…</a:t>
            </a:r>
          </a:p>
        </p:txBody>
      </p:sp>
      <p:sp>
        <p:nvSpPr>
          <p:cNvPr id="22" name="s22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3" name="t23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LINKING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Attach an existing ECO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4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TARGET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4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REFERENCE DOCUMENT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PDEF / PREA or DOC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MEMENTO Linking a Product to an ECO — 20061_17_01640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OA / LA (expected deliverable)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METHODOLOGY Linking an ECO to an Expected Object — 20061_16_01347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ECR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METHODOLOGY Add/Remove ECO under ECR — 20061_17_01982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0F2418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Shortcut: creating the ECO from the product identity card (UC 2) does the create + link in a single action.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MANAGEMENT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Put a due date on the approvals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31520" y="2304691"/>
            <a:ext cx="6899452" cy="3135586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50411"/>
            <a:ext cx="6808012" cy="3044146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905292" y="1847088"/>
            <a:ext cx="3509468" cy="40507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Identity card or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Categories › Lifecycle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› tab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Approvals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›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Edit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Column =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Due Date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, Value =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dd/MM/yy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, pick the day in the calendar.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Tick the RT / RAL lines ›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Apply to Selected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 (or Apply to all) ›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Done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Result: every RT and RAL task carries a visible deadline.</a:t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COLOURS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Neutral PDEF &amp; Diversity Manager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Defining colours requires a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“Neutral” PDEF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The Diversity Manager must be informed › put his ID on the ECO: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ECO identity card › Actions › Edit Details › field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Diversity Manager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› search the ID › submit.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Forget it and the promotion fails — see the next slide.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2A1418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No Diversity Manager ID = blocked system. Fill it at creation, not when the workflow stops.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TYPICAL CASE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PDEF under a PA with coloured products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7724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5" name="s15"/>
          <p:cNvSpPr/>
          <p:nvPr/>
        </p:nvSpPr>
        <p:spPr>
          <a:xfrm>
            <a:off x="777240" y="1847088"/>
            <a:ext cx="3362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97840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1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Revise the PDEF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unchanged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No RCD alert needed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Simplest path</a:t>
            </a:r>
          </a:p>
        </p:txBody>
      </p:sp>
      <p:sp>
        <p:nvSpPr>
          <p:cNvPr id="17" name="s17"/>
          <p:cNvSpPr/>
          <p:nvPr/>
        </p:nvSpPr>
        <p:spPr>
          <a:xfrm>
            <a:off x="441452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s18"/>
          <p:cNvSpPr/>
          <p:nvPr/>
        </p:nvSpPr>
        <p:spPr>
          <a:xfrm>
            <a:off x="4414520" y="1847088"/>
            <a:ext cx="336296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9" name="t19"/>
          <p:cNvSpPr txBox="1"/>
          <p:nvPr/>
        </p:nvSpPr>
        <p:spPr>
          <a:xfrm>
            <a:off x="461568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2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Non-interchangeable revision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changes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Alert the RCD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Diversity Manager ID required on the ECO</a:t>
            </a:r>
          </a:p>
        </p:txBody>
      </p:sp>
      <p:sp>
        <p:nvSpPr>
          <p:cNvPr id="20" name="s20"/>
          <p:cNvSpPr/>
          <p:nvPr/>
        </p:nvSpPr>
        <p:spPr>
          <a:xfrm>
            <a:off x="805180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1" name="s21"/>
          <p:cNvSpPr/>
          <p:nvPr/>
        </p:nvSpPr>
        <p:spPr>
          <a:xfrm>
            <a:off x="8051800" y="1847088"/>
            <a:ext cx="336296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2" name="t22"/>
          <p:cNvSpPr txBox="1"/>
          <p:nvPr/>
        </p:nvSpPr>
        <p:spPr>
          <a:xfrm>
            <a:off x="825296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3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Replace the PDEF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changes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Alert the RCD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Diversity Manager ID required on the ECO</a:t>
            </a:r>
          </a:p>
        </p:txBody>
      </p:sp>
      <p:sp>
        <p:nvSpPr>
          <p:cNvPr id="23" name="s23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For Evolutions 2 and 3 the Diversity Manager receives the alert e-mail only if his ID is on the ECO — otherwise the system blocks.</a:t>
            </a:r>
          </a:p>
        </p:txBody>
      </p:sp>
      <p:sp>
        <p:nvSpPr>
          <p:cNvPr id="24" name="s24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5" name="s2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6" name="t2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THE BLOCKER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Promotion failed: Neutral products connected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31520" y="1867498"/>
            <a:ext cx="6899452" cy="4009971"/>
          </a:xfrm>
          <a:prstGeom prst="rect">
            <a:avLst/>
          </a:prstGeom>
          <a:solidFill>
            <a:srgbClr val="FFFFFF"/>
          </a:solidFill>
          <a:ln w="12700">
            <a:solidFill>
              <a:srgbClr val="2B3D5C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pic>
        <p:nvPicPr>
          <p:cNvPr id="15" name="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13218"/>
            <a:ext cx="6808012" cy="3918531"/>
          </a:xfrm>
          <a:prstGeom prst="rect">
            <a:avLst/>
          </a:prstGeom>
        </p:spPr>
      </p:pic>
      <p:sp>
        <p:nvSpPr>
          <p:cNvPr id="16" name="t16"/>
          <p:cNvSpPr txBox="1"/>
          <p:nvPr/>
        </p:nvSpPr>
        <p:spPr>
          <a:xfrm>
            <a:off x="7905292" y="1847088"/>
            <a:ext cx="3509468" cy="40507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A coloured product (COL-…) sits next to the PDEF under the PA.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The ECO shows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Diversity Manager: Unassigned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Promotion is refused: </a:t>
            </a:r>
            <a:r>
              <a:rPr lang="en-US" sz="1300" b="1" dirty="0">
                <a:solidFill>
                  <a:srgbClr val="E2EAF6"/>
                </a:solidFill>
                <a:latin typeface="Segoe UI"/>
                <a:cs typeface="Segoe UI"/>
              </a:rPr>
              <a:t>“There are Neutral products connected to the ECO, you must enter a Diversity Manager ID”</a:t>
            </a: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56032" indent="-256032" algn="l">
              <a:lnSpc>
                <a:spcPct val="100000"/>
              </a:lnSpc>
              <a:spcBef>
                <a:spcPts val="7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300" dirty="0">
                <a:solidFill>
                  <a:srgbClr val="E2EAF6"/>
                </a:solidFill>
                <a:latin typeface="Segoe UI"/>
                <a:cs typeface="Segoe UI"/>
              </a:rPr>
              <a:t>Fix: Actions › Edit Details › set the Diversity Manager, then promote again.</a:t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TIPS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What experienced users do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513588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Create from the product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(UC 2) to avoid an orphan ECO.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Batch-create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when several parts share one change.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Call the Homologation Manager first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some breakdowns are exempt from RHN flows; the approver holds the list.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Fill Notification's context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on any JV / partner ECO, or the folder is never diffused.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6278880" y="1847088"/>
            <a:ext cx="513588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Set the Diversity Manager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as soon as colours are involved.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Fill every black field early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the window closes after Define Components.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Put due dates on RT and RAL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no date, no follow-up.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Check the ECR is in Design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before hunting for the Create Product ECO action.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TROUBLESHOOTING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Blockers and their fix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SYMPTOM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FIX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Cannot create the ECO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 red field is empty, or the role is wrong (PSA_Pilote_Projet / PSA_Concepteur).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Create Product ECO not available on the ECR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The ECR is not in state Design.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Cannot edit an attribute anymore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The ECO left Create / Define Components maturity.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 active manufacturing site in this project space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Project space not configured — contact the Project Owner (RPP / RPCR).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Promotion failed: Neutral products connected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Add the Diversity Manager ID (Actions › Edit Details).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Release refused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Missing Responsible Design Engineer, Homologation User, RT or RAL approvers.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VOCABULARY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Decoder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509016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ECO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Engineering Change Order — officialises a change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ECR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Engineering Change Request — upstream demand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PDEF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Defined Product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PREA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Realized Product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Expected Product (structure)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OA / LA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Expected object / expected deliverable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DOC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Document object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RT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Technical review workflow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6324600" y="1847088"/>
            <a:ext cx="509016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RAL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Deliverable approval review workflow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V / O / M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Impacts declared via the project space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CADER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Vehicle or Component code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DUD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Milestone (e.g. 1st pre-series vehicle)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RCD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Diversity/configuration referent to alert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RPP / RPCR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Project owner roles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FM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Change sheet in SAP / 3DCom (ECO equivalent)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Neutral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Colour-less PDEF required to define colours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WRAP-UP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Remember 5 things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84248"/>
            <a:ext cx="10637520" cy="320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01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The ECO is the gate: no ECO, no released product.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02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Prerequisites first — role, ECR in Design, RT/RAL templates.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03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Red fields to create, black fields before Define Components ends.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04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V/O/M = Project Space, never the Product Line.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05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Colours involved › Diversity Manager ID, or the system blocks.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777240" y="5440680"/>
            <a:ext cx="1063752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000" dirty="0">
                <a:solidFill>
                  <a:srgbClr val="6F87A8"/>
                </a:solidFill>
                <a:latin typeface="Segoe UI"/>
                <a:cs typeface="Segoe UI"/>
              </a:rPr>
              <a:t>Full procedure and screenshots: METHODOLOGY Creating a Product ECO — Ref. 20061_17_01638 v8.0 (17/04/2024). Related: 20061_17_01640, 20061_16_01347, 20061_17_01982.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">
  <a:themeElements>
    <a:clrScheme name="ECO">
      <a:dk1>
        <a:srgbClr val="0B1220"/>
      </a:dk1>
      <a:lt1>
        <a:srgbClr val="FFFFFF"/>
      </a:lt1>
      <a:dk2>
        <a:srgbClr val="16233A"/>
      </a:dk2>
      <a:lt2>
        <a:srgbClr val="E2EAF6"/>
      </a:lt2>
      <a:accent1>
        <a:srgbClr val="4F8DFF"/>
      </a:accent1>
      <a:accent2>
        <a:srgbClr val="22D3EE"/>
      </a:accent2>
      <a:accent3>
        <a:srgbClr val="34D399"/>
      </a:accent3>
      <a:accent4>
        <a:srgbClr val="FBBF24"/>
      </a:accent4>
      <a:accent5>
        <a:srgbClr val="F87171"/>
      </a:accent5>
      <a:accent6>
        <a:srgbClr val="93A8C6"/>
      </a:accent6>
      <a:hlink>
        <a:srgbClr val="22D3EE"/>
      </a:hlink>
      <a:folHlink>
        <a:srgbClr val="93A8C6"/>
      </a:folHlink>
    </a:clrScheme>
    <a:fontScheme name="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E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  <a:solidFill>
          <a:schemeClr val="phClr">
            <a:shade val="9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Slides>21</Slides>
  <Application>Kiro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Product ECO — Engineering Change Order in PLM — what everyone must know</dc:title>
  <dc:subject>PLM Methodology · Ref. 20061_17_01638 · v8.0 · 17/04/2024</dc:subject>
  <dcterms:created xsi:type="dcterms:W3CDTF">2026-09-12T00:00:00Z</dcterms:created>
</cp:coreProperties>
</file>