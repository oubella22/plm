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2" r:id="rId2"/>
    <p:sldId id="340" r:id="rId3"/>
    <p:sldId id="33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B8404-EE2A-4B07-A311-0AEDA03DA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48142-3A63-427F-9451-FE9A61E64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B31CB-04B1-422E-A249-3F2A9C0CD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C1C3-EA88-4916-90D7-902F4FFE7FF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540E2-F49F-4003-9FA1-EEE58AE3D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4DD12-C8D1-430F-82ED-36906B4B0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27947-F0ED-43EC-956D-85972FD8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20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F1580-0DAB-4122-9332-EB6741240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BF167-5BB8-46F8-A079-C90077474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B2514-12A6-4654-9633-9D7F0C823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C1C3-EA88-4916-90D7-902F4FFE7FF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6600F-87A8-47E7-AEDA-C0F6CBF9B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8E1BB-1637-40F1-853F-2C9769A5D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27947-F0ED-43EC-956D-85972FD8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7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30359-F6A9-4DD5-995D-4FB5589D2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C2B61-2AA9-496A-B8CF-ABAAED54F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0065A-D255-494A-8EE9-B7198CDDC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C1C3-EA88-4916-90D7-902F4FFE7FF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F49F3-F744-4C39-AADD-13D7D36C0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2182A-28A4-4317-B1C3-5837C55BD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27947-F0ED-43EC-956D-85972FD8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2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4BA0A-6563-4CE8-9EFC-A68C04A26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46502-DF1A-4146-AF09-14FCDD17A5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86C3C-4AC1-43B3-AC2A-C88C25D75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ABCC0-89AB-4629-9466-71DC30818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C1C3-EA88-4916-90D7-902F4FFE7FF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5E3EE-5A8B-4F14-BB0D-09F75EC89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CEE64-13D2-4640-BD34-AB596A2DF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27947-F0ED-43EC-956D-85972FD8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48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1D87E-BEED-4AB2-86AA-22442908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52F74-051D-41AE-800B-E9EBF94F6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842CA-19EA-4855-AB30-ACBC6B6BA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A212C8-6167-4851-BD8A-71755D74E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4D63A-36D2-484F-8D85-792BF34E4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B765A-C6AD-4730-9E2C-ED80AFBE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C1C3-EA88-4916-90D7-902F4FFE7FF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F5FF1E-584D-480F-9CF8-E1F127741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F78557-1B89-40A5-9FF8-36B2A8A49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27947-F0ED-43EC-956D-85972FD8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21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0666F-A683-42D5-8F85-B256D2823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93AFDE-D2C5-486E-A3A1-2EF271631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C1C3-EA88-4916-90D7-902F4FFE7FF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AC28E-3A65-4B77-A2B2-576A2C1E1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F89E90-1D19-4D46-B93F-21D98EE76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27947-F0ED-43EC-956D-85972FD8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77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3C704-B7A0-4363-B008-F2D6C02D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C1C3-EA88-4916-90D7-902F4FFE7FF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C32917-362B-45C8-BE0B-D38158EF4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C7A09-1B1B-4424-8779-3FEDFAD0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27947-F0ED-43EC-956D-85972FD8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19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6D56B-8063-4F89-B7BE-E13E0163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B6891-D6E1-43FA-BD8C-36428CA56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380B4-A8EA-4B7A-84AF-42250E2A9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92F0D-21BE-4F26-8828-525D0731F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C1C3-EA88-4916-90D7-902F4FFE7FF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764A6-FC4C-4E52-A2B0-FECB9FB9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8F40E-9B95-4274-82B6-5CBF325C5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27947-F0ED-43EC-956D-85972FD8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31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7E8C-C41C-43AA-A610-804579954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DD1A00-C765-473E-8FDE-5436AE4592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041C8-3324-4D39-BF65-DBC3B8BA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78D5E-15FF-465E-9B71-BE55FCFFE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C1C3-EA88-4916-90D7-902F4FFE7FF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BE074-F800-41CC-BFED-6A6EFF1B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70FDB-7F63-43C5-8F9F-D5B9E54A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27947-F0ED-43EC-956D-85972FD8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75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E3282-51E7-497B-9F05-7E5B27520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2AC7C-F8D3-4C30-BAF5-025253FAB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B6C55-759E-4C9A-B2B3-77DFAA64C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C1C3-EA88-4916-90D7-902F4FFE7FF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A82E6-9B94-497B-89BA-4156D419F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91F8-691C-44DC-ADC5-6901A522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27947-F0ED-43EC-956D-85972FD8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6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850AEF-EF83-48B2-80E5-7AAB417EFE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9E07E-2047-4A0E-B2AD-43D84ABF9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D6569-2697-4372-ABAE-D397A488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C1C3-EA88-4916-90D7-902F4FFE7FF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C9306-69A7-42FB-97B9-C53D6AEF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BD044-4575-46FF-8B78-14BD25022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27947-F0ED-43EC-956D-85972FD8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6"/>
          <p:cNvSpPr>
            <a:spLocks noChangeArrowheads="1"/>
          </p:cNvSpPr>
          <p:nvPr userDrawn="1"/>
        </p:nvSpPr>
        <p:spPr bwMode="auto">
          <a:xfrm>
            <a:off x="0" y="765175"/>
            <a:ext cx="12192000" cy="298450"/>
          </a:xfrm>
          <a:prstGeom prst="actionButtonBlank">
            <a:avLst/>
          </a:prstGeom>
          <a:solidFill>
            <a:srgbClr val="757575"/>
          </a:solidFill>
          <a:ln>
            <a:noFill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fr-FR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3" name="Rectangle 4"/>
          <p:cNvSpPr txBox="1">
            <a:spLocks noChangeArrowheads="1"/>
          </p:cNvSpPr>
          <p:nvPr userDrawn="1"/>
        </p:nvSpPr>
        <p:spPr>
          <a:xfrm>
            <a:off x="5283200" y="345123"/>
            <a:ext cx="6891867" cy="36671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400" b="1" dirty="0">
                <a:latin typeface="Arial" charset="0"/>
                <a:cs typeface="Arial" charset="0"/>
              </a:rPr>
              <a:t>FIM PLM Proto Planification</a:t>
            </a:r>
            <a:r>
              <a:rPr lang="fr-FR" sz="1400" b="1" baseline="0" dirty="0">
                <a:latin typeface="Arial" charset="0"/>
                <a:cs typeface="Arial" charset="0"/>
              </a:rPr>
              <a:t> PLM</a:t>
            </a:r>
            <a:endParaRPr lang="fr-FR" sz="1400" b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62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FB0017-1552-4A3B-851B-A52866BED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B6768-E214-4D58-B8B9-1712361A3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EB57D-801C-453A-8D5D-0E3B39AD3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AC1C3-EA88-4916-90D7-902F4FFE7FF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71865-31DD-4EC3-A015-BA4934CA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E35AA-E304-4E15-B35E-E7EC4347C8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27947-F0ED-43EC-956D-85972FD8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8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wmf"/><Relationship Id="rId4" Type="http://schemas.openxmlformats.org/officeDocument/2006/relationships/hyperlink" Target="https://plmpassport.inetpsa.com/index.php/hom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plm.inetpsa.com/enovia/common/emxNavigator.js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DA31E8F-0F54-4499-9346-3733F435546A}"/>
              </a:ext>
            </a:extLst>
          </p:cNvPr>
          <p:cNvSpPr txBox="1"/>
          <p:nvPr/>
        </p:nvSpPr>
        <p:spPr>
          <a:xfrm>
            <a:off x="109711" y="726203"/>
            <a:ext cx="632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Log in to PLM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5FE883-4B00-6BD7-560F-93DE83C1D649}"/>
              </a:ext>
            </a:extLst>
          </p:cNvPr>
          <p:cNvSpPr/>
          <p:nvPr/>
        </p:nvSpPr>
        <p:spPr>
          <a:xfrm>
            <a:off x="191344" y="1105736"/>
            <a:ext cx="1198436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</a:pPr>
            <a:r>
              <a:rPr lang="fr-FR" sz="2200" kern="0" dirty="0" err="1">
                <a:solidFill>
                  <a:srgbClr val="17375E"/>
                </a:solidFill>
                <a:latin typeface="Calibri"/>
                <a:ea typeface="Times" pitchFamily="18" charset="0"/>
                <a:cs typeface="Segoe UI" panose="020B0502040204020203" pitchFamily="34" charset="0"/>
              </a:rPr>
              <a:t>Before</a:t>
            </a:r>
            <a:r>
              <a:rPr lang="fr-FR" sz="2200" kern="0" dirty="0">
                <a:solidFill>
                  <a:srgbClr val="17375E"/>
                </a:solidFill>
                <a:latin typeface="Calibri"/>
                <a:ea typeface="Times" pitchFamily="18" charset="0"/>
                <a:cs typeface="Segoe UI" panose="020B0502040204020203" pitchFamily="34" charset="0"/>
              </a:rPr>
              <a:t> </a:t>
            </a:r>
            <a:r>
              <a:rPr lang="fr-FR" sz="2200" kern="0" dirty="0" err="1">
                <a:solidFill>
                  <a:srgbClr val="17375E"/>
                </a:solidFill>
                <a:latin typeface="Calibri"/>
                <a:ea typeface="Times" pitchFamily="18" charset="0"/>
                <a:cs typeface="Segoe UI" panose="020B0502040204020203" pitchFamily="34" charset="0"/>
              </a:rPr>
              <a:t>you</a:t>
            </a:r>
            <a:r>
              <a:rPr lang="fr-FR" sz="2200" kern="0" dirty="0">
                <a:solidFill>
                  <a:srgbClr val="17375E"/>
                </a:solidFill>
                <a:latin typeface="Calibri"/>
                <a:ea typeface="Times" pitchFamily="18" charset="0"/>
                <a:cs typeface="Segoe UI" panose="020B0502040204020203" pitchFamily="34" charset="0"/>
              </a:rPr>
              <a:t> log in:</a:t>
            </a:r>
            <a:endParaRPr lang="fr-FR" sz="18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r>
              <a:rPr lang="fr-FR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	2. </a:t>
            </a:r>
            <a:r>
              <a:rPr lang="fr-FR" sz="2000" b="1" i="1" u="sng" dirty="0">
                <a:solidFill>
                  <a:srgbClr val="000000"/>
                </a:solidFill>
                <a:latin typeface="Trebuchet MS" panose="020B0603020202020204" pitchFamily="34" charset="0"/>
              </a:rPr>
              <a:t>Security </a:t>
            </a:r>
            <a:r>
              <a:rPr lang="fr-FR" sz="2000" b="1" i="1" u="sng" dirty="0" err="1">
                <a:solidFill>
                  <a:srgbClr val="000000"/>
                </a:solidFill>
                <a:latin typeface="Trebuchet MS" panose="020B0603020202020204" pitchFamily="34" charset="0"/>
              </a:rPr>
              <a:t>Context</a:t>
            </a:r>
            <a:endParaRPr lang="fr-FR" sz="2000" b="1" i="1" u="sng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r>
              <a:rPr lang="fr-FR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To use PLM, you need a Security Context that grants you creation rights in PLM based on your role and the project you are working on.</a:t>
            </a:r>
            <a:endParaRPr lang="fr-FR" sz="18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endParaRPr lang="fr-FR" sz="18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For creating the expected prototypes, you need a “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rebuchet MS" panose="020B0603020202020204" pitchFamily="34" charset="0"/>
              </a:rPr>
              <a:t>PiloteProjet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” role, a “PSA” organization, and the project you are required to work on.</a:t>
            </a:r>
            <a:endParaRPr lang="fr-FR" sz="18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endParaRPr lang="fr-FR" sz="18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endParaRPr lang="fr-FR" sz="18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endParaRPr lang="fr-FR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endParaRPr lang="fr-FR" sz="18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Trebuchet MS" panose="020B0603020202020204" pitchFamily="34" charset="0"/>
              </a:rPr>
              <a:t>	-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You can only use one Security Context per project (if you change project = you change Security 	Context).</a:t>
            </a:r>
            <a:endParaRPr lang="fr-FR" sz="18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endParaRPr lang="fr-FR" sz="18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For contractors, your STELLANTIS client is the one who makes the request.</a:t>
            </a:r>
            <a:endParaRPr lang="fr-FR" sz="18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endParaRPr lang="fr-FR" sz="18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r>
              <a:rPr lang="fr-FR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To request a Security Context for yourself or for a colleague, connect to:</a:t>
            </a:r>
            <a:endParaRPr lang="fr-FR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746A0715-9C9D-EE16-0353-E42B538D67AB}"/>
              </a:ext>
            </a:extLst>
          </p:cNvPr>
          <p:cNvGrpSpPr/>
          <p:nvPr/>
        </p:nvGrpSpPr>
        <p:grpSpPr>
          <a:xfrm>
            <a:off x="3610413" y="3420955"/>
            <a:ext cx="2888061" cy="689734"/>
            <a:chOff x="231762" y="5007843"/>
            <a:chExt cx="2888061" cy="727670"/>
          </a:xfrm>
        </p:grpSpPr>
        <p:sp>
          <p:nvSpPr>
            <p:cNvPr id="10" name="Parenthèse ouvrante 9">
              <a:extLst>
                <a:ext uri="{FF2B5EF4-FFF2-40B4-BE49-F238E27FC236}">
                  <a16:creationId xmlns:a16="http://schemas.microsoft.com/office/drawing/2014/main" id="{90285D99-FAB7-9D55-2732-8DDAFD819380}"/>
                </a:ext>
              </a:extLst>
            </p:cNvPr>
            <p:cNvSpPr/>
            <p:nvPr/>
          </p:nvSpPr>
          <p:spPr>
            <a:xfrm rot="16200000">
              <a:off x="1789959" y="4909636"/>
              <a:ext cx="122624" cy="337063"/>
            </a:xfrm>
            <a:prstGeom prst="leftBracket">
              <a:avLst/>
            </a:prstGeom>
            <a:ln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Parenthèse ouvrante 10">
              <a:extLst>
                <a:ext uri="{FF2B5EF4-FFF2-40B4-BE49-F238E27FC236}">
                  <a16:creationId xmlns:a16="http://schemas.microsoft.com/office/drawing/2014/main" id="{5EE61EBD-483A-25C6-D533-5E8AFCB63F88}"/>
                </a:ext>
              </a:extLst>
            </p:cNvPr>
            <p:cNvSpPr/>
            <p:nvPr/>
          </p:nvSpPr>
          <p:spPr>
            <a:xfrm rot="16200000">
              <a:off x="2177310" y="4900623"/>
              <a:ext cx="122624" cy="337063"/>
            </a:xfrm>
            <a:prstGeom prst="leftBracket">
              <a:avLst/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à coins arrondis 6">
              <a:extLst>
                <a:ext uri="{FF2B5EF4-FFF2-40B4-BE49-F238E27FC236}">
                  <a16:creationId xmlns:a16="http://schemas.microsoft.com/office/drawing/2014/main" id="{14ED752F-625F-D683-3B6A-57B854B12FCD}"/>
                </a:ext>
              </a:extLst>
            </p:cNvPr>
            <p:cNvSpPr/>
            <p:nvPr/>
          </p:nvSpPr>
          <p:spPr>
            <a:xfrm>
              <a:off x="231762" y="5460154"/>
              <a:ext cx="855407" cy="2734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100" dirty="0"/>
                <a:t>PSA </a:t>
              </a:r>
              <a:r>
                <a:rPr lang="fr-FR" sz="1100" dirty="0" err="1"/>
                <a:t>role</a:t>
              </a:r>
              <a:endParaRPr lang="en-US" sz="1100" dirty="0"/>
            </a:p>
          </p:txBody>
        </p:sp>
        <p:sp>
          <p:nvSpPr>
            <p:cNvPr id="13" name="Rectangle à coins arrondis 7">
              <a:extLst>
                <a:ext uri="{FF2B5EF4-FFF2-40B4-BE49-F238E27FC236}">
                  <a16:creationId xmlns:a16="http://schemas.microsoft.com/office/drawing/2014/main" id="{7BCCD981-9A09-B041-35B9-3DDD37AEADF1}"/>
                </a:ext>
              </a:extLst>
            </p:cNvPr>
            <p:cNvSpPr/>
            <p:nvPr/>
          </p:nvSpPr>
          <p:spPr>
            <a:xfrm>
              <a:off x="1180950" y="5447481"/>
              <a:ext cx="1057673" cy="288032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100" dirty="0" err="1"/>
                <a:t>Organization</a:t>
              </a:r>
              <a:endParaRPr lang="en-US" sz="1100" dirty="0"/>
            </a:p>
          </p:txBody>
        </p:sp>
        <p:sp>
          <p:nvSpPr>
            <p:cNvPr id="14" name="Rectangle à coins arrondis 8">
              <a:extLst>
                <a:ext uri="{FF2B5EF4-FFF2-40B4-BE49-F238E27FC236}">
                  <a16:creationId xmlns:a16="http://schemas.microsoft.com/office/drawing/2014/main" id="{B73B2823-6C90-674C-7891-34F3A9BE3B57}"/>
                </a:ext>
              </a:extLst>
            </p:cNvPr>
            <p:cNvSpPr/>
            <p:nvPr/>
          </p:nvSpPr>
          <p:spPr>
            <a:xfrm>
              <a:off x="2364701" y="5445546"/>
              <a:ext cx="755122" cy="288032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200" dirty="0"/>
                <a:t>Project</a:t>
              </a:r>
              <a:endParaRPr lang="en-US" sz="1200" dirty="0"/>
            </a:p>
          </p:txBody>
        </p:sp>
        <p:cxnSp>
          <p:nvCxnSpPr>
            <p:cNvPr id="15" name="Connecteur droit avec flèche 14">
              <a:extLst>
                <a:ext uri="{FF2B5EF4-FFF2-40B4-BE49-F238E27FC236}">
                  <a16:creationId xmlns:a16="http://schemas.microsoft.com/office/drawing/2014/main" id="{A3A9B3C1-DA88-C149-F658-3329F0DA5A1C}"/>
                </a:ext>
              </a:extLst>
            </p:cNvPr>
            <p:cNvCxnSpPr>
              <a:stCxn id="12" idx="0"/>
            </p:cNvCxnSpPr>
            <p:nvPr/>
          </p:nvCxnSpPr>
          <p:spPr>
            <a:xfrm flipV="1">
              <a:off x="659466" y="5138732"/>
              <a:ext cx="259941" cy="32142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181EFFFE-558F-86A7-CB7E-0E7C85EB2453}"/>
                </a:ext>
              </a:extLst>
            </p:cNvPr>
            <p:cNvCxnSpPr>
              <a:stCxn id="13" idx="0"/>
              <a:endCxn id="10" idx="1"/>
            </p:cNvCxnSpPr>
            <p:nvPr/>
          </p:nvCxnSpPr>
          <p:spPr>
            <a:xfrm flipV="1">
              <a:off x="1709787" y="5139480"/>
              <a:ext cx="141485" cy="30800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Connecteur droit avec flèche 16">
              <a:extLst>
                <a:ext uri="{FF2B5EF4-FFF2-40B4-BE49-F238E27FC236}">
                  <a16:creationId xmlns:a16="http://schemas.microsoft.com/office/drawing/2014/main" id="{7CA94A02-B4C9-8A55-1976-D006A4AE7BEB}"/>
                </a:ext>
              </a:extLst>
            </p:cNvPr>
            <p:cNvCxnSpPr>
              <a:stCxn id="14" idx="0"/>
              <a:endCxn id="11" idx="1"/>
            </p:cNvCxnSpPr>
            <p:nvPr/>
          </p:nvCxnSpPr>
          <p:spPr>
            <a:xfrm flipH="1" flipV="1">
              <a:off x="2238623" y="5130467"/>
              <a:ext cx="503639" cy="31507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pic>
        <p:nvPicPr>
          <p:cNvPr id="18" name="Image 17">
            <a:extLst>
              <a:ext uri="{FF2B5EF4-FFF2-40B4-BE49-F238E27FC236}">
                <a16:creationId xmlns:a16="http://schemas.microsoft.com/office/drawing/2014/main" id="{7E5B3135-5386-0832-C140-15BDF0F32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760" y="3219476"/>
            <a:ext cx="1933333" cy="209524"/>
          </a:xfrm>
          <a:prstGeom prst="rect">
            <a:avLst/>
          </a:prstGeom>
        </p:spPr>
      </p:pic>
      <p:sp>
        <p:nvSpPr>
          <p:cNvPr id="19" name="ZoneTexte 125"/>
          <p:cNvSpPr txBox="1"/>
          <p:nvPr/>
        </p:nvSpPr>
        <p:spPr>
          <a:xfrm>
            <a:off x="8976320" y="5585937"/>
            <a:ext cx="2016224" cy="7386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PLM access requests must be made in</a:t>
            </a:r>
          </a:p>
          <a:p>
            <a:pPr algn="ctr"/>
            <a:r>
              <a:rPr lang="fr-FR" sz="1400" b="1" dirty="0" err="1">
                <a:solidFill>
                  <a:srgbClr val="00B050"/>
                </a:solidFill>
                <a:hlinkClick r:id="rId4"/>
              </a:rPr>
              <a:t>PLMPassport</a:t>
            </a:r>
            <a:endParaRPr lang="fr-FR" sz="1400" b="1" dirty="0">
              <a:solidFill>
                <a:srgbClr val="00B050"/>
              </a:solidFill>
            </a:endParaRPr>
          </a:p>
        </p:txBody>
      </p:sp>
      <p:pic>
        <p:nvPicPr>
          <p:cNvPr id="20" name="Picture 6" descr="j029323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0" y="5585937"/>
            <a:ext cx="674687" cy="49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j0293236">
            <a:extLst>
              <a:ext uri="{FF2B5EF4-FFF2-40B4-BE49-F238E27FC236}">
                <a16:creationId xmlns:a16="http://schemas.microsoft.com/office/drawing/2014/main" id="{BB3B2DAD-A15A-7064-06E9-5F57DD276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2" y="4221088"/>
            <a:ext cx="674687" cy="49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j0293236">
            <a:extLst>
              <a:ext uri="{FF2B5EF4-FFF2-40B4-BE49-F238E27FC236}">
                <a16:creationId xmlns:a16="http://schemas.microsoft.com/office/drawing/2014/main" id="{76ECE1BB-F58F-7AF7-5908-3D0B40CAF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1" y="4869160"/>
            <a:ext cx="674687" cy="49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outon d'action : Accueil 16">
            <a:hlinkClick r:id="" action="ppaction://noaction"/>
            <a:extLst>
              <a:ext uri="{FF2B5EF4-FFF2-40B4-BE49-F238E27FC236}">
                <a16:creationId xmlns:a16="http://schemas.microsoft.com/office/drawing/2014/main" id="{F1341925-DBC5-5249-A1A0-01C08417D5D5}"/>
              </a:ext>
            </a:extLst>
          </p:cNvPr>
          <p:cNvSpPr/>
          <p:nvPr/>
        </p:nvSpPr>
        <p:spPr>
          <a:xfrm>
            <a:off x="10344472" y="364001"/>
            <a:ext cx="432048" cy="369331"/>
          </a:xfrm>
          <a:prstGeom prst="actionButtonHome">
            <a:avLst/>
          </a:prstGeom>
          <a:gradFill>
            <a:gsLst>
              <a:gs pos="0">
                <a:srgbClr val="1E2336">
                  <a:lumMod val="5000"/>
                  <a:lumOff val="95000"/>
                </a:srgbClr>
              </a:gs>
              <a:gs pos="74000">
                <a:srgbClr val="1E2336">
                  <a:lumMod val="45000"/>
                  <a:lumOff val="55000"/>
                </a:srgbClr>
              </a:gs>
              <a:gs pos="83000">
                <a:srgbClr val="1E2336">
                  <a:lumMod val="45000"/>
                  <a:lumOff val="55000"/>
                </a:srgbClr>
              </a:gs>
              <a:gs pos="100000">
                <a:srgbClr val="1E2336">
                  <a:lumMod val="30000"/>
                  <a:lumOff val="70000"/>
                </a:srgbClr>
              </a:gs>
            </a:gsLst>
            <a:lin ang="5400000" scaled="1"/>
          </a:gradFill>
          <a:ln w="25400" cap="flat" cmpd="sng" algn="ctr">
            <a:solidFill>
              <a:srgbClr val="7BA7BC">
                <a:lumMod val="40000"/>
                <a:lumOff val="6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149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548297" y="1208616"/>
            <a:ext cx="8557336" cy="390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</a:pPr>
            <a:r>
              <a:rPr lang="fr-FR" sz="2200" kern="0" dirty="0">
                <a:solidFill>
                  <a:srgbClr val="17375E"/>
                </a:solidFill>
                <a:latin typeface="Calibri"/>
                <a:cs typeface="Segoe UI" panose="020B0502040204020203" pitchFamily="34" charset="0"/>
              </a:rPr>
              <a:t>How to </a:t>
            </a:r>
            <a:r>
              <a:rPr lang="fr-FR" sz="2200" kern="0" dirty="0" err="1">
                <a:solidFill>
                  <a:srgbClr val="17375E"/>
                </a:solidFill>
                <a:latin typeface="Calibri"/>
                <a:cs typeface="Segoe UI" panose="020B0502040204020203" pitchFamily="34" charset="0"/>
              </a:rPr>
              <a:t>connect</a:t>
            </a:r>
            <a:r>
              <a:rPr lang="fr-FR" sz="2200" kern="0" dirty="0">
                <a:solidFill>
                  <a:srgbClr val="17375E"/>
                </a:solidFill>
                <a:latin typeface="Calibri"/>
                <a:cs typeface="Segoe UI" panose="020B0502040204020203" pitchFamily="34" charset="0"/>
              </a:rPr>
              <a:t>?</a:t>
            </a:r>
          </a:p>
          <a:p>
            <a:pPr marL="723900" lvl="1" indent="-266700" algn="just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</a:pPr>
            <a:r>
              <a:rPr lang="fr-FR" sz="2200" kern="0" dirty="0">
                <a:solidFill>
                  <a:srgbClr val="17375E"/>
                </a:solidFill>
                <a:latin typeface="Calibri"/>
                <a:cs typeface="Segoe UI" panose="020B0502040204020203" pitchFamily="34" charset="0"/>
              </a:rPr>
              <a:t>Access:</a:t>
            </a:r>
          </a:p>
          <a:p>
            <a:pPr marL="1257300" lvl="2" indent="-342900" algn="just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rgbClr val="17375E"/>
                </a:solidFill>
                <a:latin typeface="Calibri"/>
                <a:cs typeface="Segoe UI" panose="020B0502040204020203" pitchFamily="34" charset="0"/>
              </a:rPr>
              <a:t>From the PLM icon in the CFAO palette on psa.com/</a:t>
            </a:r>
            <a:endParaRPr lang="fr-FR" sz="2200" kern="0" dirty="0">
              <a:solidFill>
                <a:srgbClr val="17375E"/>
              </a:solidFill>
              <a:latin typeface="Calibri"/>
              <a:cs typeface="Segoe UI" panose="020B0502040204020203" pitchFamily="34" charset="0"/>
            </a:endParaRPr>
          </a:p>
          <a:p>
            <a:pPr marL="1257300" lvl="2" indent="-342900" algn="just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endParaRPr lang="fr-FR" sz="2000" kern="0" dirty="0">
              <a:solidFill>
                <a:srgbClr val="17375E"/>
              </a:solidFill>
              <a:latin typeface="Calibri"/>
              <a:cs typeface="Segoe UI" panose="020B0502040204020203" pitchFamily="34" charset="0"/>
            </a:endParaRPr>
          </a:p>
          <a:p>
            <a:pPr lvl="2" algn="just" fontAlgn="base">
              <a:spcBef>
                <a:spcPct val="20000"/>
              </a:spcBef>
              <a:spcAft>
                <a:spcPct val="0"/>
              </a:spcAft>
              <a:buSzPct val="100000"/>
            </a:pPr>
            <a:endParaRPr lang="fr-FR" sz="2000" kern="0" dirty="0">
              <a:solidFill>
                <a:srgbClr val="17375E"/>
              </a:solidFill>
              <a:latin typeface="Calibri"/>
              <a:cs typeface="Segoe UI" panose="020B0502040204020203" pitchFamily="34" charset="0"/>
            </a:endParaRPr>
          </a:p>
          <a:p>
            <a:pPr lvl="2" algn="just" fontAlgn="base">
              <a:spcBef>
                <a:spcPct val="20000"/>
              </a:spcBef>
              <a:spcAft>
                <a:spcPct val="0"/>
              </a:spcAft>
              <a:buSzPct val="100000"/>
            </a:pPr>
            <a:endParaRPr lang="fr-FR" sz="2000" kern="0" dirty="0">
              <a:solidFill>
                <a:srgbClr val="17375E"/>
              </a:solidFill>
              <a:latin typeface="Calibri"/>
              <a:cs typeface="Segoe UI" panose="020B0502040204020203" pitchFamily="34" charset="0"/>
            </a:endParaRPr>
          </a:p>
          <a:p>
            <a:pPr lvl="2" algn="just" fontAlgn="base">
              <a:spcBef>
                <a:spcPct val="20000"/>
              </a:spcBef>
              <a:spcAft>
                <a:spcPct val="0"/>
              </a:spcAft>
              <a:buSzPct val="100000"/>
            </a:pPr>
            <a:endParaRPr lang="fr-FR" sz="2000" kern="0" dirty="0">
              <a:solidFill>
                <a:srgbClr val="17375E"/>
              </a:solidFill>
              <a:latin typeface="Calibri"/>
              <a:cs typeface="Segoe UI" panose="020B0502040204020203" pitchFamily="34" charset="0"/>
            </a:endParaRPr>
          </a:p>
          <a:p>
            <a:pPr marL="1257300" lvl="2" indent="-342900" algn="just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rgbClr val="17375E"/>
                </a:solidFill>
                <a:latin typeface="Calibri"/>
                <a:cs typeface="Segoe UI" panose="020B0502040204020203" pitchFamily="34" charset="0"/>
              </a:rPr>
              <a:t>or directly via the intranet address</a:t>
            </a:r>
          </a:p>
          <a:p>
            <a:pPr lvl="2" algn="just" fontAlgn="base">
              <a:spcBef>
                <a:spcPct val="20000"/>
              </a:spcBef>
              <a:spcAft>
                <a:spcPct val="0"/>
              </a:spcAft>
              <a:buSzPct val="100000"/>
            </a:pPr>
            <a:r>
              <a:rPr lang="fr-FR" sz="2000" dirty="0">
                <a:hlinkClick r:id="rId3"/>
              </a:rPr>
              <a:t>http://plm.inetpsa.com/enovia/common/emxNavigator.jsp</a:t>
            </a:r>
            <a:endParaRPr lang="fr-FR" sz="2000" kern="0" dirty="0">
              <a:solidFill>
                <a:srgbClr val="17375E"/>
              </a:solidFill>
              <a:latin typeface="Calibri"/>
              <a:cs typeface="Segoe UI" panose="020B0502040204020203" pitchFamily="34" charset="0"/>
            </a:endParaRPr>
          </a:p>
          <a:p>
            <a:pPr lvl="0" algn="just" fontAlgn="base">
              <a:spcBef>
                <a:spcPct val="20000"/>
              </a:spcBef>
              <a:spcAft>
                <a:spcPct val="0"/>
              </a:spcAft>
              <a:buSzPct val="100000"/>
            </a:pPr>
            <a:endParaRPr lang="fr-FR" sz="2200" kern="0" dirty="0">
              <a:solidFill>
                <a:srgbClr val="17375E"/>
              </a:solidFill>
              <a:latin typeface="Calibri"/>
              <a:ea typeface="Times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944" y="1801948"/>
            <a:ext cx="3001811" cy="1699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ZoneTexte 18"/>
          <p:cNvSpPr txBox="1"/>
          <p:nvPr/>
        </p:nvSpPr>
        <p:spPr>
          <a:xfrm>
            <a:off x="16295" y="736404"/>
            <a:ext cx="632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Log in to PLM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8B9EB70-6692-AD89-0FB2-A89F5EC05A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2356" y="3789040"/>
            <a:ext cx="3010432" cy="2249173"/>
          </a:xfrm>
          <a:prstGeom prst="rect">
            <a:avLst/>
          </a:prstGeom>
        </p:spPr>
      </p:pic>
      <p:sp>
        <p:nvSpPr>
          <p:cNvPr id="2" name="Bouton d'action : Accueil 16">
            <a:hlinkClick r:id="" action="ppaction://noaction"/>
            <a:extLst>
              <a:ext uri="{FF2B5EF4-FFF2-40B4-BE49-F238E27FC236}">
                <a16:creationId xmlns:a16="http://schemas.microsoft.com/office/drawing/2014/main" id="{C1BD4600-6CBA-4064-781B-35C158296A22}"/>
              </a:ext>
            </a:extLst>
          </p:cNvPr>
          <p:cNvSpPr/>
          <p:nvPr/>
        </p:nvSpPr>
        <p:spPr>
          <a:xfrm>
            <a:off x="10344472" y="364001"/>
            <a:ext cx="432048" cy="369331"/>
          </a:xfrm>
          <a:prstGeom prst="actionButtonHome">
            <a:avLst/>
          </a:prstGeom>
          <a:gradFill>
            <a:gsLst>
              <a:gs pos="0">
                <a:srgbClr val="1E2336">
                  <a:lumMod val="5000"/>
                  <a:lumOff val="95000"/>
                </a:srgbClr>
              </a:gs>
              <a:gs pos="74000">
                <a:srgbClr val="1E2336">
                  <a:lumMod val="45000"/>
                  <a:lumOff val="55000"/>
                </a:srgbClr>
              </a:gs>
              <a:gs pos="83000">
                <a:srgbClr val="1E2336">
                  <a:lumMod val="45000"/>
                  <a:lumOff val="55000"/>
                </a:srgbClr>
              </a:gs>
              <a:gs pos="100000">
                <a:srgbClr val="1E2336">
                  <a:lumMod val="30000"/>
                  <a:lumOff val="70000"/>
                </a:srgbClr>
              </a:gs>
            </a:gsLst>
            <a:lin ang="5400000" scaled="1"/>
          </a:gradFill>
          <a:ln w="25400" cap="flat" cmpd="sng" algn="ctr">
            <a:solidFill>
              <a:srgbClr val="7BA7BC">
                <a:lumMod val="40000"/>
                <a:lumOff val="6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024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2" y="2359664"/>
            <a:ext cx="5181331" cy="324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à coins arrondis 3"/>
          <p:cNvSpPr/>
          <p:nvPr/>
        </p:nvSpPr>
        <p:spPr>
          <a:xfrm>
            <a:off x="3863752" y="2359663"/>
            <a:ext cx="1546942" cy="325670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dirty="0">
              <a:solidFill>
                <a:prstClr val="black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5707615" y="2369657"/>
            <a:ext cx="1512168" cy="312720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dirty="0">
              <a:solidFill>
                <a:prstClr val="black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8489456" y="2355190"/>
            <a:ext cx="555627" cy="317483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dirty="0">
              <a:solidFill>
                <a:prstClr val="black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3191547" y="3788204"/>
            <a:ext cx="1577373" cy="600709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lphaUcPeriod"/>
            </a:pPr>
            <a:r>
              <a:rPr lang="fr-FR" sz="1000" dirty="0" err="1">
                <a:solidFill>
                  <a:prstClr val="black"/>
                </a:solidFill>
              </a:rPr>
              <a:t>Toolbar</a:t>
            </a:r>
            <a:endParaRPr lang="fr-FR" sz="1000" dirty="0">
              <a:solidFill>
                <a:prstClr val="black"/>
              </a:solidFill>
            </a:endParaRP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lphaUcPeriod"/>
            </a:pPr>
            <a:r>
              <a:rPr lang="fr-FR" sz="1000" dirty="0" err="1">
                <a:solidFill>
                  <a:prstClr val="black"/>
                </a:solidFill>
              </a:rPr>
              <a:t>Search</a:t>
            </a:r>
            <a:r>
              <a:rPr lang="fr-FR" sz="1000" dirty="0">
                <a:solidFill>
                  <a:prstClr val="black"/>
                </a:solidFill>
              </a:rPr>
              <a:t> </a:t>
            </a:r>
            <a:r>
              <a:rPr lang="fr-FR" sz="1000" dirty="0" err="1">
                <a:solidFill>
                  <a:prstClr val="black"/>
                </a:solidFill>
              </a:rPr>
              <a:t>tools</a:t>
            </a:r>
            <a:endParaRPr lang="fr-FR" sz="1000" dirty="0">
              <a:solidFill>
                <a:prstClr val="black"/>
              </a:solidFill>
            </a:endParaRP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lphaUcPeriod"/>
            </a:pPr>
            <a:r>
              <a:rPr lang="fr-FR" sz="1000" dirty="0">
                <a:solidFill>
                  <a:prstClr val="black"/>
                </a:solidFill>
              </a:rPr>
              <a:t>Home page</a:t>
            </a: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106438" y="2778593"/>
            <a:ext cx="791161" cy="2308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900" dirty="0" err="1">
                <a:solidFill>
                  <a:prstClr val="black"/>
                </a:solidFill>
              </a:rPr>
              <a:t>My</a:t>
            </a:r>
            <a:r>
              <a:rPr lang="fr-FR" sz="900" dirty="0">
                <a:solidFill>
                  <a:prstClr val="black"/>
                </a:solidFill>
              </a:rPr>
              <a:t> Enovia</a:t>
            </a:r>
            <a:endParaRPr lang="en-US" sz="900" dirty="0">
              <a:solidFill>
                <a:prstClr val="black"/>
              </a:solidFill>
            </a:endParaRPr>
          </a:p>
        </p:txBody>
      </p:sp>
      <p:cxnSp>
        <p:nvCxnSpPr>
          <p:cNvPr id="9" name="Connecteur droit avec flèche 8"/>
          <p:cNvCxnSpPr>
            <a:stCxn id="8" idx="3"/>
          </p:cNvCxnSpPr>
          <p:nvPr/>
        </p:nvCxnSpPr>
        <p:spPr>
          <a:xfrm flipV="1">
            <a:off x="3897598" y="2682377"/>
            <a:ext cx="82634" cy="2116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0" name="ZoneTexte 9"/>
          <p:cNvSpPr txBox="1"/>
          <p:nvPr/>
        </p:nvSpPr>
        <p:spPr>
          <a:xfrm>
            <a:off x="3106438" y="1799268"/>
            <a:ext cx="664125" cy="2308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900" dirty="0">
                <a:solidFill>
                  <a:prstClr val="black"/>
                </a:solidFill>
              </a:rPr>
              <a:t>Actions</a:t>
            </a:r>
            <a:endParaRPr lang="en-US" sz="900" dirty="0">
              <a:solidFill>
                <a:prstClr val="black"/>
              </a:solidFill>
            </a:endParaRPr>
          </a:p>
        </p:txBody>
      </p:sp>
      <p:cxnSp>
        <p:nvCxnSpPr>
          <p:cNvPr id="11" name="Connecteur droit avec flèche 10"/>
          <p:cNvCxnSpPr>
            <a:stCxn id="10" idx="2"/>
          </p:cNvCxnSpPr>
          <p:nvPr/>
        </p:nvCxnSpPr>
        <p:spPr>
          <a:xfrm>
            <a:off x="3438500" y="2030101"/>
            <a:ext cx="740110" cy="3395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2" name="ZoneTexte 11"/>
          <p:cNvSpPr txBox="1"/>
          <p:nvPr/>
        </p:nvSpPr>
        <p:spPr>
          <a:xfrm>
            <a:off x="3823948" y="1799268"/>
            <a:ext cx="664641" cy="2308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900" dirty="0">
                <a:solidFill>
                  <a:prstClr val="black"/>
                </a:solidFill>
              </a:rPr>
              <a:t>Tools</a:t>
            </a:r>
            <a:endParaRPr lang="en-US" sz="900" dirty="0">
              <a:solidFill>
                <a:prstClr val="black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5733924" y="2824759"/>
            <a:ext cx="1258313" cy="2308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900" dirty="0" err="1">
                <a:solidFill>
                  <a:prstClr val="black"/>
                </a:solidFill>
              </a:rPr>
              <a:t>Previous</a:t>
            </a:r>
            <a:r>
              <a:rPr lang="fr-FR" sz="900" dirty="0">
                <a:solidFill>
                  <a:prstClr val="black"/>
                </a:solidFill>
              </a:rPr>
              <a:t>/Next page</a:t>
            </a:r>
            <a:endParaRPr lang="en-US" sz="900" dirty="0">
              <a:solidFill>
                <a:prstClr val="black"/>
              </a:solidFill>
            </a:endParaRPr>
          </a:p>
        </p:txBody>
      </p:sp>
      <p:cxnSp>
        <p:nvCxnSpPr>
          <p:cNvPr id="14" name="Connecteur droit avec flèche 13"/>
          <p:cNvCxnSpPr>
            <a:stCxn id="12" idx="2"/>
          </p:cNvCxnSpPr>
          <p:nvPr/>
        </p:nvCxnSpPr>
        <p:spPr>
          <a:xfrm>
            <a:off x="4156268" y="2030101"/>
            <a:ext cx="332320" cy="3250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5" name="Connecteur droit avec flèche 14"/>
          <p:cNvCxnSpPr>
            <a:stCxn id="13" idx="1"/>
            <a:endCxn id="4" idx="3"/>
          </p:cNvCxnSpPr>
          <p:nvPr/>
        </p:nvCxnSpPr>
        <p:spPr>
          <a:xfrm flipH="1" flipV="1">
            <a:off x="5410694" y="2522498"/>
            <a:ext cx="323230" cy="4176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6" name="Connecteur droit avec flèche 15"/>
          <p:cNvCxnSpPr>
            <a:stCxn id="24" idx="2"/>
          </p:cNvCxnSpPr>
          <p:nvPr/>
        </p:nvCxnSpPr>
        <p:spPr>
          <a:xfrm>
            <a:off x="8524753" y="2034221"/>
            <a:ext cx="414333" cy="3060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17" name="Groupe 16"/>
          <p:cNvGrpSpPr/>
          <p:nvPr/>
        </p:nvGrpSpPr>
        <p:grpSpPr>
          <a:xfrm>
            <a:off x="556743" y="5376571"/>
            <a:ext cx="2826241" cy="857291"/>
            <a:chOff x="4193402" y="5294309"/>
            <a:chExt cx="2151832" cy="672181"/>
          </a:xfrm>
        </p:grpSpPr>
        <p:pic>
          <p:nvPicPr>
            <p:cNvPr id="18" name="Picture 2"/>
            <p:cNvPicPr>
              <a:picLocks noChangeAspect="1" noChangeArrowheads="1"/>
            </p:cNvPicPr>
            <p:nvPr userDrawn="1"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3402" y="5518722"/>
              <a:ext cx="385344" cy="3610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" name="ZoneTexte 18"/>
            <p:cNvSpPr txBox="1"/>
            <p:nvPr userDrawn="1"/>
          </p:nvSpPr>
          <p:spPr>
            <a:xfrm>
              <a:off x="4657922" y="5294309"/>
              <a:ext cx="1687312" cy="672181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bIns="468000" rtlCol="0">
              <a:spAutoFit/>
            </a:bodyPr>
            <a:lstStyle/>
            <a:p>
              <a:pPr fontAlgn="base">
                <a:spcBef>
                  <a:spcPct val="0"/>
                </a:spcBef>
              </a:pPr>
              <a:r>
                <a:rPr lang="fr-FR" sz="1100" b="1" u="sng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Do not use </a:t>
              </a:r>
              <a:r>
                <a:rPr lang="fr-FR" sz="11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the </a:t>
              </a:r>
              <a:r>
                <a:rPr lang="fr-FR" sz="1100" dirty="0" err="1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browser's</a:t>
              </a:r>
              <a:r>
                <a:rPr lang="fr-FR" sz="11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 </a:t>
              </a:r>
              <a:r>
                <a:rPr lang="fr-FR" sz="1100" b="1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back/</a:t>
              </a:r>
              <a:r>
                <a:rPr lang="fr-FR" sz="1100" b="1" dirty="0" err="1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forward</a:t>
              </a:r>
              <a:r>
                <a:rPr lang="fr-FR" sz="1100" b="1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 </a:t>
              </a:r>
              <a:r>
                <a:rPr lang="fr-FR" sz="11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buttons</a:t>
              </a:r>
            </a:p>
          </p:txBody>
        </p:sp>
      </p:grpSp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48"/>
          <a:stretch/>
        </p:blipFill>
        <p:spPr bwMode="auto">
          <a:xfrm>
            <a:off x="1541667" y="5805216"/>
            <a:ext cx="1353908" cy="344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" name="Groupe 20"/>
          <p:cNvGrpSpPr/>
          <p:nvPr/>
        </p:nvGrpSpPr>
        <p:grpSpPr>
          <a:xfrm>
            <a:off x="1551013" y="5890028"/>
            <a:ext cx="639055" cy="225509"/>
            <a:chOff x="2330245" y="5099396"/>
            <a:chExt cx="730219" cy="652681"/>
          </a:xfrm>
        </p:grpSpPr>
        <p:cxnSp>
          <p:nvCxnSpPr>
            <p:cNvPr id="22" name="Connecteur droit 21"/>
            <p:cNvCxnSpPr/>
            <p:nvPr/>
          </p:nvCxnSpPr>
          <p:spPr>
            <a:xfrm flipV="1">
              <a:off x="2354592" y="5099399"/>
              <a:ext cx="705872" cy="652678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/>
            <p:cNvCxnSpPr/>
            <p:nvPr/>
          </p:nvCxnSpPr>
          <p:spPr>
            <a:xfrm>
              <a:off x="2330245" y="5099396"/>
              <a:ext cx="708394" cy="652678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ZoneTexte 23"/>
          <p:cNvSpPr txBox="1"/>
          <p:nvPr/>
        </p:nvSpPr>
        <p:spPr>
          <a:xfrm>
            <a:off x="8025800" y="1799268"/>
            <a:ext cx="997904" cy="23495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900" dirty="0">
                <a:solidFill>
                  <a:prstClr val="black"/>
                </a:solidFill>
              </a:rPr>
              <a:t>Exit PLM</a:t>
            </a:r>
            <a:endParaRPr lang="en-US" sz="900" dirty="0">
              <a:solidFill>
                <a:prstClr val="black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6456040" y="1799268"/>
            <a:ext cx="1492715" cy="2308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prstClr val="black"/>
                </a:solidFill>
              </a:rPr>
              <a:t>Return to the home page</a:t>
            </a:r>
          </a:p>
        </p:txBody>
      </p:sp>
      <p:cxnSp>
        <p:nvCxnSpPr>
          <p:cNvPr id="26" name="Connecteur droit avec flèche 25"/>
          <p:cNvCxnSpPr>
            <a:cxnSpLocks/>
            <a:stCxn id="25" idx="2"/>
            <a:endCxn id="6" idx="1"/>
          </p:cNvCxnSpPr>
          <p:nvPr/>
        </p:nvCxnSpPr>
        <p:spPr>
          <a:xfrm>
            <a:off x="7202398" y="2030100"/>
            <a:ext cx="1287058" cy="4838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7" name="ZoneTexte 26"/>
          <p:cNvSpPr txBox="1"/>
          <p:nvPr/>
        </p:nvSpPr>
        <p:spPr>
          <a:xfrm>
            <a:off x="4532707" y="1799268"/>
            <a:ext cx="1454050" cy="2308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900" dirty="0">
                <a:solidFill>
                  <a:prstClr val="black"/>
                </a:solidFill>
              </a:rPr>
              <a:t>PLM </a:t>
            </a:r>
            <a:r>
              <a:rPr lang="fr-FR" sz="900" dirty="0" err="1">
                <a:solidFill>
                  <a:prstClr val="black"/>
                </a:solidFill>
              </a:rPr>
              <a:t>Indicators</a:t>
            </a:r>
            <a:r>
              <a:rPr lang="fr-FR" sz="900" dirty="0">
                <a:solidFill>
                  <a:prstClr val="black"/>
                </a:solidFill>
              </a:rPr>
              <a:t> Portal</a:t>
            </a:r>
            <a:endParaRPr lang="en-US" sz="900" dirty="0">
              <a:solidFill>
                <a:prstClr val="black"/>
              </a:solidFill>
            </a:endParaRPr>
          </a:p>
        </p:txBody>
      </p:sp>
      <p:cxnSp>
        <p:nvCxnSpPr>
          <p:cNvPr id="28" name="Connecteur droit avec flèche 27"/>
          <p:cNvCxnSpPr>
            <a:stCxn id="27" idx="2"/>
          </p:cNvCxnSpPr>
          <p:nvPr/>
        </p:nvCxnSpPr>
        <p:spPr>
          <a:xfrm flipH="1">
            <a:off x="4812742" y="2030101"/>
            <a:ext cx="446990" cy="3395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29" name="Groupe 28"/>
          <p:cNvGrpSpPr/>
          <p:nvPr/>
        </p:nvGrpSpPr>
        <p:grpSpPr>
          <a:xfrm>
            <a:off x="4324580" y="2765962"/>
            <a:ext cx="320749" cy="307777"/>
            <a:chOff x="1870238" y="2830286"/>
            <a:chExt cx="320749" cy="307777"/>
          </a:xfrm>
        </p:grpSpPr>
        <p:sp>
          <p:nvSpPr>
            <p:cNvPr id="30" name="Ellipse 29"/>
            <p:cNvSpPr/>
            <p:nvPr/>
          </p:nvSpPr>
          <p:spPr>
            <a:xfrm>
              <a:off x="1870238" y="2832669"/>
              <a:ext cx="296531" cy="296531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tint val="43000"/>
                    <a:satMod val="165000"/>
                  </a:srgbClr>
                </a:gs>
                <a:gs pos="55000">
                  <a:srgbClr val="FFFFFF">
                    <a:tint val="83000"/>
                    <a:satMod val="155000"/>
                  </a:srgbClr>
                </a:gs>
                <a:gs pos="100000">
                  <a:srgbClr val="FFFFFF">
                    <a:shade val="85000"/>
                  </a:srgbClr>
                </a:gs>
              </a:gsLst>
              <a:path path="circle">
                <a:fillToRect l="-40000" t="-90000" r="140000" b="190000"/>
              </a:path>
            </a:gradFill>
            <a:ln w="9525" cap="flat" cmpd="sng" algn="ctr">
              <a:solidFill>
                <a:srgbClr val="000000"/>
              </a:solidFill>
              <a:prstDash val="solid"/>
              <a:headEnd type="none" w="med" len="med"/>
              <a:tailEnd type="arrow" w="med" len="med"/>
            </a:ln>
            <a:effectLst>
              <a:outerShdw blurRad="50800" dist="25400" dir="5400000" rotWithShape="0">
                <a:srgbClr val="000000">
                  <a:alpha val="45000"/>
                </a:srgbClr>
              </a:outerShdw>
            </a:effectLst>
          </p:spPr>
          <p:txBody>
            <a:bodyPr lIns="72000" tIns="46800" rIns="36000" bIns="46800" anchor="ctr"/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endParaRPr lang="fr-FR" sz="1600" b="1" kern="0" dirty="0">
                <a:solidFill>
                  <a:srgbClr val="009BCC">
                    <a:lumMod val="75000"/>
                  </a:srgb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" name="ZoneTexte 30"/>
            <p:cNvSpPr txBox="1"/>
            <p:nvPr/>
          </p:nvSpPr>
          <p:spPr>
            <a:xfrm>
              <a:off x="1876477" y="2830286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fr-FR" sz="1400" b="1" kern="0" dirty="0">
                  <a:solidFill>
                    <a:srgbClr val="353665"/>
                  </a:solidFill>
                  <a:latin typeface="Arial" pitchFamily="34" charset="0"/>
                  <a:cs typeface="Arial" pitchFamily="34" charset="0"/>
                </a:rPr>
                <a:t>A</a:t>
              </a:r>
            </a:p>
          </p:txBody>
        </p:sp>
      </p:grpSp>
      <p:grpSp>
        <p:nvGrpSpPr>
          <p:cNvPr id="32" name="Groupe 31"/>
          <p:cNvGrpSpPr/>
          <p:nvPr/>
        </p:nvGrpSpPr>
        <p:grpSpPr>
          <a:xfrm>
            <a:off x="6240805" y="2001285"/>
            <a:ext cx="320749" cy="307777"/>
            <a:chOff x="1870238" y="2830286"/>
            <a:chExt cx="320749" cy="307777"/>
          </a:xfrm>
        </p:grpSpPr>
        <p:sp>
          <p:nvSpPr>
            <p:cNvPr id="33" name="Ellipse 32"/>
            <p:cNvSpPr/>
            <p:nvPr/>
          </p:nvSpPr>
          <p:spPr>
            <a:xfrm>
              <a:off x="1870238" y="2832669"/>
              <a:ext cx="296531" cy="296531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tint val="43000"/>
                    <a:satMod val="165000"/>
                  </a:srgbClr>
                </a:gs>
                <a:gs pos="55000">
                  <a:srgbClr val="FFFFFF">
                    <a:tint val="83000"/>
                    <a:satMod val="155000"/>
                  </a:srgbClr>
                </a:gs>
                <a:gs pos="100000">
                  <a:srgbClr val="FFFFFF">
                    <a:shade val="85000"/>
                  </a:srgbClr>
                </a:gs>
              </a:gsLst>
              <a:path path="circle">
                <a:fillToRect l="-40000" t="-90000" r="140000" b="190000"/>
              </a:path>
            </a:gradFill>
            <a:ln w="9525" cap="flat" cmpd="sng" algn="ctr">
              <a:solidFill>
                <a:srgbClr val="000000"/>
              </a:solidFill>
              <a:prstDash val="solid"/>
              <a:headEnd type="none" w="med" len="med"/>
              <a:tailEnd type="arrow" w="med" len="med"/>
            </a:ln>
            <a:effectLst>
              <a:outerShdw blurRad="50800" dist="25400" dir="5400000" rotWithShape="0">
                <a:srgbClr val="000000">
                  <a:alpha val="45000"/>
                </a:srgbClr>
              </a:outerShdw>
            </a:effectLst>
          </p:spPr>
          <p:txBody>
            <a:bodyPr lIns="72000" tIns="46800" rIns="36000" bIns="46800" anchor="ctr"/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endParaRPr lang="fr-FR" sz="1600" b="1" kern="0" dirty="0">
                <a:solidFill>
                  <a:srgbClr val="009BCC">
                    <a:lumMod val="75000"/>
                  </a:srgb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ZoneTexte 33"/>
            <p:cNvSpPr txBox="1"/>
            <p:nvPr/>
          </p:nvSpPr>
          <p:spPr>
            <a:xfrm>
              <a:off x="1876477" y="2830286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fr-FR" sz="1400" b="1" kern="0" dirty="0">
                  <a:solidFill>
                    <a:srgbClr val="353665"/>
                  </a:solidFill>
                  <a:latin typeface="Arial" pitchFamily="34" charset="0"/>
                  <a:cs typeface="Arial" pitchFamily="34" charset="0"/>
                </a:rPr>
                <a:t>B</a:t>
              </a:r>
            </a:p>
          </p:txBody>
        </p:sp>
      </p:grpSp>
      <p:grpSp>
        <p:nvGrpSpPr>
          <p:cNvPr id="35" name="Groupe 34"/>
          <p:cNvGrpSpPr/>
          <p:nvPr/>
        </p:nvGrpSpPr>
        <p:grpSpPr>
          <a:xfrm>
            <a:off x="8571544" y="2757099"/>
            <a:ext cx="320749" cy="307777"/>
            <a:chOff x="1870238" y="2830286"/>
            <a:chExt cx="320749" cy="307777"/>
          </a:xfrm>
        </p:grpSpPr>
        <p:sp>
          <p:nvSpPr>
            <p:cNvPr id="36" name="Ellipse 35"/>
            <p:cNvSpPr/>
            <p:nvPr/>
          </p:nvSpPr>
          <p:spPr>
            <a:xfrm>
              <a:off x="1870238" y="2832669"/>
              <a:ext cx="296531" cy="296531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tint val="43000"/>
                    <a:satMod val="165000"/>
                  </a:srgbClr>
                </a:gs>
                <a:gs pos="55000">
                  <a:srgbClr val="FFFFFF">
                    <a:tint val="83000"/>
                    <a:satMod val="155000"/>
                  </a:srgbClr>
                </a:gs>
                <a:gs pos="100000">
                  <a:srgbClr val="FFFFFF">
                    <a:shade val="85000"/>
                  </a:srgbClr>
                </a:gs>
              </a:gsLst>
              <a:path path="circle">
                <a:fillToRect l="-40000" t="-90000" r="140000" b="190000"/>
              </a:path>
            </a:gradFill>
            <a:ln w="9525" cap="flat" cmpd="sng" algn="ctr">
              <a:solidFill>
                <a:srgbClr val="000000"/>
              </a:solidFill>
              <a:prstDash val="solid"/>
              <a:headEnd type="none" w="med" len="med"/>
              <a:tailEnd type="arrow" w="med" len="med"/>
            </a:ln>
            <a:effectLst>
              <a:outerShdw blurRad="50800" dist="25400" dir="5400000" rotWithShape="0">
                <a:srgbClr val="000000">
                  <a:alpha val="45000"/>
                </a:srgbClr>
              </a:outerShdw>
            </a:effectLst>
          </p:spPr>
          <p:txBody>
            <a:bodyPr lIns="72000" tIns="46800" rIns="36000" bIns="46800" anchor="ctr"/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endParaRPr lang="fr-FR" sz="1600" b="1" kern="0" dirty="0">
                <a:solidFill>
                  <a:srgbClr val="009BCC">
                    <a:lumMod val="75000"/>
                  </a:srgb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ZoneTexte 36"/>
            <p:cNvSpPr txBox="1"/>
            <p:nvPr/>
          </p:nvSpPr>
          <p:spPr>
            <a:xfrm>
              <a:off x="1876477" y="2830286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fr-FR" sz="1400" b="1" kern="0" dirty="0">
                  <a:solidFill>
                    <a:srgbClr val="353665"/>
                  </a:solidFill>
                  <a:latin typeface="Arial" pitchFamily="34" charset="0"/>
                  <a:cs typeface="Arial" pitchFamily="34" charset="0"/>
                </a:rPr>
                <a:t>C</a:t>
              </a:r>
            </a:p>
          </p:txBody>
        </p:sp>
      </p:grpSp>
      <p:sp>
        <p:nvSpPr>
          <p:cNvPr id="38" name="Rectangle 37"/>
          <p:cNvSpPr/>
          <p:nvPr/>
        </p:nvSpPr>
        <p:spPr>
          <a:xfrm>
            <a:off x="516486" y="1200684"/>
            <a:ext cx="502179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5"/>
              </a:buBlip>
            </a:pPr>
            <a:r>
              <a:rPr lang="en-US" sz="2200" kern="0" dirty="0">
                <a:solidFill>
                  <a:srgbClr val="17375E"/>
                </a:solidFill>
                <a:latin typeface="Calibri"/>
                <a:cs typeface="Segoe UI" panose="020B0502040204020203" pitchFamily="34" charset="0"/>
              </a:rPr>
              <a:t>“items” in the menu bar</a:t>
            </a:r>
            <a:endParaRPr lang="fr-FR" sz="2200" kern="0" dirty="0">
              <a:solidFill>
                <a:srgbClr val="17375E"/>
              </a:solidFill>
              <a:latin typeface="Calibri"/>
              <a:cs typeface="Segoe UI" panose="020B0502040204020203" pitchFamily="34" charset="0"/>
            </a:endParaRPr>
          </a:p>
        </p:txBody>
      </p:sp>
      <p:sp>
        <p:nvSpPr>
          <p:cNvPr id="39" name="ZoneTexte 38"/>
          <p:cNvSpPr txBox="1"/>
          <p:nvPr/>
        </p:nvSpPr>
        <p:spPr>
          <a:xfrm>
            <a:off x="17820" y="740349"/>
            <a:ext cx="632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Log in to PLM</a:t>
            </a:r>
          </a:p>
        </p:txBody>
      </p:sp>
      <p:sp>
        <p:nvSpPr>
          <p:cNvPr id="3" name="Bouton d'action : Accueil 16">
            <a:hlinkClick r:id="" action="ppaction://noaction"/>
            <a:extLst>
              <a:ext uri="{FF2B5EF4-FFF2-40B4-BE49-F238E27FC236}">
                <a16:creationId xmlns:a16="http://schemas.microsoft.com/office/drawing/2014/main" id="{27E6B225-29B8-82FC-3D55-B9681224C48E}"/>
              </a:ext>
            </a:extLst>
          </p:cNvPr>
          <p:cNvSpPr/>
          <p:nvPr/>
        </p:nvSpPr>
        <p:spPr>
          <a:xfrm>
            <a:off x="10344472" y="364001"/>
            <a:ext cx="432048" cy="369331"/>
          </a:xfrm>
          <a:prstGeom prst="actionButtonHome">
            <a:avLst/>
          </a:prstGeom>
          <a:gradFill>
            <a:gsLst>
              <a:gs pos="0">
                <a:srgbClr val="1E2336">
                  <a:lumMod val="5000"/>
                  <a:lumOff val="95000"/>
                </a:srgbClr>
              </a:gs>
              <a:gs pos="74000">
                <a:srgbClr val="1E2336">
                  <a:lumMod val="45000"/>
                  <a:lumOff val="55000"/>
                </a:srgbClr>
              </a:gs>
              <a:gs pos="83000">
                <a:srgbClr val="1E2336">
                  <a:lumMod val="45000"/>
                  <a:lumOff val="55000"/>
                </a:srgbClr>
              </a:gs>
              <a:gs pos="100000">
                <a:srgbClr val="1E2336">
                  <a:lumMod val="30000"/>
                  <a:lumOff val="70000"/>
                </a:srgbClr>
              </a:gs>
            </a:gsLst>
            <a:lin ang="5400000" scaled="1"/>
          </a:gradFill>
          <a:ln w="25400" cap="flat" cmpd="sng" algn="ctr">
            <a:solidFill>
              <a:srgbClr val="7BA7BC">
                <a:lumMod val="40000"/>
                <a:lumOff val="6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3677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</Words>
  <Application>Microsoft Office PowerPoint</Application>
  <PresentationFormat>Widescreen</PresentationFormat>
  <Paragraphs>46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Youssef OUBELLA</dc:creator>
  <cp:lastModifiedBy>Youssef OUBELLA</cp:lastModifiedBy>
  <cp:revision>1</cp:revision>
  <dcterms:created xsi:type="dcterms:W3CDTF">2026-09-10T20:06:31Z</dcterms:created>
  <dcterms:modified xsi:type="dcterms:W3CDTF">2026-09-10T20:07:35Z</dcterms:modified>
</cp:coreProperties>
</file>